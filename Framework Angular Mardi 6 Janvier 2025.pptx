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sldIdLst>
    <p:sldId id="256" r:id="rId2"/>
    <p:sldId id="257" r:id="rId3"/>
    <p:sldId id="258" r:id="rId4"/>
    <p:sldId id="401" r:id="rId5"/>
    <p:sldId id="402" r:id="rId6"/>
    <p:sldId id="403" r:id="rId7"/>
    <p:sldId id="404" r:id="rId8"/>
    <p:sldId id="405" r:id="rId9"/>
    <p:sldId id="406" r:id="rId10"/>
    <p:sldId id="407" r:id="rId11"/>
    <p:sldId id="408" r:id="rId12"/>
    <p:sldId id="409" r:id="rId13"/>
    <p:sldId id="410" r:id="rId14"/>
    <p:sldId id="411" r:id="rId15"/>
    <p:sldId id="412" r:id="rId16"/>
    <p:sldId id="413" r:id="rId17"/>
    <p:sldId id="259" r:id="rId18"/>
    <p:sldId id="260" r:id="rId19"/>
    <p:sldId id="261" r:id="rId20"/>
    <p:sldId id="262" r:id="rId21"/>
    <p:sldId id="263" r:id="rId22"/>
    <p:sldId id="264" r:id="rId23"/>
    <p:sldId id="265" r:id="rId24"/>
    <p:sldId id="266" r:id="rId25"/>
    <p:sldId id="267" r:id="rId26"/>
    <p:sldId id="326" r:id="rId27"/>
    <p:sldId id="327" r:id="rId28"/>
    <p:sldId id="328" r:id="rId29"/>
    <p:sldId id="329" r:id="rId30"/>
    <p:sldId id="330" r:id="rId31"/>
    <p:sldId id="331" r:id="rId32"/>
    <p:sldId id="332" r:id="rId33"/>
    <p:sldId id="333" r:id="rId34"/>
    <p:sldId id="334" r:id="rId35"/>
    <p:sldId id="335" r:id="rId36"/>
    <p:sldId id="336" r:id="rId37"/>
    <p:sldId id="337" r:id="rId38"/>
    <p:sldId id="338" r:id="rId39"/>
    <p:sldId id="339" r:id="rId40"/>
    <p:sldId id="340" r:id="rId41"/>
    <p:sldId id="341" r:id="rId42"/>
    <p:sldId id="342" r:id="rId43"/>
    <p:sldId id="343" r:id="rId44"/>
    <p:sldId id="344" r:id="rId45"/>
    <p:sldId id="345" r:id="rId46"/>
    <p:sldId id="346" r:id="rId47"/>
    <p:sldId id="347" r:id="rId48"/>
    <p:sldId id="348" r:id="rId49"/>
    <p:sldId id="349" r:id="rId50"/>
    <p:sldId id="350" r:id="rId51"/>
    <p:sldId id="351" r:id="rId52"/>
    <p:sldId id="352" r:id="rId53"/>
    <p:sldId id="353" r:id="rId54"/>
    <p:sldId id="354" r:id="rId55"/>
    <p:sldId id="355" r:id="rId56"/>
    <p:sldId id="356" r:id="rId57"/>
    <p:sldId id="357" r:id="rId58"/>
    <p:sldId id="358" r:id="rId59"/>
    <p:sldId id="359" r:id="rId60"/>
    <p:sldId id="360" r:id="rId61"/>
    <p:sldId id="361" r:id="rId62"/>
    <p:sldId id="268" r:id="rId63"/>
    <p:sldId id="269" r:id="rId64"/>
    <p:sldId id="270" r:id="rId65"/>
    <p:sldId id="271" r:id="rId66"/>
    <p:sldId id="272" r:id="rId67"/>
    <p:sldId id="273" r:id="rId68"/>
    <p:sldId id="274" r:id="rId69"/>
    <p:sldId id="275" r:id="rId70"/>
    <p:sldId id="276" r:id="rId71"/>
    <p:sldId id="277" r:id="rId72"/>
    <p:sldId id="278" r:id="rId73"/>
    <p:sldId id="279" r:id="rId74"/>
    <p:sldId id="280" r:id="rId75"/>
    <p:sldId id="281" r:id="rId76"/>
    <p:sldId id="282" r:id="rId77"/>
    <p:sldId id="283" r:id="rId78"/>
    <p:sldId id="284" r:id="rId79"/>
    <p:sldId id="285" r:id="rId80"/>
    <p:sldId id="286" r:id="rId81"/>
    <p:sldId id="287" r:id="rId82"/>
    <p:sldId id="288" r:id="rId83"/>
    <p:sldId id="289" r:id="rId84"/>
    <p:sldId id="290" r:id="rId85"/>
    <p:sldId id="291" r:id="rId86"/>
    <p:sldId id="292" r:id="rId87"/>
    <p:sldId id="303" r:id="rId88"/>
    <p:sldId id="304" r:id="rId89"/>
    <p:sldId id="305" r:id="rId90"/>
    <p:sldId id="306" r:id="rId91"/>
    <p:sldId id="310" r:id="rId92"/>
    <p:sldId id="311" r:id="rId93"/>
    <p:sldId id="312" r:id="rId94"/>
    <p:sldId id="313" r:id="rId95"/>
    <p:sldId id="421" r:id="rId96"/>
    <p:sldId id="422" r:id="rId97"/>
    <p:sldId id="423" r:id="rId98"/>
    <p:sldId id="424" r:id="rId99"/>
    <p:sldId id="425" r:id="rId100"/>
    <p:sldId id="426" r:id="rId101"/>
    <p:sldId id="427" r:id="rId102"/>
    <p:sldId id="428" r:id="rId103"/>
    <p:sldId id="429" r:id="rId104"/>
    <p:sldId id="314" r:id="rId105"/>
    <p:sldId id="315" r:id="rId106"/>
    <p:sldId id="316" r:id="rId107"/>
    <p:sldId id="317" r:id="rId108"/>
    <p:sldId id="318" r:id="rId109"/>
    <p:sldId id="319" r:id="rId110"/>
    <p:sldId id="320" r:id="rId111"/>
    <p:sldId id="321" r:id="rId112"/>
    <p:sldId id="322" r:id="rId113"/>
    <p:sldId id="323" r:id="rId114"/>
    <p:sldId id="324" r:id="rId115"/>
    <p:sldId id="325" r:id="rId116"/>
    <p:sldId id="362" r:id="rId117"/>
    <p:sldId id="363" r:id="rId118"/>
    <p:sldId id="364" r:id="rId119"/>
    <p:sldId id="365" r:id="rId120"/>
    <p:sldId id="366" r:id="rId121"/>
    <p:sldId id="367" r:id="rId122"/>
    <p:sldId id="368" r:id="rId123"/>
    <p:sldId id="369" r:id="rId124"/>
    <p:sldId id="370" r:id="rId125"/>
    <p:sldId id="371" r:id="rId126"/>
    <p:sldId id="372" r:id="rId127"/>
    <p:sldId id="373" r:id="rId128"/>
    <p:sldId id="374" r:id="rId129"/>
    <p:sldId id="375" r:id="rId130"/>
    <p:sldId id="376" r:id="rId131"/>
    <p:sldId id="377" r:id="rId132"/>
    <p:sldId id="378" r:id="rId133"/>
    <p:sldId id="379" r:id="rId134"/>
    <p:sldId id="380" r:id="rId135"/>
    <p:sldId id="381" r:id="rId136"/>
    <p:sldId id="382" r:id="rId137"/>
    <p:sldId id="383" r:id="rId138"/>
    <p:sldId id="384" r:id="rId139"/>
    <p:sldId id="385" r:id="rId140"/>
    <p:sldId id="386" r:id="rId141"/>
    <p:sldId id="387" r:id="rId142"/>
    <p:sldId id="388" r:id="rId143"/>
    <p:sldId id="389" r:id="rId144"/>
    <p:sldId id="390" r:id="rId145"/>
    <p:sldId id="391" r:id="rId146"/>
    <p:sldId id="392" r:id="rId147"/>
    <p:sldId id="393" r:id="rId148"/>
    <p:sldId id="394" r:id="rId149"/>
    <p:sldId id="395" r:id="rId150"/>
    <p:sldId id="396" r:id="rId151"/>
    <p:sldId id="397" r:id="rId152"/>
    <p:sldId id="398" r:id="rId153"/>
    <p:sldId id="399" r:id="rId154"/>
    <p:sldId id="400" r:id="rId155"/>
    <p:sldId id="414" r:id="rId156"/>
    <p:sldId id="415" r:id="rId157"/>
    <p:sldId id="416" r:id="rId158"/>
    <p:sldId id="417" r:id="rId159"/>
    <p:sldId id="418" r:id="rId160"/>
    <p:sldId id="419" r:id="rId161"/>
    <p:sldId id="420" r:id="rId16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2" d="100"/>
          <a:sy n="62" d="100"/>
        </p:scale>
        <p:origin x="828"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presProps" Target="pres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theme" Target="theme/theme1.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82762"/>
            <a:ext cx="10222992" cy="80683"/>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2">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5000"/>
              </a:lnSpc>
              <a:defRPr sz="7200" b="1" cap="none" baseline="0">
                <a:blipFill dpi="0" rotWithShape="1">
                  <a:blip r:embed="rId4"/>
                  <a:srcRect/>
                  <a:tile tx="6350" ty="-127000" sx="65000" sy="64000" flip="none" algn="tl"/>
                </a:blipFill>
              </a:defRPr>
            </a:lvl1pPr>
          </a:lstStyle>
          <a:p>
            <a:r>
              <a:rPr lang="fr-FR" smtClean="0"/>
              <a:t>Modifiez le style du titre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000" b="1">
                <a:solidFill>
                  <a:schemeClr val="accent2">
                    <a:lumMod val="75000"/>
                  </a:schemeClr>
                </a:solidFill>
              </a:defRPr>
            </a:lvl1pPr>
            <a:lvl2pPr marL="457200" indent="0" algn="ctr">
              <a:buNone/>
              <a:defRPr sz="2000"/>
            </a:lvl2pPr>
            <a:lvl3pPr marL="914400" indent="0" algn="ctr">
              <a:buNone/>
              <a:defRPr sz="20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fr-FR" smtClean="0"/>
              <a:t>Modifier le style des sous-titres du masque</a:t>
            </a:r>
            <a:endParaRPr lang="en-US" dirty="0"/>
          </a:p>
        </p:txBody>
      </p:sp>
      <p:sp>
        <p:nvSpPr>
          <p:cNvPr id="4" name="Date Placeholder 3"/>
          <p:cNvSpPr>
            <a:spLocks noGrp="1"/>
          </p:cNvSpPr>
          <p:nvPr>
            <p:ph type="dt" sz="half" idx="10"/>
          </p:nvPr>
        </p:nvSpPr>
        <p:spPr/>
        <p:txBody>
          <a:bodyPr/>
          <a:lstStyle/>
          <a:p>
            <a:fld id="{D91B805F-FF0F-4BAA-A3A3-E4F945D687F8}" type="datetimeFigureOut">
              <a:rPr lang="en-US" dirty="0"/>
              <a:t>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592733" y="4289334"/>
            <a:ext cx="1193868" cy="640080"/>
          </a:xfrm>
        </p:spPr>
        <p:txBody>
          <a:bodyPr/>
          <a:lstStyle>
            <a:lvl1pPr>
              <a:defRPr sz="2800" b="1"/>
            </a:lvl1pPr>
          </a:lstStyle>
          <a:p>
            <a:fld id="{4FAB73BC-B049-4115-A692-8D63A059BFB8}" type="slidenum">
              <a:rPr lang="en-US" dirty="0"/>
              <a:pPr/>
              <a:t>‹N°›</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Content Placeholder 2"/>
          <p:cNvSpPr>
            <a:spLocks noGrp="1"/>
          </p:cNvSpPr>
          <p:nvPr>
            <p:ph idx="1"/>
          </p:nvPr>
        </p:nvSpPr>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2261F3A6-CC5D-4649-8527-DB0C21FDDFD9}" type="datetimeFigureOut">
              <a:rPr lang="en-US" dirty="0"/>
              <a:t>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‹N°›</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5000"/>
              </a:lnSpc>
              <a:defRPr sz="7200" b="1"/>
            </a:lvl1pPr>
          </a:lstStyle>
          <a:p>
            <a:r>
              <a:rPr lang="fr-FR" smtClean="0"/>
              <a:t>Modifiez le style du titre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b="1">
                <a:solidFill>
                  <a:schemeClr val="accent2">
                    <a:lumMod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Modifier les styles du texte du masque</a:t>
            </a:r>
          </a:p>
        </p:txBody>
      </p:sp>
      <p:sp>
        <p:nvSpPr>
          <p:cNvPr id="4" name="Date Placeholder 3"/>
          <p:cNvSpPr>
            <a:spLocks noGrp="1"/>
          </p:cNvSpPr>
          <p:nvPr>
            <p:ph type="dt" sz="half" idx="10"/>
          </p:nvPr>
        </p:nvSpPr>
        <p:spPr>
          <a:xfrm>
            <a:off x="8593667" y="6272784"/>
            <a:ext cx="2644309" cy="365125"/>
          </a:xfrm>
        </p:spPr>
        <p:txBody>
          <a:bodyPr/>
          <a:lstStyle>
            <a:lvl1pPr>
              <a:defRPr>
                <a:solidFill>
                  <a:schemeClr val="accent2">
                    <a:lumMod val="50000"/>
                  </a:schemeClr>
                </a:solidFill>
              </a:defRPr>
            </a:lvl1pPr>
          </a:lstStyle>
          <a:p>
            <a:fld id="{5B6F927C-B73E-4F9D-ADFE-F6E23BD7CEE8}" type="datetimeFigureOut">
              <a:rPr lang="en-US" dirty="0"/>
              <a:t>1/6/2026</a:t>
            </a:fld>
            <a:endParaRPr lang="en-US" dirty="0"/>
          </a:p>
        </p:txBody>
      </p:sp>
      <p:sp>
        <p:nvSpPr>
          <p:cNvPr id="5" name="Footer Placeholder 4"/>
          <p:cNvSpPr>
            <a:spLocks noGrp="1"/>
          </p:cNvSpPr>
          <p:nvPr>
            <p:ph type="ftr" sz="quarter" idx="11"/>
          </p:nvPr>
        </p:nvSpPr>
        <p:spPr>
          <a:xfrm>
            <a:off x="2182708" y="6272784"/>
            <a:ext cx="6327648" cy="365125"/>
          </a:xfrm>
        </p:spPr>
        <p:txBody>
          <a:bodyPr/>
          <a:lstStyle>
            <a:lvl1pPr>
              <a:defRPr>
                <a:solidFill>
                  <a:schemeClr val="accent2">
                    <a:lumMod val="50000"/>
                  </a:schemeClr>
                </a:solidFill>
              </a:defRPr>
            </a:lvl1p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2">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AB73BC-B049-4115-A692-8D63A059BFB8}" type="slidenum">
              <a:rPr lang="en-US" dirty="0"/>
              <a:pPr/>
              <a:t>‹N°›</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Date Placeholder 4"/>
          <p:cNvSpPr>
            <a:spLocks noGrp="1"/>
          </p:cNvSpPr>
          <p:nvPr>
            <p:ph type="dt" sz="half" idx="10"/>
          </p:nvPr>
        </p:nvSpPr>
        <p:spPr/>
        <p:txBody>
          <a:bodyPr/>
          <a:lstStyle/>
          <a:p>
            <a:fld id="{65B1FFFF-984A-4EE5-9BF2-EC9310C878F1}" type="datetimeFigureOut">
              <a:rPr lang="en-US" dirty="0"/>
              <a:t>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‹N°›</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fr-FR" smtClean="0"/>
              <a:t>Modifiez le style du titre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2">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2">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7" name="Date Placeholder 6"/>
          <p:cNvSpPr>
            <a:spLocks noGrp="1"/>
          </p:cNvSpPr>
          <p:nvPr>
            <p:ph type="dt" sz="half" idx="10"/>
          </p:nvPr>
        </p:nvSpPr>
        <p:spPr/>
        <p:txBody>
          <a:bodyPr/>
          <a:lstStyle/>
          <a:p>
            <a:fld id="{703271C1-B42E-4A60-A25F-0185B888604B}" type="datetimeFigureOut">
              <a:rPr lang="en-US" dirty="0"/>
              <a:t>1/6/2026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‹N°›</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fr-FR" smtClean="0"/>
              <a:t>Modifiez le style du titre</a:t>
            </a:r>
            <a:endParaRPr lang="en-US" dirty="0"/>
          </a:p>
        </p:txBody>
      </p:sp>
      <p:sp>
        <p:nvSpPr>
          <p:cNvPr id="3" name="Date Placeholder 2"/>
          <p:cNvSpPr>
            <a:spLocks noGrp="1"/>
          </p:cNvSpPr>
          <p:nvPr>
            <p:ph type="dt" sz="half" idx="10"/>
          </p:nvPr>
        </p:nvSpPr>
        <p:spPr/>
        <p:txBody>
          <a:bodyPr/>
          <a:lstStyle/>
          <a:p>
            <a:fld id="{80416292-3725-4763-8973-4C59F0403D99}" type="datetimeFigureOut">
              <a:rPr lang="en-US" dirty="0"/>
              <a:t>1/6/2026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‹N°›</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86996D1-8909-469F-911A-4C12C68BF5D9}" type="datetimeFigureOut">
              <a:rPr lang="en-US" dirty="0"/>
              <a:t>1/6/2026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‹N°›</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fr-FR" smtClean="0"/>
              <a:t>Modifiez le style du titre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2">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Modifier les styles du texte du masque</a:t>
            </a:r>
          </a:p>
        </p:txBody>
      </p:sp>
      <p:sp>
        <p:nvSpPr>
          <p:cNvPr id="5" name="Date Placeholder 4"/>
          <p:cNvSpPr>
            <a:spLocks noGrp="1"/>
          </p:cNvSpPr>
          <p:nvPr>
            <p:ph type="dt" sz="half" idx="10"/>
          </p:nvPr>
        </p:nvSpPr>
        <p:spPr/>
        <p:txBody>
          <a:bodyPr/>
          <a:lstStyle/>
          <a:p>
            <a:fld id="{E16A73BC-5D11-4675-B334-102E1E8C9B50}" type="datetimeFigureOut">
              <a:rPr lang="en-US" dirty="0"/>
              <a:t>1/6/2026</a:t>
            </a:fld>
            <a:endParaRPr lang="en-US" dirty="0"/>
          </a:p>
        </p:txBody>
      </p:sp>
      <p:sp>
        <p:nvSpPr>
          <p:cNvPr id="6" name="Footer Placeholder 5"/>
          <p:cNvSpPr>
            <a:spLocks noGrp="1"/>
          </p:cNvSpPr>
          <p:nvPr>
            <p:ph type="ftr" sz="quarter" idx="11"/>
          </p:nvPr>
        </p:nvSpPr>
        <p:spPr/>
        <p:txBody>
          <a:bodyPr/>
          <a:lstStyle/>
          <a:p>
            <a:endParaRPr lang="en-US" dirty="0"/>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2">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‹N°›</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fr-FR" smtClean="0"/>
              <a:t>Modifiez le style du titre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smtClean="0"/>
              <a:t>Cliquez sur l'icône pour ajouter une image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2">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Modifier les styles du texte du masque</a:t>
            </a:r>
          </a:p>
        </p:txBody>
      </p:sp>
      <p:sp>
        <p:nvSpPr>
          <p:cNvPr id="5" name="Date Placeholder 4"/>
          <p:cNvSpPr>
            <a:spLocks noGrp="1"/>
          </p:cNvSpPr>
          <p:nvPr>
            <p:ph type="dt" sz="half" idx="10"/>
          </p:nvPr>
        </p:nvSpPr>
        <p:spPr/>
        <p:txBody>
          <a:bodyPr/>
          <a:lstStyle>
            <a:lvl1pPr>
              <a:defRPr>
                <a:solidFill>
                  <a:schemeClr val="accent2">
                    <a:lumMod val="75000"/>
                  </a:schemeClr>
                </a:solidFill>
              </a:defRPr>
            </a:lvl1pPr>
          </a:lstStyle>
          <a:p>
            <a:fld id="{27B8E45F-652B-4E89-8925-000B0AB8FD98}" type="datetimeFigureOut">
              <a:rPr lang="en-US" dirty="0"/>
              <a:t>1/6/2026</a:t>
            </a:fld>
            <a:endParaRPr lang="en-US" dirty="0"/>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2">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‹N°›</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780B5C51-60B3-48EF-AA78-DB950F30DBA2}" type="datetimeFigureOut">
              <a:rPr lang="en-US" dirty="0"/>
              <a:t>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‹N°›</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fr-FR" smtClean="0"/>
              <a:t>Modifiez le style du titre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C35D676B-6E73-4E3B-A9B3-4966DB9B52A5}" type="datetimeFigureOut">
              <a:rPr lang="en-US" dirty="0"/>
              <a:t>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‹N°›</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fr-FR" smtClean="0"/>
              <a:t>Modifiez le style du titre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accent2">
                    <a:lumMod val="50000"/>
                  </a:schemeClr>
                </a:solidFill>
              </a:defRPr>
            </a:lvl1pPr>
          </a:lstStyle>
          <a:p>
            <a:fld id="{C4A3462A-2D5B-48AF-A3D4-EF8A90A50A80}" type="datetimeFigureOut">
              <a:rPr lang="en-US" dirty="0"/>
              <a:t>1/6/2026</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accent2">
                    <a:lumMod val="50000"/>
                  </a:schemeClr>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2">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4FAB73BC-B049-4115-A692-8D63A059BFB8}" type="slidenum">
              <a:rPr lang="en-US" dirty="0"/>
              <a:pPr/>
              <a:t>‹N°›</a:t>
            </a:fld>
            <a:endParaRPr lang="en-US" dirty="0"/>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90000"/>
        </a:lnSpc>
        <a:spcBef>
          <a:spcPct val="0"/>
        </a:spcBef>
        <a:buNone/>
        <a:defRPr sz="4800" b="1" kern="1200" cap="none"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2"/>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32.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microsoft.com/office/2007/relationships/hdphoto" Target="../media/hdphoto9.wdp"/><Relationship Id="rId2" Type="http://schemas.openxmlformats.org/officeDocument/2006/relationships/image" Target="../media/image28.png"/><Relationship Id="rId1" Type="http://schemas.openxmlformats.org/officeDocument/2006/relationships/slideLayout" Target="../slideLayouts/slideLayout2.xml"/><Relationship Id="rId5" Type="http://schemas.microsoft.com/office/2007/relationships/hdphoto" Target="../media/hdphoto10.wdp"/><Relationship Id="rId4" Type="http://schemas.openxmlformats.org/officeDocument/2006/relationships/image" Target="../media/image2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microsoft.com/office/2007/relationships/hdphoto" Target="../media/hdphoto11.wdp"/><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microsoft.com/office/2007/relationships/hdphoto" Target="../media/hdphoto12.wdp"/><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microsoft.com/office/2007/relationships/hdphoto" Target="../media/hdphoto13.wdp"/><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microsoft.com/office/2007/relationships/hdphoto" Target="../media/hdphoto14.wdp"/><Relationship Id="rId2" Type="http://schemas.openxmlformats.org/officeDocument/2006/relationships/image" Target="../media/image39.png"/><Relationship Id="rId1" Type="http://schemas.openxmlformats.org/officeDocument/2006/relationships/slideLayout" Target="../slideLayouts/slideLayout2.xml"/><Relationship Id="rId5" Type="http://schemas.microsoft.com/office/2007/relationships/hdphoto" Target="../media/hdphoto15.wdp"/><Relationship Id="rId4" Type="http://schemas.openxmlformats.org/officeDocument/2006/relationships/image" Target="../media/image40.png"/></Relationships>
</file>

<file path=ppt/slides/_rels/slide77.xml.rels><?xml version="1.0" encoding="UTF-8" standalone="yes"?>
<Relationships xmlns="http://schemas.openxmlformats.org/package/2006/relationships"><Relationship Id="rId3" Type="http://schemas.microsoft.com/office/2007/relationships/hdphoto" Target="../media/hdphoto16.wdp"/><Relationship Id="rId2" Type="http://schemas.openxmlformats.org/officeDocument/2006/relationships/image" Target="../media/image41.png"/><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3" Type="http://schemas.microsoft.com/office/2007/relationships/hdphoto" Target="../media/hdphoto17.wdp"/><Relationship Id="rId2" Type="http://schemas.openxmlformats.org/officeDocument/2006/relationships/image" Target="../media/image42.png"/><Relationship Id="rId1" Type="http://schemas.openxmlformats.org/officeDocument/2006/relationships/slideLayout" Target="../slideLayouts/slideLayout2.xml"/><Relationship Id="rId5" Type="http://schemas.microsoft.com/office/2007/relationships/hdphoto" Target="../media/hdphoto18.wdp"/><Relationship Id="rId4" Type="http://schemas.openxmlformats.org/officeDocument/2006/relationships/image" Target="../media/image43.png"/></Relationships>
</file>

<file path=ppt/slides/_rels/slide79.xml.rels><?xml version="1.0" encoding="UTF-8" standalone="yes"?>
<Relationships xmlns="http://schemas.openxmlformats.org/package/2006/relationships"><Relationship Id="rId3" Type="http://schemas.microsoft.com/office/2007/relationships/hdphoto" Target="../media/hdphoto19.wdp"/><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46.emf"/><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hyperlink" Target="https://cli.angular.io/" TargetMode="External"/><Relationship Id="rId2" Type="http://schemas.openxmlformats.org/officeDocument/2006/relationships/hyperlink" Target="https://nodejs.org/en/" TargetMode="Externa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5.xml"/></Relationships>
</file>

<file path=ppt/slides/_rels/slide98.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56.emf"/><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57.emf"/><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microsoft.com/office/2007/relationships/hdphoto" Target="../media/hdphoto20.wdp"/><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8" Type="http://schemas.openxmlformats.org/officeDocument/2006/relationships/image" Target="../media/image62.png"/><Relationship Id="rId3" Type="http://schemas.microsoft.com/office/2007/relationships/hdphoto" Target="../media/hdphoto21.wdp"/><Relationship Id="rId7" Type="http://schemas.microsoft.com/office/2007/relationships/hdphoto" Target="../media/hdphoto23.wdp"/><Relationship Id="rId2" Type="http://schemas.openxmlformats.org/officeDocument/2006/relationships/image" Target="../media/image59.png"/><Relationship Id="rId1" Type="http://schemas.openxmlformats.org/officeDocument/2006/relationships/slideLayout" Target="../slideLayouts/slideLayout2.xml"/><Relationship Id="rId6" Type="http://schemas.openxmlformats.org/officeDocument/2006/relationships/image" Target="../media/image61.png"/><Relationship Id="rId5" Type="http://schemas.microsoft.com/office/2007/relationships/hdphoto" Target="../media/hdphoto22.wdp"/><Relationship Id="rId4" Type="http://schemas.openxmlformats.org/officeDocument/2006/relationships/image" Target="../media/image60.png"/><Relationship Id="rId9" Type="http://schemas.microsoft.com/office/2007/relationships/hdphoto" Target="../media/hdphoto24.wdp"/></Relationships>
</file>

<file path=ppt/slides/_rels/slide115.xml.rels><?xml version="1.0" encoding="UTF-8" standalone="yes"?>
<Relationships xmlns="http://schemas.openxmlformats.org/package/2006/relationships"><Relationship Id="rId3" Type="http://schemas.microsoft.com/office/2007/relationships/hdphoto" Target="../media/hdphoto25.wdp"/><Relationship Id="rId2" Type="http://schemas.openxmlformats.org/officeDocument/2006/relationships/image" Target="../media/image63.png"/><Relationship Id="rId1" Type="http://schemas.openxmlformats.org/officeDocument/2006/relationships/slideLayout" Target="../slideLayouts/slideLayout2.xml"/><Relationship Id="rId5" Type="http://schemas.microsoft.com/office/2007/relationships/hdphoto" Target="../media/hdphoto26.wdp"/><Relationship Id="rId4" Type="http://schemas.openxmlformats.org/officeDocument/2006/relationships/image" Target="../media/image64.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microsoft.com/office/2007/relationships/hdphoto" Target="../media/hdphoto27.wdp"/><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microsoft.com/office/2007/relationships/hdphoto" Target="../media/hdphoto28.wdp"/><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microsoft.com/office/2007/relationships/hdphoto" Target="../media/hdphoto29.wdp"/><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microsoft.com/office/2007/relationships/hdphoto" Target="../media/hdphoto30.wdp"/><Relationship Id="rId2" Type="http://schemas.openxmlformats.org/officeDocument/2006/relationships/image" Target="../media/image69.png"/><Relationship Id="rId1" Type="http://schemas.openxmlformats.org/officeDocument/2006/relationships/slideLayout" Target="../slideLayouts/slideLayout2.xml"/><Relationship Id="rId5" Type="http://schemas.microsoft.com/office/2007/relationships/hdphoto" Target="../media/hdphoto31.wdp"/><Relationship Id="rId4" Type="http://schemas.openxmlformats.org/officeDocument/2006/relationships/image" Target="../media/image70.png"/></Relationships>
</file>

<file path=ppt/slides/_rels/slide128.xml.rels><?xml version="1.0" encoding="UTF-8" standalone="yes"?>
<Relationships xmlns="http://schemas.openxmlformats.org/package/2006/relationships"><Relationship Id="rId3" Type="http://schemas.microsoft.com/office/2007/relationships/hdphoto" Target="../media/hdphoto32.wdp"/><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microsoft.com/office/2007/relationships/hdphoto" Target="../media/hdphoto33.wdp"/><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1.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image" Target="../media/image79.emf"/><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image" Target="../media/image80.emf"/><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image" Target="../media/image81.emf"/><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image" Target="../media/image82.emf"/><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3" Type="http://schemas.microsoft.com/office/2007/relationships/hdphoto" Target="../media/hdphoto34.wdp"/><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3" Type="http://schemas.microsoft.com/office/2007/relationships/hdphoto" Target="../media/hdphoto35.wdp"/><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3" Type="http://schemas.microsoft.com/office/2007/relationships/hdphoto" Target="../media/hdphoto36.wdp"/><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3" Type="http://schemas.microsoft.com/office/2007/relationships/hdphoto" Target="../media/hdphoto37.wdp"/><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3" Type="http://schemas.microsoft.com/office/2007/relationships/hdphoto" Target="../media/hdphoto38.wdp"/><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3" Type="http://schemas.microsoft.com/office/2007/relationships/hdphoto" Target="../media/hdphoto39.wdp"/><Relationship Id="rId2" Type="http://schemas.openxmlformats.org/officeDocument/2006/relationships/image" Target="../media/image88.png"/><Relationship Id="rId1" Type="http://schemas.openxmlformats.org/officeDocument/2006/relationships/slideLayout" Target="../slideLayouts/slideLayout2.xml"/><Relationship Id="rId6" Type="http://schemas.openxmlformats.org/officeDocument/2006/relationships/image" Target="../media/image90.png"/><Relationship Id="rId5" Type="http://schemas.microsoft.com/office/2007/relationships/hdphoto" Target="../media/hdphoto40.wdp"/><Relationship Id="rId4" Type="http://schemas.openxmlformats.org/officeDocument/2006/relationships/image" Target="../media/image89.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r>
              <a:rPr lang="fr-FR" dirty="0" smtClean="0"/>
              <a:t>Framework </a:t>
            </a:r>
            <a:r>
              <a:rPr lang="fr-FR" dirty="0" err="1" smtClean="0"/>
              <a:t>Angular</a:t>
            </a:r>
            <a:endParaRPr lang="fr-FR" dirty="0"/>
          </a:p>
        </p:txBody>
      </p:sp>
      <p:sp>
        <p:nvSpPr>
          <p:cNvPr id="3" name="Sous-titre 2"/>
          <p:cNvSpPr>
            <a:spLocks noGrp="1"/>
          </p:cNvSpPr>
          <p:nvPr>
            <p:ph type="subTitle" idx="1"/>
          </p:nvPr>
        </p:nvSpPr>
        <p:spPr/>
        <p:txBody>
          <a:bodyPr/>
          <a:lstStyle/>
          <a:p>
            <a:r>
              <a:rPr lang="fr-FR" dirty="0" smtClean="0"/>
              <a:t>Manager votre </a:t>
            </a:r>
            <a:r>
              <a:rPr lang="fr-FR" dirty="0" err="1" smtClean="0"/>
              <a:t>FrontEnd</a:t>
            </a:r>
            <a:r>
              <a:rPr lang="fr-FR" dirty="0" smtClean="0"/>
              <a:t> </a:t>
            </a:r>
            <a:endParaRPr lang="fr-FR" dirty="0"/>
          </a:p>
        </p:txBody>
      </p:sp>
    </p:spTree>
    <p:extLst>
      <p:ext uri="{BB962C8B-B14F-4D97-AF65-F5344CB8AC3E}">
        <p14:creationId xmlns:p14="http://schemas.microsoft.com/office/powerpoint/2010/main" val="114517628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ctrTitle"/>
          </p:nvPr>
        </p:nvSpPr>
        <p:spPr/>
        <p:txBody>
          <a:bodyPr/>
          <a:lstStyle/>
          <a:p>
            <a:r>
              <a:rPr lang="fr-FR" dirty="0" smtClean="0"/>
              <a:t>Partie I</a:t>
            </a:r>
            <a:endParaRPr lang="fr-FR" dirty="0"/>
          </a:p>
        </p:txBody>
      </p:sp>
      <p:sp>
        <p:nvSpPr>
          <p:cNvPr id="5" name="Sous-titre 4"/>
          <p:cNvSpPr>
            <a:spLocks noGrp="1"/>
          </p:cNvSpPr>
          <p:nvPr>
            <p:ph type="subTitle" idx="1"/>
          </p:nvPr>
        </p:nvSpPr>
        <p:spPr/>
        <p:txBody>
          <a:bodyPr>
            <a:normAutofit/>
          </a:bodyPr>
          <a:lstStyle/>
          <a:p>
            <a:r>
              <a:rPr lang="fr-FR" sz="2400" dirty="0"/>
              <a:t>Introduction &amp; écosystème </a:t>
            </a:r>
            <a:r>
              <a:rPr lang="fr-FR" sz="2400" dirty="0" err="1"/>
              <a:t>Angular</a:t>
            </a:r>
            <a:r>
              <a:rPr lang="fr-FR" sz="2400" dirty="0"/>
              <a:t> moderne</a:t>
            </a:r>
          </a:p>
        </p:txBody>
      </p:sp>
    </p:spTree>
    <p:extLst>
      <p:ext uri="{BB962C8B-B14F-4D97-AF65-F5344CB8AC3E}">
        <p14:creationId xmlns:p14="http://schemas.microsoft.com/office/powerpoint/2010/main" val="320674256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Plan </a:t>
            </a:r>
            <a:endParaRPr lang="fr-FR" dirty="0"/>
          </a:p>
        </p:txBody>
      </p:sp>
      <p:sp>
        <p:nvSpPr>
          <p:cNvPr id="3" name="Espace réservé du contenu 2"/>
          <p:cNvSpPr>
            <a:spLocks noGrp="1"/>
          </p:cNvSpPr>
          <p:nvPr>
            <p:ph idx="1"/>
          </p:nvPr>
        </p:nvSpPr>
        <p:spPr/>
        <p:txBody>
          <a:bodyPr>
            <a:noAutofit/>
          </a:bodyPr>
          <a:lstStyle/>
          <a:p>
            <a:pPr lvl="0" algn="just">
              <a:lnSpc>
                <a:spcPct val="150000"/>
              </a:lnSpc>
            </a:pPr>
            <a:r>
              <a:rPr lang="en-US" dirty="0"/>
              <a:t>Architecture Angular (standalone components, modules, CLI, tooling)</a:t>
            </a:r>
            <a:endParaRPr lang="fr-FR" dirty="0"/>
          </a:p>
          <a:p>
            <a:pPr lvl="0" algn="just">
              <a:lnSpc>
                <a:spcPct val="150000"/>
              </a:lnSpc>
            </a:pPr>
            <a:r>
              <a:rPr lang="fr-FR" dirty="0"/>
              <a:t>Nouveautés jusqu’à </a:t>
            </a:r>
            <a:r>
              <a:rPr lang="fr-FR" dirty="0" err="1"/>
              <a:t>Angular</a:t>
            </a:r>
            <a:r>
              <a:rPr lang="fr-FR" dirty="0"/>
              <a:t> </a:t>
            </a:r>
            <a:r>
              <a:rPr lang="fr-FR" dirty="0" smtClean="0"/>
              <a:t>21 </a:t>
            </a:r>
            <a:r>
              <a:rPr lang="fr-FR" dirty="0"/>
              <a:t>: simplification, </a:t>
            </a:r>
            <a:r>
              <a:rPr lang="fr-FR" dirty="0" err="1"/>
              <a:t>Signals</a:t>
            </a:r>
            <a:r>
              <a:rPr lang="fr-FR" dirty="0"/>
              <a:t>, </a:t>
            </a:r>
            <a:r>
              <a:rPr lang="fr-FR" dirty="0" err="1"/>
              <a:t>standalone</a:t>
            </a:r>
            <a:r>
              <a:rPr lang="fr-FR" dirty="0"/>
              <a:t> API</a:t>
            </a:r>
          </a:p>
          <a:p>
            <a:pPr lvl="0" algn="just">
              <a:lnSpc>
                <a:spcPct val="150000"/>
              </a:lnSpc>
            </a:pPr>
            <a:r>
              <a:rPr lang="fr-FR" dirty="0"/>
              <a:t>Structure du projet et organisation des fichiers</a:t>
            </a:r>
          </a:p>
          <a:p>
            <a:pPr lvl="0" algn="just">
              <a:lnSpc>
                <a:spcPct val="150000"/>
              </a:lnSpc>
            </a:pPr>
            <a:r>
              <a:rPr lang="fr-FR" dirty="0"/>
              <a:t>Configuration de l’environnement (</a:t>
            </a:r>
            <a:r>
              <a:rPr lang="fr-FR" dirty="0" err="1"/>
              <a:t>Node</a:t>
            </a:r>
            <a:r>
              <a:rPr lang="fr-FR" dirty="0"/>
              <a:t>, </a:t>
            </a:r>
            <a:r>
              <a:rPr lang="fr-FR" dirty="0" err="1"/>
              <a:t>npm</a:t>
            </a:r>
            <a:r>
              <a:rPr lang="fr-FR" dirty="0"/>
              <a:t>, </a:t>
            </a:r>
            <a:r>
              <a:rPr lang="fr-FR" dirty="0" err="1"/>
              <a:t>Angular</a:t>
            </a:r>
            <a:r>
              <a:rPr lang="fr-FR" dirty="0"/>
              <a:t> CLI)</a:t>
            </a:r>
          </a:p>
          <a:p>
            <a:pPr algn="just">
              <a:lnSpc>
                <a:spcPct val="150000"/>
              </a:lnSpc>
            </a:pPr>
            <a:r>
              <a:rPr lang="fr-FR" i="1" dirty="0"/>
              <a:t>Atelier : création d’un premier projet </a:t>
            </a:r>
            <a:r>
              <a:rPr lang="fr-FR" i="1" dirty="0" err="1"/>
              <a:t>standalone</a:t>
            </a:r>
            <a:endParaRPr lang="fr-FR" dirty="0"/>
          </a:p>
        </p:txBody>
      </p:sp>
    </p:spTree>
    <p:extLst>
      <p:ext uri="{BB962C8B-B14F-4D97-AF65-F5344CB8AC3E}">
        <p14:creationId xmlns:p14="http://schemas.microsoft.com/office/powerpoint/2010/main" val="1419227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ctrTitle"/>
          </p:nvPr>
        </p:nvSpPr>
        <p:spPr/>
        <p:txBody>
          <a:bodyPr/>
          <a:lstStyle/>
          <a:p>
            <a:pPr algn="ctr"/>
            <a:r>
              <a:rPr lang="fr-FR" dirty="0" smtClean="0"/>
              <a:t>Exigences en terme des architectures</a:t>
            </a:r>
            <a:endParaRPr lang="fr-FR" dirty="0"/>
          </a:p>
        </p:txBody>
      </p:sp>
      <p:sp>
        <p:nvSpPr>
          <p:cNvPr id="5" name="Sous-titre 4"/>
          <p:cNvSpPr>
            <a:spLocks noGrp="1"/>
          </p:cNvSpPr>
          <p:nvPr>
            <p:ph type="subTitle" idx="1"/>
          </p:nvPr>
        </p:nvSpPr>
        <p:spPr/>
        <p:txBody>
          <a:bodyPr/>
          <a:lstStyle/>
          <a:p>
            <a:endParaRPr lang="fr-FR"/>
          </a:p>
        </p:txBody>
      </p:sp>
    </p:spTree>
    <p:extLst>
      <p:ext uri="{BB962C8B-B14F-4D97-AF65-F5344CB8AC3E}">
        <p14:creationId xmlns:p14="http://schemas.microsoft.com/office/powerpoint/2010/main" val="14822058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Architecture </a:t>
            </a:r>
            <a:endParaRPr lang="fr-FR" dirty="0"/>
          </a:p>
        </p:txBody>
      </p:sp>
      <p:sp>
        <p:nvSpPr>
          <p:cNvPr id="3" name="Espace réservé du contenu 2"/>
          <p:cNvSpPr>
            <a:spLocks noGrp="1"/>
          </p:cNvSpPr>
          <p:nvPr>
            <p:ph idx="1"/>
          </p:nvPr>
        </p:nvSpPr>
        <p:spPr/>
        <p:txBody>
          <a:bodyPr>
            <a:normAutofit/>
          </a:bodyPr>
          <a:lstStyle/>
          <a:p>
            <a:pPr algn="just">
              <a:lnSpc>
                <a:spcPct val="200000"/>
              </a:lnSpc>
            </a:pPr>
            <a:r>
              <a:rPr lang="fr-FR" sz="5400" dirty="0" smtClean="0">
                <a:solidFill>
                  <a:srgbClr val="FF0000"/>
                </a:solidFill>
              </a:rPr>
              <a:t>Quelles architectures pour mon projet?</a:t>
            </a:r>
            <a:endParaRPr lang="fr-FR" sz="5400" dirty="0">
              <a:solidFill>
                <a:srgbClr val="FF0000"/>
              </a:solidFill>
            </a:endParaRPr>
          </a:p>
        </p:txBody>
      </p:sp>
    </p:spTree>
    <p:extLst>
      <p:ext uri="{BB962C8B-B14F-4D97-AF65-F5344CB8AC3E}">
        <p14:creationId xmlns:p14="http://schemas.microsoft.com/office/powerpoint/2010/main" val="2123395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94214"/>
            <a:ext cx="10058400" cy="974298"/>
          </a:xfrm>
        </p:spPr>
        <p:txBody>
          <a:bodyPr>
            <a:noAutofit/>
          </a:bodyPr>
          <a:lstStyle/>
          <a:p>
            <a:pPr algn="ctr"/>
            <a:r>
              <a:rPr lang="fr-FR" sz="3600" dirty="0"/>
              <a:t>Tableau comparatif </a:t>
            </a:r>
            <a:r>
              <a:rPr lang="fr-FR" sz="3600" dirty="0" smtClean="0"/>
              <a:t/>
            </a:r>
            <a:br>
              <a:rPr lang="fr-FR" sz="3600" dirty="0" smtClean="0"/>
            </a:br>
            <a:r>
              <a:rPr lang="fr-FR" sz="3600" dirty="0" smtClean="0"/>
              <a:t>des </a:t>
            </a:r>
            <a:r>
              <a:rPr lang="fr-FR" sz="3600" dirty="0"/>
              <a:t>grandes architectures logicielles</a:t>
            </a:r>
          </a:p>
        </p:txBody>
      </p:sp>
      <p:pic>
        <p:nvPicPr>
          <p:cNvPr id="4" name="Espace réservé du contenu 3"/>
          <p:cNvPicPr>
            <a:picLocks noGrp="1" noChangeAspect="1"/>
          </p:cNvPicPr>
          <p:nvPr>
            <p:ph idx="1"/>
          </p:nvPr>
        </p:nvPicPr>
        <p:blipFill>
          <a:blip r:embed="rId2"/>
          <a:stretch>
            <a:fillRect/>
          </a:stretch>
        </p:blipFill>
        <p:spPr>
          <a:xfrm>
            <a:off x="780836" y="1243173"/>
            <a:ext cx="10561833" cy="509598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436329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484632"/>
            <a:ext cx="10058400" cy="727719"/>
          </a:xfrm>
        </p:spPr>
        <p:txBody>
          <a:bodyPr>
            <a:normAutofit/>
          </a:bodyPr>
          <a:lstStyle/>
          <a:p>
            <a:pPr algn="ctr"/>
            <a:r>
              <a:rPr lang="fr-FR" sz="2800" dirty="0"/>
              <a:t>Comment positionner l’Architecture Full-</a:t>
            </a:r>
            <a:r>
              <a:rPr lang="fr-FR" sz="2800" dirty="0" err="1"/>
              <a:t>Stack</a:t>
            </a:r>
            <a:endParaRPr lang="fr-FR" sz="2800" dirty="0"/>
          </a:p>
        </p:txBody>
      </p:sp>
      <p:sp>
        <p:nvSpPr>
          <p:cNvPr id="3" name="Espace réservé du contenu 2"/>
          <p:cNvSpPr>
            <a:spLocks noGrp="1"/>
          </p:cNvSpPr>
          <p:nvPr>
            <p:ph idx="1"/>
          </p:nvPr>
        </p:nvSpPr>
        <p:spPr>
          <a:xfrm>
            <a:off x="1069848" y="1212351"/>
            <a:ext cx="10058400" cy="4661899"/>
          </a:xfrm>
        </p:spPr>
        <p:txBody>
          <a:bodyPr>
            <a:noAutofit/>
          </a:bodyPr>
          <a:lstStyle/>
          <a:p>
            <a:pPr algn="just">
              <a:lnSpc>
                <a:spcPct val="150000"/>
              </a:lnSpc>
            </a:pPr>
            <a:r>
              <a:rPr lang="fr-FR" sz="2400" dirty="0"/>
              <a:t>Ce n’est pas une architecture technique seule, </a:t>
            </a:r>
            <a:r>
              <a:rPr lang="fr-FR" sz="2400" dirty="0" smtClean="0"/>
              <a:t>  </a:t>
            </a:r>
            <a:r>
              <a:rPr lang="fr-FR" sz="2400" dirty="0"/>
              <a:t>mais une façon d’organiser le développement et les compétences</a:t>
            </a:r>
            <a:r>
              <a:rPr lang="fr-FR" sz="2400" dirty="0" smtClean="0"/>
              <a:t>.</a:t>
            </a:r>
          </a:p>
          <a:p>
            <a:pPr algn="just">
              <a:lnSpc>
                <a:spcPct val="150000"/>
              </a:lnSpc>
            </a:pPr>
            <a:r>
              <a:rPr lang="fr-FR" sz="2400" dirty="0"/>
              <a:t>Souvent utilisée avec </a:t>
            </a:r>
            <a:r>
              <a:rPr lang="fr-FR" sz="2400" dirty="0" smtClean="0"/>
              <a:t>:</a:t>
            </a:r>
          </a:p>
          <a:p>
            <a:pPr lvl="1" algn="just">
              <a:lnSpc>
                <a:spcPct val="150000"/>
              </a:lnSpc>
            </a:pPr>
            <a:r>
              <a:rPr lang="fr-FR" sz="2000" dirty="0" smtClean="0"/>
              <a:t>Un </a:t>
            </a:r>
            <a:r>
              <a:rPr lang="fr-FR" sz="2000" dirty="0"/>
              <a:t>front moderne (</a:t>
            </a:r>
            <a:r>
              <a:rPr lang="fr-FR" sz="2000" dirty="0" err="1"/>
              <a:t>Angular</a:t>
            </a:r>
            <a:r>
              <a:rPr lang="fr-FR" sz="2000" dirty="0"/>
              <a:t> / </a:t>
            </a:r>
            <a:r>
              <a:rPr lang="fr-FR" sz="2000" dirty="0" err="1"/>
              <a:t>React</a:t>
            </a:r>
            <a:r>
              <a:rPr lang="fr-FR" sz="2000" dirty="0"/>
              <a:t> / Vue</a:t>
            </a:r>
            <a:r>
              <a:rPr lang="fr-FR" sz="2000" dirty="0" smtClean="0"/>
              <a:t>)</a:t>
            </a:r>
          </a:p>
          <a:p>
            <a:pPr lvl="1" algn="just">
              <a:lnSpc>
                <a:spcPct val="150000"/>
              </a:lnSpc>
            </a:pPr>
            <a:r>
              <a:rPr lang="fr-FR" sz="2000" dirty="0"/>
              <a:t>Un back exposant des API (</a:t>
            </a:r>
            <a:r>
              <a:rPr lang="fr-FR" sz="2000" dirty="0" err="1"/>
              <a:t>Node</a:t>
            </a:r>
            <a:r>
              <a:rPr lang="fr-FR" sz="2000" dirty="0"/>
              <a:t> / </a:t>
            </a:r>
            <a:r>
              <a:rPr lang="fr-FR" sz="2000" dirty="0" err="1"/>
              <a:t>Spring</a:t>
            </a:r>
            <a:r>
              <a:rPr lang="fr-FR" sz="2000" dirty="0"/>
              <a:t> Boot / .NET / Django</a:t>
            </a:r>
            <a:r>
              <a:rPr lang="fr-FR" sz="2000" dirty="0" smtClean="0"/>
              <a:t>)</a:t>
            </a:r>
          </a:p>
          <a:p>
            <a:pPr lvl="1" algn="just">
              <a:lnSpc>
                <a:spcPct val="150000"/>
              </a:lnSpc>
            </a:pPr>
            <a:r>
              <a:rPr lang="fr-FR" sz="2000" dirty="0"/>
              <a:t>Une BDD (SQL ou </a:t>
            </a:r>
            <a:r>
              <a:rPr lang="fr-FR" sz="2000" dirty="0" err="1"/>
              <a:t>NoSQL</a:t>
            </a:r>
            <a:r>
              <a:rPr lang="fr-FR" sz="2000" dirty="0" smtClean="0"/>
              <a:t>)</a:t>
            </a:r>
          </a:p>
          <a:p>
            <a:pPr algn="just">
              <a:lnSpc>
                <a:spcPct val="150000"/>
              </a:lnSpc>
            </a:pPr>
            <a:r>
              <a:rPr lang="fr-FR" sz="2400" dirty="0"/>
              <a:t>Elle se situe entre l’architecture 3-tiers et les </a:t>
            </a:r>
            <a:r>
              <a:rPr lang="fr-FR" sz="2400" dirty="0" err="1"/>
              <a:t>microservices</a:t>
            </a:r>
            <a:r>
              <a:rPr lang="fr-FR" sz="2400" dirty="0"/>
              <a:t> </a:t>
            </a:r>
            <a:r>
              <a:rPr lang="fr-FR" sz="2400" dirty="0" smtClean="0"/>
              <a:t>:</a:t>
            </a:r>
          </a:p>
          <a:p>
            <a:pPr lvl="1" algn="just">
              <a:lnSpc>
                <a:spcPct val="150000"/>
              </a:lnSpc>
            </a:pPr>
            <a:r>
              <a:rPr lang="fr-FR" sz="2000" dirty="0"/>
              <a:t>Plus flexible que </a:t>
            </a:r>
            <a:r>
              <a:rPr lang="fr-FR" sz="2000" dirty="0" smtClean="0"/>
              <a:t>3-tiers</a:t>
            </a:r>
          </a:p>
          <a:p>
            <a:pPr lvl="1" algn="just">
              <a:lnSpc>
                <a:spcPct val="150000"/>
              </a:lnSpc>
            </a:pPr>
            <a:r>
              <a:rPr lang="fr-FR" sz="2000" dirty="0"/>
              <a:t>Moins complexe que </a:t>
            </a:r>
            <a:r>
              <a:rPr lang="fr-FR" sz="2000" dirty="0" err="1"/>
              <a:t>microservices</a:t>
            </a:r>
            <a:endParaRPr lang="fr-FR" sz="2000" dirty="0"/>
          </a:p>
        </p:txBody>
      </p:sp>
    </p:spTree>
    <p:extLst>
      <p:ext uri="{BB962C8B-B14F-4D97-AF65-F5344CB8AC3E}">
        <p14:creationId xmlns:p14="http://schemas.microsoft.com/office/powerpoint/2010/main" val="3359396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484632"/>
            <a:ext cx="10058400" cy="614703"/>
          </a:xfrm>
        </p:spPr>
        <p:txBody>
          <a:bodyPr>
            <a:normAutofit fontScale="90000"/>
          </a:bodyPr>
          <a:lstStyle/>
          <a:p>
            <a:pPr algn="ctr"/>
            <a:r>
              <a:rPr lang="fr-FR" dirty="0"/>
              <a:t>Pourquoi le full-</a:t>
            </a:r>
            <a:r>
              <a:rPr lang="fr-FR" dirty="0" err="1"/>
              <a:t>stack</a:t>
            </a:r>
            <a:r>
              <a:rPr lang="fr-FR" dirty="0"/>
              <a:t> ?</a:t>
            </a:r>
          </a:p>
        </p:txBody>
      </p:sp>
      <p:sp>
        <p:nvSpPr>
          <p:cNvPr id="3" name="Espace réservé du contenu 2"/>
          <p:cNvSpPr>
            <a:spLocks noGrp="1"/>
          </p:cNvSpPr>
          <p:nvPr>
            <p:ph idx="1"/>
          </p:nvPr>
        </p:nvSpPr>
        <p:spPr>
          <a:xfrm>
            <a:off x="1069848" y="1099335"/>
            <a:ext cx="10058400" cy="4795463"/>
          </a:xfrm>
        </p:spPr>
        <p:txBody>
          <a:bodyPr>
            <a:noAutofit/>
          </a:bodyPr>
          <a:lstStyle/>
          <a:p>
            <a:pPr algn="just">
              <a:lnSpc>
                <a:spcPct val="150000"/>
              </a:lnSpc>
            </a:pPr>
            <a:r>
              <a:rPr lang="fr-FR" sz="2800" dirty="0"/>
              <a:t>Productivité : un développeur qui comprend toute la chaîne peut livrer </a:t>
            </a:r>
            <a:r>
              <a:rPr lang="fr-FR" sz="2800" dirty="0" err="1"/>
              <a:t>features</a:t>
            </a:r>
            <a:r>
              <a:rPr lang="fr-FR" sz="2800" dirty="0"/>
              <a:t> plus vite</a:t>
            </a:r>
            <a:r>
              <a:rPr lang="fr-FR" sz="2800" dirty="0" smtClean="0"/>
              <a:t>.</a:t>
            </a:r>
          </a:p>
          <a:p>
            <a:pPr algn="just">
              <a:lnSpc>
                <a:spcPct val="150000"/>
              </a:lnSpc>
            </a:pPr>
            <a:r>
              <a:rPr lang="fr-FR" sz="2800" dirty="0"/>
              <a:t>Meilleure communication : </a:t>
            </a:r>
            <a:r>
              <a:rPr lang="fr-FR" sz="2800" dirty="0" smtClean="0"/>
              <a:t>réduction </a:t>
            </a:r>
            <a:r>
              <a:rPr lang="fr-FR" sz="2800" dirty="0"/>
              <a:t>des frictions entre front/back</a:t>
            </a:r>
            <a:r>
              <a:rPr lang="fr-FR" sz="2800" dirty="0" smtClean="0"/>
              <a:t>.</a:t>
            </a:r>
          </a:p>
          <a:p>
            <a:pPr algn="just">
              <a:lnSpc>
                <a:spcPct val="150000"/>
              </a:lnSpc>
            </a:pPr>
            <a:r>
              <a:rPr lang="fr-FR" sz="2800" dirty="0"/>
              <a:t>Vision système : optimisation des performances, sécurité et UX</a:t>
            </a:r>
            <a:r>
              <a:rPr lang="fr-FR" sz="2800" dirty="0" smtClean="0"/>
              <a:t>.</a:t>
            </a:r>
          </a:p>
          <a:p>
            <a:pPr algn="just">
              <a:lnSpc>
                <a:spcPct val="150000"/>
              </a:lnSpc>
            </a:pPr>
            <a:r>
              <a:rPr lang="fr-FR" sz="2800" dirty="0"/>
              <a:t>Emploi : marché du travail demande des compétences full-</a:t>
            </a:r>
            <a:r>
              <a:rPr lang="fr-FR" sz="2800" dirty="0" err="1"/>
              <a:t>stack</a:t>
            </a:r>
            <a:r>
              <a:rPr lang="fr-FR" sz="2800" dirty="0"/>
              <a:t>.</a:t>
            </a:r>
          </a:p>
        </p:txBody>
      </p:sp>
    </p:spTree>
    <p:extLst>
      <p:ext uri="{BB962C8B-B14F-4D97-AF65-F5344CB8AC3E}">
        <p14:creationId xmlns:p14="http://schemas.microsoft.com/office/powerpoint/2010/main" val="1651934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320245"/>
            <a:ext cx="10058400" cy="419494"/>
          </a:xfrm>
        </p:spPr>
        <p:txBody>
          <a:bodyPr>
            <a:normAutofit fontScale="90000"/>
          </a:bodyPr>
          <a:lstStyle/>
          <a:p>
            <a:pPr algn="ctr"/>
            <a:r>
              <a:rPr lang="fr-FR" dirty="0"/>
              <a:t>Contexte général</a:t>
            </a:r>
          </a:p>
        </p:txBody>
      </p:sp>
      <p:sp>
        <p:nvSpPr>
          <p:cNvPr id="3" name="Espace réservé du contenu 2"/>
          <p:cNvSpPr>
            <a:spLocks noGrp="1"/>
          </p:cNvSpPr>
          <p:nvPr>
            <p:ph idx="1"/>
          </p:nvPr>
        </p:nvSpPr>
        <p:spPr>
          <a:xfrm>
            <a:off x="884913" y="914399"/>
            <a:ext cx="10058400" cy="4887930"/>
          </a:xfrm>
        </p:spPr>
        <p:txBody>
          <a:bodyPr>
            <a:noAutofit/>
          </a:bodyPr>
          <a:lstStyle/>
          <a:p>
            <a:pPr algn="just">
              <a:lnSpc>
                <a:spcPct val="150000"/>
              </a:lnSpc>
            </a:pPr>
            <a:r>
              <a:rPr lang="fr-FR" sz="2400" dirty="0"/>
              <a:t>Le développement logiciel moderne repose sur des applications </a:t>
            </a:r>
            <a:r>
              <a:rPr lang="fr-FR" sz="2400" b="1" dirty="0"/>
              <a:t>web dynamiques</a:t>
            </a:r>
            <a:r>
              <a:rPr lang="fr-FR" sz="2400" dirty="0"/>
              <a:t>, </a:t>
            </a:r>
            <a:r>
              <a:rPr lang="fr-FR" sz="2400" b="1" dirty="0"/>
              <a:t>interactives</a:t>
            </a:r>
            <a:r>
              <a:rPr lang="fr-FR" sz="2400" dirty="0"/>
              <a:t> et </a:t>
            </a:r>
            <a:r>
              <a:rPr lang="fr-FR" sz="2400" b="1" dirty="0" err="1"/>
              <a:t>scalables</a:t>
            </a:r>
            <a:r>
              <a:rPr lang="fr-FR" sz="2400" dirty="0" smtClean="0"/>
              <a:t>.</a:t>
            </a:r>
          </a:p>
          <a:p>
            <a:pPr algn="just">
              <a:lnSpc>
                <a:spcPct val="150000"/>
              </a:lnSpc>
            </a:pPr>
            <a:r>
              <a:rPr lang="fr-FR" sz="2400" dirty="0" smtClean="0"/>
              <a:t>Les </a:t>
            </a:r>
            <a:r>
              <a:rPr lang="fr-FR" sz="2400" dirty="0"/>
              <a:t>entreprises recherchent aujourd’hui des solutions capables de </a:t>
            </a:r>
            <a:r>
              <a:rPr lang="fr-FR" sz="2400" dirty="0" smtClean="0"/>
              <a:t>:</a:t>
            </a:r>
          </a:p>
          <a:p>
            <a:pPr lvl="1" algn="just">
              <a:lnSpc>
                <a:spcPct val="150000"/>
              </a:lnSpc>
            </a:pPr>
            <a:r>
              <a:rPr lang="fr-FR" sz="2000" dirty="0"/>
              <a:t>Offrir une </a:t>
            </a:r>
            <a:r>
              <a:rPr lang="fr-FR" sz="2000" b="1" dirty="0"/>
              <a:t>expérience utilisateur fluide</a:t>
            </a:r>
            <a:r>
              <a:rPr lang="fr-FR" sz="2000" dirty="0"/>
              <a:t> sur le web</a:t>
            </a:r>
            <a:r>
              <a:rPr lang="fr-FR" sz="2000" dirty="0" smtClean="0"/>
              <a:t>,</a:t>
            </a:r>
          </a:p>
          <a:p>
            <a:pPr lvl="1" algn="just">
              <a:lnSpc>
                <a:spcPct val="150000"/>
              </a:lnSpc>
            </a:pPr>
            <a:r>
              <a:rPr lang="fr-FR" sz="2000" dirty="0"/>
              <a:t>Traiter efficacement les données</a:t>
            </a:r>
            <a:r>
              <a:rPr lang="fr-FR" sz="2000" dirty="0" smtClean="0"/>
              <a:t>,</a:t>
            </a:r>
          </a:p>
          <a:p>
            <a:pPr lvl="1" algn="just">
              <a:lnSpc>
                <a:spcPct val="150000"/>
              </a:lnSpc>
            </a:pPr>
            <a:r>
              <a:rPr lang="fr-FR" sz="2000" dirty="0"/>
              <a:t>Et </a:t>
            </a:r>
            <a:r>
              <a:rPr lang="fr-FR" sz="2000" b="1" dirty="0"/>
              <a:t>s’intégrer facilement</a:t>
            </a:r>
            <a:r>
              <a:rPr lang="fr-FR" sz="2000" dirty="0"/>
              <a:t> avec d’autres systèmes ou services cloud</a:t>
            </a:r>
            <a:r>
              <a:rPr lang="fr-FR" sz="2000" dirty="0" smtClean="0"/>
              <a:t>.</a:t>
            </a:r>
          </a:p>
          <a:p>
            <a:pPr algn="just">
              <a:lnSpc>
                <a:spcPct val="150000"/>
              </a:lnSpc>
            </a:pPr>
            <a:r>
              <a:rPr lang="fr-FR" sz="2400" dirty="0"/>
              <a:t>Pour atteindre ces objectifs, les développeurs adoptent des </a:t>
            </a:r>
            <a:r>
              <a:rPr lang="fr-FR" sz="2400" b="1" dirty="0"/>
              <a:t>architectures </a:t>
            </a:r>
            <a:r>
              <a:rPr lang="fr-FR" sz="2400" b="1" dirty="0" err="1"/>
              <a:t>fullstack</a:t>
            </a:r>
            <a:r>
              <a:rPr lang="fr-FR" sz="2400" dirty="0"/>
              <a:t> combinant un </a:t>
            </a:r>
            <a:r>
              <a:rPr lang="fr-FR" sz="2400" b="1" dirty="0" err="1"/>
              <a:t>frontend</a:t>
            </a:r>
            <a:r>
              <a:rPr lang="fr-FR" sz="2400" b="1" dirty="0"/>
              <a:t> puissant</a:t>
            </a:r>
            <a:r>
              <a:rPr lang="fr-FR" sz="2400" dirty="0"/>
              <a:t> (comme </a:t>
            </a:r>
            <a:r>
              <a:rPr lang="fr-FR" sz="2400" b="1" dirty="0" err="1"/>
              <a:t>Angular</a:t>
            </a:r>
            <a:r>
              <a:rPr lang="fr-FR" sz="2400" dirty="0"/>
              <a:t>) et un </a:t>
            </a:r>
            <a:r>
              <a:rPr lang="fr-FR" sz="2400" b="1" dirty="0" err="1"/>
              <a:t>backend</a:t>
            </a:r>
            <a:r>
              <a:rPr lang="fr-FR" sz="2400" b="1" dirty="0"/>
              <a:t> robuste</a:t>
            </a:r>
            <a:r>
              <a:rPr lang="fr-FR" sz="2400" dirty="0"/>
              <a:t> (comme </a:t>
            </a:r>
            <a:r>
              <a:rPr lang="fr-FR" sz="2400" b="1" dirty="0" err="1"/>
              <a:t>Spring</a:t>
            </a:r>
            <a:r>
              <a:rPr lang="fr-FR" sz="2400" dirty="0"/>
              <a:t> </a:t>
            </a:r>
            <a:r>
              <a:rPr lang="fr-FR" sz="2400" b="1" dirty="0"/>
              <a:t>Boot</a:t>
            </a:r>
            <a:r>
              <a:rPr lang="fr-FR" sz="2400" dirty="0"/>
              <a:t>).</a:t>
            </a:r>
          </a:p>
        </p:txBody>
      </p:sp>
    </p:spTree>
    <p:extLst>
      <p:ext uri="{BB962C8B-B14F-4D97-AF65-F5344CB8AC3E}">
        <p14:creationId xmlns:p14="http://schemas.microsoft.com/office/powerpoint/2010/main" val="3652740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484632"/>
            <a:ext cx="10058400" cy="768815"/>
          </a:xfrm>
        </p:spPr>
        <p:txBody>
          <a:bodyPr>
            <a:normAutofit fontScale="90000"/>
          </a:bodyPr>
          <a:lstStyle/>
          <a:p>
            <a:pPr algn="ctr"/>
            <a:r>
              <a:rPr lang="fr-FR" dirty="0"/>
              <a:t>Qu’est-ce qu’une architecture </a:t>
            </a:r>
            <a:r>
              <a:rPr lang="fr-FR" dirty="0" err="1"/>
              <a:t>fullstack</a:t>
            </a:r>
            <a:r>
              <a:rPr lang="fr-FR" dirty="0"/>
              <a:t> ?</a:t>
            </a:r>
          </a:p>
        </p:txBody>
      </p:sp>
      <p:sp>
        <p:nvSpPr>
          <p:cNvPr id="3" name="Espace réservé du contenu 2"/>
          <p:cNvSpPr>
            <a:spLocks noGrp="1"/>
          </p:cNvSpPr>
          <p:nvPr>
            <p:ph idx="1"/>
          </p:nvPr>
        </p:nvSpPr>
        <p:spPr>
          <a:xfrm>
            <a:off x="1069848" y="1592494"/>
            <a:ext cx="10058400" cy="4456416"/>
          </a:xfrm>
        </p:spPr>
        <p:txBody>
          <a:bodyPr>
            <a:noAutofit/>
          </a:bodyPr>
          <a:lstStyle/>
          <a:p>
            <a:pPr algn="just">
              <a:lnSpc>
                <a:spcPct val="150000"/>
              </a:lnSpc>
            </a:pPr>
            <a:r>
              <a:rPr lang="fr-FR" sz="2400" dirty="0"/>
              <a:t>Une </a:t>
            </a:r>
            <a:r>
              <a:rPr lang="fr-FR" sz="2400" b="1" dirty="0"/>
              <a:t>architecture </a:t>
            </a:r>
            <a:r>
              <a:rPr lang="fr-FR" sz="2400" b="1" dirty="0" err="1"/>
              <a:t>fullstack</a:t>
            </a:r>
            <a:r>
              <a:rPr lang="fr-FR" sz="2400" dirty="0"/>
              <a:t> réunit deux grandes parties </a:t>
            </a:r>
            <a:r>
              <a:rPr lang="fr-FR" sz="2400" dirty="0" smtClean="0"/>
              <a:t>:</a:t>
            </a:r>
          </a:p>
          <a:p>
            <a:pPr lvl="1" algn="just">
              <a:lnSpc>
                <a:spcPct val="150000"/>
              </a:lnSpc>
            </a:pPr>
            <a:r>
              <a:rPr lang="fr-FR" sz="2000" b="1" dirty="0" err="1"/>
              <a:t>Frontend</a:t>
            </a:r>
            <a:r>
              <a:rPr lang="fr-FR" sz="2000" b="1" dirty="0"/>
              <a:t> (client)</a:t>
            </a:r>
            <a:r>
              <a:rPr lang="fr-FR" sz="2000" dirty="0"/>
              <a:t> : c’est la partie visible par l’utilisateur</a:t>
            </a:r>
            <a:r>
              <a:rPr lang="fr-FR" sz="2000" dirty="0" smtClean="0"/>
              <a:t>.</a:t>
            </a:r>
          </a:p>
          <a:p>
            <a:pPr lvl="2" algn="just">
              <a:lnSpc>
                <a:spcPct val="150000"/>
              </a:lnSpc>
            </a:pPr>
            <a:r>
              <a:rPr lang="fr-FR" sz="1800" dirty="0"/>
              <a:t>Développée ici avec </a:t>
            </a:r>
            <a:r>
              <a:rPr lang="fr-FR" sz="1800" b="1" dirty="0" err="1"/>
              <a:t>Angular</a:t>
            </a:r>
            <a:r>
              <a:rPr lang="fr-FR" sz="1800" dirty="0"/>
              <a:t>, un </a:t>
            </a:r>
            <a:r>
              <a:rPr lang="fr-FR" sz="1800" dirty="0" smtClean="0"/>
              <a:t>Framework </a:t>
            </a:r>
            <a:r>
              <a:rPr lang="fr-FR" sz="1800" dirty="0"/>
              <a:t>JavaScript moderne basé sur </a:t>
            </a:r>
            <a:r>
              <a:rPr lang="fr-FR" sz="1800" b="1" dirty="0" err="1"/>
              <a:t>TypeScript</a:t>
            </a:r>
            <a:r>
              <a:rPr lang="fr-FR" sz="1800" dirty="0" smtClean="0"/>
              <a:t>.</a:t>
            </a:r>
          </a:p>
          <a:p>
            <a:pPr lvl="1" algn="just">
              <a:lnSpc>
                <a:spcPct val="150000"/>
              </a:lnSpc>
            </a:pPr>
            <a:r>
              <a:rPr lang="fr-FR" sz="2000" b="1" dirty="0" err="1"/>
              <a:t>Backend</a:t>
            </a:r>
            <a:r>
              <a:rPr lang="fr-FR" sz="2000" b="1" dirty="0"/>
              <a:t> (serveur)</a:t>
            </a:r>
            <a:r>
              <a:rPr lang="fr-FR" sz="2000" dirty="0"/>
              <a:t> : c’est la partie cachée, responsable de la logique métier, de la sécurité et de la gestion des données</a:t>
            </a:r>
            <a:r>
              <a:rPr lang="fr-FR" sz="2000" dirty="0" smtClean="0"/>
              <a:t>.</a:t>
            </a:r>
          </a:p>
          <a:p>
            <a:pPr lvl="2" algn="just">
              <a:lnSpc>
                <a:spcPct val="150000"/>
              </a:lnSpc>
            </a:pPr>
            <a:r>
              <a:rPr lang="fr-FR" sz="1800" dirty="0"/>
              <a:t>Développée ici avec </a:t>
            </a:r>
            <a:r>
              <a:rPr lang="fr-FR" sz="1800" b="1" dirty="0" err="1"/>
              <a:t>Spring</a:t>
            </a:r>
            <a:r>
              <a:rPr lang="fr-FR" sz="1800" b="1" dirty="0"/>
              <a:t> Boot</a:t>
            </a:r>
            <a:r>
              <a:rPr lang="fr-FR" sz="1800" dirty="0"/>
              <a:t>, un </a:t>
            </a:r>
            <a:r>
              <a:rPr lang="fr-FR" sz="1800" dirty="0" smtClean="0"/>
              <a:t>Framework </a:t>
            </a:r>
            <a:r>
              <a:rPr lang="fr-FR" sz="1800" dirty="0"/>
              <a:t>Java qui simplifie la création </a:t>
            </a:r>
            <a:r>
              <a:rPr lang="fr-FR" sz="1800" b="1" dirty="0"/>
              <a:t>d’APIs</a:t>
            </a:r>
            <a:r>
              <a:rPr lang="fr-FR" sz="1800" dirty="0"/>
              <a:t> </a:t>
            </a:r>
            <a:r>
              <a:rPr lang="fr-FR" sz="1800" b="1" dirty="0"/>
              <a:t>REST</a:t>
            </a:r>
            <a:r>
              <a:rPr lang="fr-FR" sz="1800" dirty="0"/>
              <a:t> et la connexion aux bases de données</a:t>
            </a:r>
            <a:r>
              <a:rPr lang="fr-FR" sz="1800" dirty="0" smtClean="0"/>
              <a:t>.</a:t>
            </a:r>
          </a:p>
          <a:p>
            <a:pPr algn="just">
              <a:lnSpc>
                <a:spcPct val="150000"/>
              </a:lnSpc>
            </a:pPr>
            <a:r>
              <a:rPr lang="fr-FR" sz="2400" dirty="0"/>
              <a:t>Ces deux couches </a:t>
            </a:r>
            <a:r>
              <a:rPr lang="fr-FR" sz="2400" b="1" dirty="0"/>
              <a:t>communiquent via des API REST</a:t>
            </a:r>
            <a:r>
              <a:rPr lang="fr-FR" sz="2400" dirty="0"/>
              <a:t> en utilisant le </a:t>
            </a:r>
            <a:r>
              <a:rPr lang="fr-FR" sz="2400" b="1" dirty="0"/>
              <a:t>format JSON</a:t>
            </a:r>
            <a:r>
              <a:rPr lang="fr-FR" sz="2400" dirty="0"/>
              <a:t>.	</a:t>
            </a:r>
          </a:p>
        </p:txBody>
      </p:sp>
    </p:spTree>
    <p:extLst>
      <p:ext uri="{BB962C8B-B14F-4D97-AF65-F5344CB8AC3E}">
        <p14:creationId xmlns:p14="http://schemas.microsoft.com/office/powerpoint/2010/main" val="1947791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484632"/>
            <a:ext cx="10058400" cy="532510"/>
          </a:xfrm>
        </p:spPr>
        <p:txBody>
          <a:bodyPr>
            <a:normAutofit fontScale="90000"/>
          </a:bodyPr>
          <a:lstStyle/>
          <a:p>
            <a:pPr algn="ctr"/>
            <a:r>
              <a:rPr lang="fr-FR" dirty="0"/>
              <a:t>Principe de communication</a:t>
            </a:r>
          </a:p>
        </p:txBody>
      </p:sp>
      <p:sp>
        <p:nvSpPr>
          <p:cNvPr id="3" name="Espace réservé du contenu 2"/>
          <p:cNvSpPr>
            <a:spLocks noGrp="1"/>
          </p:cNvSpPr>
          <p:nvPr>
            <p:ph idx="1"/>
          </p:nvPr>
        </p:nvSpPr>
        <p:spPr>
          <a:xfrm>
            <a:off x="1069848" y="1428108"/>
            <a:ext cx="10058400" cy="4867382"/>
          </a:xfrm>
        </p:spPr>
        <p:txBody>
          <a:bodyPr>
            <a:noAutofit/>
          </a:bodyPr>
          <a:lstStyle/>
          <a:p>
            <a:pPr algn="just">
              <a:lnSpc>
                <a:spcPct val="150000"/>
              </a:lnSpc>
            </a:pPr>
            <a:r>
              <a:rPr lang="fr-FR" dirty="0"/>
              <a:t>L’utilisateur interagit avec l’application </a:t>
            </a:r>
            <a:r>
              <a:rPr lang="fr-FR" dirty="0" err="1"/>
              <a:t>Angular</a:t>
            </a:r>
            <a:r>
              <a:rPr lang="fr-FR" dirty="0"/>
              <a:t> (ex. clique sur “Afficher les produits</a:t>
            </a:r>
            <a:r>
              <a:rPr lang="fr-FR" dirty="0" smtClean="0"/>
              <a:t>”).</a:t>
            </a:r>
          </a:p>
          <a:p>
            <a:pPr algn="just">
              <a:lnSpc>
                <a:spcPct val="150000"/>
              </a:lnSpc>
            </a:pPr>
            <a:r>
              <a:rPr lang="fr-FR" dirty="0" err="1"/>
              <a:t>Angular</a:t>
            </a:r>
            <a:r>
              <a:rPr lang="fr-FR" dirty="0"/>
              <a:t> envoie une requête HTTP au serveur </a:t>
            </a:r>
            <a:r>
              <a:rPr lang="fr-FR" dirty="0" err="1"/>
              <a:t>Spring</a:t>
            </a:r>
            <a:r>
              <a:rPr lang="fr-FR" dirty="0"/>
              <a:t> Boot (ex. GET /api/</a:t>
            </a:r>
            <a:r>
              <a:rPr lang="fr-FR" dirty="0" err="1"/>
              <a:t>products</a:t>
            </a:r>
            <a:r>
              <a:rPr lang="fr-FR" dirty="0" smtClean="0"/>
              <a:t>).</a:t>
            </a:r>
          </a:p>
          <a:p>
            <a:pPr algn="just">
              <a:lnSpc>
                <a:spcPct val="150000"/>
              </a:lnSpc>
            </a:pPr>
            <a:r>
              <a:rPr lang="fr-FR" dirty="0" err="1"/>
              <a:t>Spring</a:t>
            </a:r>
            <a:r>
              <a:rPr lang="fr-FR" dirty="0"/>
              <a:t> Boot interroge la base de données, traite la logique métier, et renvoie une réponse JSON</a:t>
            </a:r>
            <a:r>
              <a:rPr lang="fr-FR" dirty="0" smtClean="0"/>
              <a:t>.</a:t>
            </a:r>
          </a:p>
          <a:p>
            <a:pPr algn="just">
              <a:lnSpc>
                <a:spcPct val="150000"/>
              </a:lnSpc>
            </a:pPr>
            <a:r>
              <a:rPr lang="fr-FR" dirty="0" err="1"/>
              <a:t>Angular</a:t>
            </a:r>
            <a:r>
              <a:rPr lang="fr-FR" dirty="0"/>
              <a:t> affiche le résultat dans l’interface (liste, graphique, tableau, etc</a:t>
            </a:r>
            <a:r>
              <a:rPr lang="fr-FR" dirty="0" smtClean="0"/>
              <a:t>.).</a:t>
            </a:r>
          </a:p>
          <a:p>
            <a:pPr algn="just">
              <a:lnSpc>
                <a:spcPct val="150000"/>
              </a:lnSpc>
            </a:pPr>
            <a:endParaRPr lang="fr-FR" dirty="0"/>
          </a:p>
          <a:p>
            <a:pPr algn="just">
              <a:lnSpc>
                <a:spcPct val="150000"/>
              </a:lnSpc>
            </a:pPr>
            <a:r>
              <a:rPr lang="fr-FR" dirty="0"/>
              <a:t>Cette séparation claire rend le code plus </a:t>
            </a:r>
            <a:r>
              <a:rPr lang="fr-FR" b="1" dirty="0"/>
              <a:t>modulaire</a:t>
            </a:r>
            <a:r>
              <a:rPr lang="fr-FR" dirty="0"/>
              <a:t>, </a:t>
            </a:r>
            <a:r>
              <a:rPr lang="fr-FR" b="1" dirty="0"/>
              <a:t>testable</a:t>
            </a:r>
            <a:r>
              <a:rPr lang="fr-FR" dirty="0"/>
              <a:t> et </a:t>
            </a:r>
            <a:r>
              <a:rPr lang="fr-FR" b="1" dirty="0"/>
              <a:t>maintenable</a:t>
            </a:r>
            <a:r>
              <a:rPr lang="fr-FR" dirty="0"/>
              <a:t>.</a:t>
            </a:r>
          </a:p>
        </p:txBody>
      </p:sp>
    </p:spTree>
    <p:extLst>
      <p:ext uri="{BB962C8B-B14F-4D97-AF65-F5344CB8AC3E}">
        <p14:creationId xmlns:p14="http://schemas.microsoft.com/office/powerpoint/2010/main" val="3412706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484632"/>
            <a:ext cx="10058400" cy="666074"/>
          </a:xfrm>
        </p:spPr>
        <p:txBody>
          <a:bodyPr>
            <a:normAutofit/>
          </a:bodyPr>
          <a:lstStyle/>
          <a:p>
            <a:pPr algn="ctr"/>
            <a:r>
              <a:rPr lang="fr-FR" sz="3200" dirty="0"/>
              <a:t>Pourquoi combiner </a:t>
            </a:r>
            <a:r>
              <a:rPr lang="fr-FR" sz="3200" dirty="0" err="1"/>
              <a:t>Spring</a:t>
            </a:r>
            <a:r>
              <a:rPr lang="fr-FR" sz="3200" dirty="0"/>
              <a:t> Boot et </a:t>
            </a:r>
            <a:r>
              <a:rPr lang="fr-FR" sz="3200" dirty="0" err="1"/>
              <a:t>Angular</a:t>
            </a:r>
            <a:r>
              <a:rPr lang="fr-FR" sz="3200" dirty="0"/>
              <a:t> ?</a:t>
            </a:r>
          </a:p>
        </p:txBody>
      </p:sp>
      <p:sp>
        <p:nvSpPr>
          <p:cNvPr id="3" name="Espace réservé du contenu 2"/>
          <p:cNvSpPr>
            <a:spLocks noGrp="1"/>
          </p:cNvSpPr>
          <p:nvPr>
            <p:ph idx="1"/>
          </p:nvPr>
        </p:nvSpPr>
        <p:spPr>
          <a:xfrm>
            <a:off x="1069848" y="1356189"/>
            <a:ext cx="10058400" cy="4816011"/>
          </a:xfrm>
        </p:spPr>
        <p:txBody>
          <a:bodyPr>
            <a:normAutofit/>
          </a:bodyPr>
          <a:lstStyle/>
          <a:p>
            <a:pPr algn="just">
              <a:lnSpc>
                <a:spcPct val="150000"/>
              </a:lnSpc>
            </a:pPr>
            <a:r>
              <a:rPr lang="fr-FR" sz="2400" dirty="0"/>
              <a:t>Ensemble, ils offrent une </a:t>
            </a:r>
            <a:r>
              <a:rPr lang="fr-FR" sz="2400" b="1" dirty="0"/>
              <a:t>architecture cohérente, moderne et performante</a:t>
            </a:r>
            <a:r>
              <a:rPr lang="fr-FR" sz="2400" dirty="0"/>
              <a:t> adaptée aux besoins des applications web professionnelles.</a:t>
            </a:r>
          </a:p>
        </p:txBody>
      </p:sp>
      <p:pic>
        <p:nvPicPr>
          <p:cNvPr id="4" name="Image 3"/>
          <p:cNvPicPr>
            <a:picLocks noChangeAspect="1"/>
          </p:cNvPicPr>
          <p:nvPr/>
        </p:nvPicPr>
        <p:blipFill>
          <a:blip r:embed="rId2"/>
          <a:stretch>
            <a:fillRect/>
          </a:stretch>
        </p:blipFill>
        <p:spPr>
          <a:xfrm>
            <a:off x="1222625" y="3370329"/>
            <a:ext cx="9905623" cy="323595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8427152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6"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down)">
                                      <p:cBhvr>
                                        <p:cTn id="11" dur="580">
                                          <p:stCondLst>
                                            <p:cond delay="0"/>
                                          </p:stCondLst>
                                        </p:cTn>
                                        <p:tgtEl>
                                          <p:spTgt spid="4"/>
                                        </p:tgtEl>
                                      </p:cBhvr>
                                    </p:animEffect>
                                    <p:anim calcmode="lin" valueType="num">
                                      <p:cBhvr>
                                        <p:cTn id="12"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13"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4"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5"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6"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7" dur="26">
                                          <p:stCondLst>
                                            <p:cond delay="650"/>
                                          </p:stCondLst>
                                        </p:cTn>
                                        <p:tgtEl>
                                          <p:spTgt spid="4"/>
                                        </p:tgtEl>
                                      </p:cBhvr>
                                      <p:to x="100000" y="60000"/>
                                    </p:animScale>
                                    <p:animScale>
                                      <p:cBhvr>
                                        <p:cTn id="18" dur="166" decel="50000">
                                          <p:stCondLst>
                                            <p:cond delay="676"/>
                                          </p:stCondLst>
                                        </p:cTn>
                                        <p:tgtEl>
                                          <p:spTgt spid="4"/>
                                        </p:tgtEl>
                                      </p:cBhvr>
                                      <p:to x="100000" y="100000"/>
                                    </p:animScale>
                                    <p:animScale>
                                      <p:cBhvr>
                                        <p:cTn id="19" dur="26">
                                          <p:stCondLst>
                                            <p:cond delay="1312"/>
                                          </p:stCondLst>
                                        </p:cTn>
                                        <p:tgtEl>
                                          <p:spTgt spid="4"/>
                                        </p:tgtEl>
                                      </p:cBhvr>
                                      <p:to x="100000" y="80000"/>
                                    </p:animScale>
                                    <p:animScale>
                                      <p:cBhvr>
                                        <p:cTn id="20" dur="166" decel="50000">
                                          <p:stCondLst>
                                            <p:cond delay="1338"/>
                                          </p:stCondLst>
                                        </p:cTn>
                                        <p:tgtEl>
                                          <p:spTgt spid="4"/>
                                        </p:tgtEl>
                                      </p:cBhvr>
                                      <p:to x="100000" y="100000"/>
                                    </p:animScale>
                                    <p:animScale>
                                      <p:cBhvr>
                                        <p:cTn id="21" dur="26">
                                          <p:stCondLst>
                                            <p:cond delay="1642"/>
                                          </p:stCondLst>
                                        </p:cTn>
                                        <p:tgtEl>
                                          <p:spTgt spid="4"/>
                                        </p:tgtEl>
                                      </p:cBhvr>
                                      <p:to x="100000" y="90000"/>
                                    </p:animScale>
                                    <p:animScale>
                                      <p:cBhvr>
                                        <p:cTn id="22" dur="166" decel="50000">
                                          <p:stCondLst>
                                            <p:cond delay="1668"/>
                                          </p:stCondLst>
                                        </p:cTn>
                                        <p:tgtEl>
                                          <p:spTgt spid="4"/>
                                        </p:tgtEl>
                                      </p:cBhvr>
                                      <p:to x="100000" y="100000"/>
                                    </p:animScale>
                                    <p:animScale>
                                      <p:cBhvr>
                                        <p:cTn id="23" dur="26">
                                          <p:stCondLst>
                                            <p:cond delay="1808"/>
                                          </p:stCondLst>
                                        </p:cTn>
                                        <p:tgtEl>
                                          <p:spTgt spid="4"/>
                                        </p:tgtEl>
                                      </p:cBhvr>
                                      <p:to x="100000" y="95000"/>
                                    </p:animScale>
                                    <p:animScale>
                                      <p:cBhvr>
                                        <p:cTn id="24" dur="166" decel="50000">
                                          <p:stCondLst>
                                            <p:cond delay="1834"/>
                                          </p:stCondLst>
                                        </p:cTn>
                                        <p:tgtEl>
                                          <p:spTgt spid="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186681"/>
            <a:ext cx="10058400" cy="779089"/>
          </a:xfrm>
        </p:spPr>
        <p:txBody>
          <a:bodyPr/>
          <a:lstStyle/>
          <a:p>
            <a:pPr algn="ctr"/>
            <a:r>
              <a:rPr lang="fr-FR" dirty="0"/>
              <a:t>Vue d’ensemble des couches</a:t>
            </a:r>
          </a:p>
        </p:txBody>
      </p:sp>
      <p:sp>
        <p:nvSpPr>
          <p:cNvPr id="3" name="Espace réservé du contenu 2"/>
          <p:cNvSpPr>
            <a:spLocks noGrp="1"/>
          </p:cNvSpPr>
          <p:nvPr>
            <p:ph idx="1"/>
          </p:nvPr>
        </p:nvSpPr>
        <p:spPr>
          <a:xfrm>
            <a:off x="1069848" y="1592494"/>
            <a:ext cx="10058400" cy="4579706"/>
          </a:xfrm>
        </p:spPr>
        <p:txBody>
          <a:bodyPr>
            <a:normAutofit/>
          </a:bodyPr>
          <a:lstStyle/>
          <a:p>
            <a:pPr algn="just">
              <a:lnSpc>
                <a:spcPct val="150000"/>
              </a:lnSpc>
            </a:pPr>
            <a:r>
              <a:rPr lang="fr-FR" sz="2400" dirty="0"/>
              <a:t>Client (</a:t>
            </a:r>
            <a:r>
              <a:rPr lang="fr-FR" sz="2400" b="1" dirty="0"/>
              <a:t>SPA </a:t>
            </a:r>
            <a:r>
              <a:rPr lang="fr-FR" sz="2400" b="1" dirty="0" err="1"/>
              <a:t>Angular</a:t>
            </a:r>
            <a:r>
              <a:rPr lang="fr-FR" sz="2400" dirty="0"/>
              <a:t>) — </a:t>
            </a:r>
            <a:r>
              <a:rPr lang="fr-FR" sz="2400" dirty="0" err="1"/>
              <a:t>routing</a:t>
            </a:r>
            <a:r>
              <a:rPr lang="fr-FR" sz="2400" dirty="0"/>
              <a:t>, composants, services, HTTP client</a:t>
            </a:r>
            <a:r>
              <a:rPr lang="fr-FR" sz="2400" dirty="0" smtClean="0"/>
              <a:t>.</a:t>
            </a:r>
          </a:p>
          <a:p>
            <a:pPr algn="just">
              <a:lnSpc>
                <a:spcPct val="150000"/>
              </a:lnSpc>
            </a:pPr>
            <a:r>
              <a:rPr lang="en-US" sz="2400" dirty="0"/>
              <a:t>API (</a:t>
            </a:r>
            <a:r>
              <a:rPr lang="en-US" sz="2400" b="1" dirty="0"/>
              <a:t>Spring Boot</a:t>
            </a:r>
            <a:r>
              <a:rPr lang="en-US" sz="2400" dirty="0"/>
              <a:t>) — controllers, services, repository, DTO</a:t>
            </a:r>
            <a:r>
              <a:rPr lang="en-US" sz="2400" dirty="0" smtClean="0"/>
              <a:t>.</a:t>
            </a:r>
          </a:p>
          <a:p>
            <a:pPr algn="just">
              <a:lnSpc>
                <a:spcPct val="150000"/>
              </a:lnSpc>
            </a:pPr>
            <a:r>
              <a:rPr lang="fr-FR" sz="2400" dirty="0"/>
              <a:t>Persistance — PostgreSQL (schéma simple</a:t>
            </a:r>
            <a:r>
              <a:rPr lang="fr-FR" sz="2400" dirty="0" smtClean="0"/>
              <a:t>).</a:t>
            </a:r>
          </a:p>
          <a:p>
            <a:pPr algn="just">
              <a:lnSpc>
                <a:spcPct val="150000"/>
              </a:lnSpc>
            </a:pPr>
            <a:r>
              <a:rPr lang="fr-FR" sz="2400" dirty="0"/>
              <a:t>Infra — Docker, reverse proxy (</a:t>
            </a:r>
            <a:r>
              <a:rPr lang="fr-FR" sz="2400" b="1" dirty="0"/>
              <a:t>NGINX</a:t>
            </a:r>
            <a:r>
              <a:rPr lang="fr-FR" sz="2400" dirty="0"/>
              <a:t>), CI/CD.</a:t>
            </a:r>
          </a:p>
        </p:txBody>
      </p:sp>
    </p:spTree>
    <p:extLst>
      <p:ext uri="{BB962C8B-B14F-4D97-AF65-F5344CB8AC3E}">
        <p14:creationId xmlns:p14="http://schemas.microsoft.com/office/powerpoint/2010/main" val="4211547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a:t>Architecture type</a:t>
            </a:r>
          </a:p>
        </p:txBody>
      </p:sp>
      <p:pic>
        <p:nvPicPr>
          <p:cNvPr id="5" name="Espace réservé du contenu 4"/>
          <p:cNvPicPr>
            <a:picLocks noGrp="1" noChangeAspect="1"/>
          </p:cNvPicPr>
          <p:nvPr>
            <p:ph idx="1"/>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1306153" y="2732926"/>
            <a:ext cx="9585789" cy="151463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597227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80">
                                          <p:stCondLst>
                                            <p:cond delay="0"/>
                                          </p:stCondLst>
                                        </p:cTn>
                                        <p:tgtEl>
                                          <p:spTgt spid="5"/>
                                        </p:tgtEl>
                                      </p:cBhvr>
                                    </p:animEffect>
                                    <p:anim calcmode="lin" valueType="num">
                                      <p:cBhvr>
                                        <p:cTn id="8" dur="1822"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5"/>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5"/>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5"/>
                                        </p:tgtEl>
                                        <p:attrNameLst>
                                          <p:attrName>ppt_y</p:attrName>
                                        </p:attrNameLst>
                                      </p:cBhvr>
                                      <p:tavLst>
                                        <p:tav tm="0" fmla="#ppt_y-sin(pi*$)/81">
                                          <p:val>
                                            <p:fltVal val="0"/>
                                          </p:val>
                                        </p:tav>
                                        <p:tav tm="100000">
                                          <p:val>
                                            <p:fltVal val="1"/>
                                          </p:val>
                                        </p:tav>
                                      </p:tavLst>
                                    </p:anim>
                                    <p:animScale>
                                      <p:cBhvr>
                                        <p:cTn id="13" dur="26">
                                          <p:stCondLst>
                                            <p:cond delay="650"/>
                                          </p:stCondLst>
                                        </p:cTn>
                                        <p:tgtEl>
                                          <p:spTgt spid="5"/>
                                        </p:tgtEl>
                                      </p:cBhvr>
                                      <p:to x="100000" y="60000"/>
                                    </p:animScale>
                                    <p:animScale>
                                      <p:cBhvr>
                                        <p:cTn id="14" dur="166" decel="50000">
                                          <p:stCondLst>
                                            <p:cond delay="676"/>
                                          </p:stCondLst>
                                        </p:cTn>
                                        <p:tgtEl>
                                          <p:spTgt spid="5"/>
                                        </p:tgtEl>
                                      </p:cBhvr>
                                      <p:to x="100000" y="100000"/>
                                    </p:animScale>
                                    <p:animScale>
                                      <p:cBhvr>
                                        <p:cTn id="15" dur="26">
                                          <p:stCondLst>
                                            <p:cond delay="1312"/>
                                          </p:stCondLst>
                                        </p:cTn>
                                        <p:tgtEl>
                                          <p:spTgt spid="5"/>
                                        </p:tgtEl>
                                      </p:cBhvr>
                                      <p:to x="100000" y="80000"/>
                                    </p:animScale>
                                    <p:animScale>
                                      <p:cBhvr>
                                        <p:cTn id="16" dur="166" decel="50000">
                                          <p:stCondLst>
                                            <p:cond delay="1338"/>
                                          </p:stCondLst>
                                        </p:cTn>
                                        <p:tgtEl>
                                          <p:spTgt spid="5"/>
                                        </p:tgtEl>
                                      </p:cBhvr>
                                      <p:to x="100000" y="100000"/>
                                    </p:animScale>
                                    <p:animScale>
                                      <p:cBhvr>
                                        <p:cTn id="17" dur="26">
                                          <p:stCondLst>
                                            <p:cond delay="1642"/>
                                          </p:stCondLst>
                                        </p:cTn>
                                        <p:tgtEl>
                                          <p:spTgt spid="5"/>
                                        </p:tgtEl>
                                      </p:cBhvr>
                                      <p:to x="100000" y="90000"/>
                                    </p:animScale>
                                    <p:animScale>
                                      <p:cBhvr>
                                        <p:cTn id="18" dur="166" decel="50000">
                                          <p:stCondLst>
                                            <p:cond delay="1668"/>
                                          </p:stCondLst>
                                        </p:cTn>
                                        <p:tgtEl>
                                          <p:spTgt spid="5"/>
                                        </p:tgtEl>
                                      </p:cBhvr>
                                      <p:to x="100000" y="100000"/>
                                    </p:animScale>
                                    <p:animScale>
                                      <p:cBhvr>
                                        <p:cTn id="19" dur="26">
                                          <p:stCondLst>
                                            <p:cond delay="1808"/>
                                          </p:stCondLst>
                                        </p:cTn>
                                        <p:tgtEl>
                                          <p:spTgt spid="5"/>
                                        </p:tgtEl>
                                      </p:cBhvr>
                                      <p:to x="100000" y="95000"/>
                                    </p:animScale>
                                    <p:animScale>
                                      <p:cBhvr>
                                        <p:cTn id="20" dur="166" decel="50000">
                                          <p:stCondLst>
                                            <p:cond delay="1834"/>
                                          </p:stCondLst>
                                        </p:cTn>
                                        <p:tgtEl>
                                          <p:spTgt spid="5"/>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217503"/>
            <a:ext cx="10058400" cy="789364"/>
          </a:xfrm>
        </p:spPr>
        <p:txBody>
          <a:bodyPr>
            <a:normAutofit/>
          </a:bodyPr>
          <a:lstStyle/>
          <a:p>
            <a:pPr algn="ctr"/>
            <a:r>
              <a:rPr lang="fr-FR" sz="4000" dirty="0" smtClean="0"/>
              <a:t>Avantages de telles architectures</a:t>
            </a:r>
            <a:endParaRPr lang="fr-FR" sz="4000" dirty="0"/>
          </a:p>
        </p:txBody>
      </p:sp>
      <p:sp>
        <p:nvSpPr>
          <p:cNvPr id="3" name="Espace réservé du contenu 2"/>
          <p:cNvSpPr>
            <a:spLocks noGrp="1"/>
          </p:cNvSpPr>
          <p:nvPr>
            <p:ph idx="1"/>
          </p:nvPr>
        </p:nvSpPr>
        <p:spPr>
          <a:xfrm>
            <a:off x="1069848" y="1510301"/>
            <a:ext cx="10058400" cy="4661899"/>
          </a:xfrm>
        </p:spPr>
        <p:txBody>
          <a:bodyPr>
            <a:normAutofit/>
          </a:bodyPr>
          <a:lstStyle/>
          <a:p>
            <a:pPr algn="just">
              <a:lnSpc>
                <a:spcPct val="150000"/>
              </a:lnSpc>
            </a:pPr>
            <a:r>
              <a:rPr lang="fr-FR" sz="2800" dirty="0"/>
              <a:t>Cette organisation permet </a:t>
            </a:r>
            <a:r>
              <a:rPr lang="fr-FR" sz="2800" dirty="0" smtClean="0"/>
              <a:t>:</a:t>
            </a:r>
          </a:p>
          <a:p>
            <a:pPr lvl="1" algn="just">
              <a:lnSpc>
                <a:spcPct val="150000"/>
              </a:lnSpc>
            </a:pPr>
            <a:r>
              <a:rPr lang="fr-FR" sz="2400" dirty="0"/>
              <a:t>Une </a:t>
            </a:r>
            <a:r>
              <a:rPr lang="fr-FR" sz="2400" b="1" dirty="0"/>
              <a:t>indépendance des couches</a:t>
            </a:r>
            <a:r>
              <a:rPr lang="fr-FR" sz="2400" dirty="0"/>
              <a:t> (on peut déployer le </a:t>
            </a:r>
            <a:r>
              <a:rPr lang="fr-FR" sz="2400" dirty="0" err="1"/>
              <a:t>frontend</a:t>
            </a:r>
            <a:r>
              <a:rPr lang="fr-FR" sz="2400" dirty="0"/>
              <a:t> et le </a:t>
            </a:r>
            <a:r>
              <a:rPr lang="fr-FR" sz="2400" dirty="0" err="1"/>
              <a:t>backend</a:t>
            </a:r>
            <a:r>
              <a:rPr lang="fr-FR" sz="2400" dirty="0"/>
              <a:t> séparément</a:t>
            </a:r>
            <a:r>
              <a:rPr lang="fr-FR" sz="2400" dirty="0" smtClean="0"/>
              <a:t>),</a:t>
            </a:r>
          </a:p>
          <a:p>
            <a:pPr lvl="1" algn="just">
              <a:lnSpc>
                <a:spcPct val="150000"/>
              </a:lnSpc>
            </a:pPr>
            <a:r>
              <a:rPr lang="fr-FR" sz="2400" dirty="0"/>
              <a:t>Une </a:t>
            </a:r>
            <a:r>
              <a:rPr lang="fr-FR" sz="2400" b="1" dirty="0"/>
              <a:t>meilleure réutilisation</a:t>
            </a:r>
            <a:r>
              <a:rPr lang="fr-FR" sz="2400" dirty="0"/>
              <a:t> (le </a:t>
            </a:r>
            <a:r>
              <a:rPr lang="fr-FR" sz="2400" dirty="0" err="1"/>
              <a:t>backend</a:t>
            </a:r>
            <a:r>
              <a:rPr lang="fr-FR" sz="2400" dirty="0"/>
              <a:t> peut servir d’API pour d’autres clients : mobile, </a:t>
            </a:r>
            <a:r>
              <a:rPr lang="fr-FR" sz="2400" dirty="0" err="1"/>
              <a:t>IoT</a:t>
            </a:r>
            <a:r>
              <a:rPr lang="fr-FR" sz="2400" dirty="0" smtClean="0"/>
              <a:t>…),</a:t>
            </a:r>
          </a:p>
          <a:p>
            <a:pPr lvl="1" algn="just">
              <a:lnSpc>
                <a:spcPct val="150000"/>
              </a:lnSpc>
            </a:pPr>
            <a:r>
              <a:rPr lang="fr-FR" sz="2400" dirty="0"/>
              <a:t>Une </a:t>
            </a:r>
            <a:r>
              <a:rPr lang="fr-FR" sz="2400" b="1" dirty="0" err="1"/>
              <a:t>scalabilité</a:t>
            </a:r>
            <a:r>
              <a:rPr lang="fr-FR" sz="2400" dirty="0"/>
              <a:t> plus simple (on peut faire évoluer chaque couche séparément).</a:t>
            </a:r>
          </a:p>
        </p:txBody>
      </p:sp>
    </p:spTree>
    <p:extLst>
      <p:ext uri="{BB962C8B-B14F-4D97-AF65-F5344CB8AC3E}">
        <p14:creationId xmlns:p14="http://schemas.microsoft.com/office/powerpoint/2010/main" val="3401939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484632"/>
            <a:ext cx="10058400" cy="707170"/>
          </a:xfrm>
        </p:spPr>
        <p:txBody>
          <a:bodyPr>
            <a:normAutofit fontScale="90000"/>
          </a:bodyPr>
          <a:lstStyle/>
          <a:p>
            <a:pPr algn="ctr"/>
            <a:r>
              <a:rPr lang="fr-FR" dirty="0" smtClean="0"/>
              <a:t>Exemple de l’architecture </a:t>
            </a:r>
            <a:br>
              <a:rPr lang="fr-FR" dirty="0" smtClean="0"/>
            </a:br>
            <a:r>
              <a:rPr lang="fr-FR" dirty="0" smtClean="0"/>
              <a:t>Full </a:t>
            </a:r>
            <a:r>
              <a:rPr lang="fr-FR" dirty="0" err="1" smtClean="0"/>
              <a:t>stack</a:t>
            </a:r>
            <a:r>
              <a:rPr lang="fr-FR" dirty="0" smtClean="0"/>
              <a:t> sur un PMS</a:t>
            </a:r>
            <a:endParaRPr lang="fr-FR" dirty="0"/>
          </a:p>
        </p:txBody>
      </p:sp>
      <p:pic>
        <p:nvPicPr>
          <p:cNvPr id="4" name="Espace réservé du contenu 3"/>
          <p:cNvPicPr>
            <a:picLocks noGrp="1" noChangeAspect="1"/>
          </p:cNvPicPr>
          <p:nvPr>
            <p:ph idx="1"/>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1747942" y="1571945"/>
            <a:ext cx="8702211" cy="460282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33126664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ctrTitle"/>
          </p:nvPr>
        </p:nvSpPr>
        <p:spPr/>
        <p:txBody>
          <a:bodyPr/>
          <a:lstStyle/>
          <a:p>
            <a:pPr algn="ctr"/>
            <a:r>
              <a:rPr lang="fr-FR" sz="2800" dirty="0"/>
              <a:t>Vue d'ensemble d'</a:t>
            </a:r>
            <a:r>
              <a:rPr lang="fr-FR" sz="2800" dirty="0" err="1"/>
              <a:t>Angular</a:t>
            </a:r>
            <a:r>
              <a:rPr lang="fr-FR" sz="2800" dirty="0"/>
              <a:t> et de ses fonctionnalités</a:t>
            </a:r>
            <a:br>
              <a:rPr lang="fr-FR" sz="2800" dirty="0"/>
            </a:br>
            <a:endParaRPr lang="fr-FR" sz="2800" dirty="0"/>
          </a:p>
        </p:txBody>
      </p:sp>
      <p:pic>
        <p:nvPicPr>
          <p:cNvPr id="6" name="Image 5"/>
          <p:cNvPicPr>
            <a:picLocks noChangeAspect="1"/>
          </p:cNvPicPr>
          <p:nvPr/>
        </p:nvPicPr>
        <p:blipFill>
          <a:blip r:embed="rId2"/>
          <a:stretch>
            <a:fillRect/>
          </a:stretch>
        </p:blipFill>
        <p:spPr>
          <a:xfrm>
            <a:off x="882869" y="3137338"/>
            <a:ext cx="8718330" cy="3401791"/>
          </a:xfrm>
          <a:prstGeom prst="rect">
            <a:avLst/>
          </a:prstGeom>
        </p:spPr>
      </p:pic>
    </p:spTree>
    <p:extLst>
      <p:ext uri="{BB962C8B-B14F-4D97-AF65-F5344CB8AC3E}">
        <p14:creationId xmlns:p14="http://schemas.microsoft.com/office/powerpoint/2010/main" val="292817437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Introduction</a:t>
            </a:r>
            <a:endParaRPr lang="fr-FR" dirty="0"/>
          </a:p>
        </p:txBody>
      </p:sp>
      <p:pic>
        <p:nvPicPr>
          <p:cNvPr id="5" name="Image 4"/>
          <p:cNvPicPr>
            <a:picLocks noChangeAspect="1"/>
          </p:cNvPicPr>
          <p:nvPr/>
        </p:nvPicPr>
        <p:blipFill>
          <a:blip r:embed="rId2"/>
          <a:stretch>
            <a:fillRect/>
          </a:stretch>
        </p:blipFill>
        <p:spPr>
          <a:xfrm>
            <a:off x="2252262" y="2093976"/>
            <a:ext cx="7693572" cy="3724603"/>
          </a:xfrm>
          <a:prstGeom prst="rect">
            <a:avLst/>
          </a:prstGeom>
        </p:spPr>
      </p:pic>
    </p:spTree>
    <p:extLst>
      <p:ext uri="{BB962C8B-B14F-4D97-AF65-F5344CB8AC3E}">
        <p14:creationId xmlns:p14="http://schemas.microsoft.com/office/powerpoint/2010/main" val="54443566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0"/>
            <a:ext cx="10058400" cy="1087821"/>
          </a:xfrm>
        </p:spPr>
        <p:txBody>
          <a:bodyPr/>
          <a:lstStyle/>
          <a:p>
            <a:pPr lvl="0" algn="ctr"/>
            <a:r>
              <a:rPr lang="fr-FR" dirty="0">
                <a:latin typeface="Agency FB" panose="020B0503020202020204" pitchFamily="34" charset="0"/>
              </a:rPr>
              <a:t>Qu'est-ce qu'</a:t>
            </a:r>
            <a:r>
              <a:rPr lang="fr-FR" dirty="0" err="1">
                <a:latin typeface="Agency FB" panose="020B0503020202020204" pitchFamily="34" charset="0"/>
              </a:rPr>
              <a:t>Angular</a:t>
            </a:r>
            <a:r>
              <a:rPr lang="fr-FR" dirty="0">
                <a:latin typeface="Agency FB" panose="020B0503020202020204" pitchFamily="34" charset="0"/>
              </a:rPr>
              <a:t> </a:t>
            </a:r>
            <a:r>
              <a:rPr lang="fr-FR" dirty="0" smtClean="0">
                <a:latin typeface="Agency FB" panose="020B0503020202020204" pitchFamily="34" charset="0"/>
              </a:rPr>
              <a:t>?</a:t>
            </a:r>
            <a:endParaRPr lang="fr-FR" dirty="0"/>
          </a:p>
        </p:txBody>
      </p:sp>
      <p:sp>
        <p:nvSpPr>
          <p:cNvPr id="3" name="Espace réservé du contenu 2"/>
          <p:cNvSpPr>
            <a:spLocks noGrp="1"/>
          </p:cNvSpPr>
          <p:nvPr>
            <p:ph idx="1"/>
          </p:nvPr>
        </p:nvSpPr>
        <p:spPr>
          <a:xfrm>
            <a:off x="943724" y="954760"/>
            <a:ext cx="10058400" cy="4050792"/>
          </a:xfrm>
        </p:spPr>
        <p:txBody>
          <a:bodyPr>
            <a:noAutofit/>
          </a:bodyPr>
          <a:lstStyle/>
          <a:p>
            <a:pPr algn="just">
              <a:lnSpc>
                <a:spcPct val="150000"/>
              </a:lnSpc>
            </a:pPr>
            <a:r>
              <a:rPr lang="fr-FR" sz="2800" dirty="0" err="1"/>
              <a:t>Angular</a:t>
            </a:r>
            <a:r>
              <a:rPr lang="fr-FR" sz="2800" dirty="0"/>
              <a:t> est un </a:t>
            </a:r>
            <a:r>
              <a:rPr lang="fr-FR" sz="2800" b="1" dirty="0" err="1"/>
              <a:t>framework</a:t>
            </a:r>
            <a:r>
              <a:rPr lang="fr-FR" sz="2800" b="1" dirty="0"/>
              <a:t> open-source</a:t>
            </a:r>
            <a:r>
              <a:rPr lang="fr-FR" sz="2800" dirty="0"/>
              <a:t> développé par Google, utilisé pour créer des applications web dynamiques à une seule page (SPA, Single Page Applications). Il est basé sur </a:t>
            </a:r>
            <a:r>
              <a:rPr lang="fr-FR" sz="2800" b="1" dirty="0" err="1"/>
              <a:t>TypeScript</a:t>
            </a:r>
            <a:r>
              <a:rPr lang="fr-FR" sz="2800" dirty="0"/>
              <a:t>, un langage qui ajoute des fonctionnalités typées à JavaScript. </a:t>
            </a:r>
            <a:r>
              <a:rPr lang="fr-FR" sz="2800" dirty="0" err="1"/>
              <a:t>Angular</a:t>
            </a:r>
            <a:r>
              <a:rPr lang="fr-FR" sz="2800" dirty="0"/>
              <a:t> permet de structurer le développement des applications grâce à l'utilisation de </a:t>
            </a:r>
            <a:r>
              <a:rPr lang="fr-FR" sz="2800" b="1" dirty="0"/>
              <a:t>composants</a:t>
            </a:r>
            <a:r>
              <a:rPr lang="fr-FR" sz="2800" dirty="0"/>
              <a:t>, de </a:t>
            </a:r>
            <a:r>
              <a:rPr lang="fr-FR" sz="2800" b="1" dirty="0"/>
              <a:t>services</a:t>
            </a:r>
            <a:r>
              <a:rPr lang="fr-FR" sz="2800" dirty="0"/>
              <a:t>, et de </a:t>
            </a:r>
            <a:r>
              <a:rPr lang="fr-FR" sz="2800" b="1" dirty="0"/>
              <a:t>modules</a:t>
            </a:r>
            <a:r>
              <a:rPr lang="fr-FR" sz="2800" dirty="0"/>
              <a:t>, facilitant ainsi la gestion du code, la réutilisation et l'évolutivité.</a:t>
            </a:r>
          </a:p>
        </p:txBody>
      </p:sp>
    </p:spTree>
    <p:extLst>
      <p:ext uri="{BB962C8B-B14F-4D97-AF65-F5344CB8AC3E}">
        <p14:creationId xmlns:p14="http://schemas.microsoft.com/office/powerpoint/2010/main" val="200456230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7" y="248149"/>
            <a:ext cx="10058400" cy="839671"/>
          </a:xfrm>
        </p:spPr>
        <p:txBody>
          <a:bodyPr>
            <a:normAutofit/>
          </a:bodyPr>
          <a:lstStyle/>
          <a:p>
            <a:pPr algn="ctr"/>
            <a:r>
              <a:rPr lang="fr-FR" sz="4000" b="1" dirty="0">
                <a:latin typeface="Agency FB" panose="020B0503020202020204" pitchFamily="34" charset="0"/>
              </a:rPr>
              <a:t>Quelques caractéristiques principales d'</a:t>
            </a:r>
            <a:r>
              <a:rPr lang="fr-FR" sz="4000" b="1" dirty="0" err="1">
                <a:latin typeface="Agency FB" panose="020B0503020202020204" pitchFamily="34" charset="0"/>
              </a:rPr>
              <a:t>Angular</a:t>
            </a:r>
            <a:endParaRPr lang="fr-FR" sz="4000" b="1" dirty="0">
              <a:latin typeface="Agency FB" panose="020B0503020202020204" pitchFamily="34" charset="0"/>
            </a:endParaRPr>
          </a:p>
        </p:txBody>
      </p:sp>
      <p:sp>
        <p:nvSpPr>
          <p:cNvPr id="4" name="Rectangle 1"/>
          <p:cNvSpPr>
            <a:spLocks noGrp="1" noChangeArrowheads="1"/>
          </p:cNvSpPr>
          <p:nvPr>
            <p:ph idx="1"/>
          </p:nvPr>
        </p:nvSpPr>
        <p:spPr bwMode="auto">
          <a:xfrm>
            <a:off x="250843" y="1364662"/>
            <a:ext cx="11696407"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spAutoFit/>
          </a:bodyPr>
          <a:lstStyle/>
          <a:p>
            <a:pPr marL="0" marR="0" lvl="0" indent="0" algn="just" defTabSz="914400" rtl="0" eaLnBrk="0" fontAlgn="base" latinLnBrk="0" hangingPunct="0">
              <a:lnSpc>
                <a:spcPct val="300000"/>
              </a:lnSpc>
              <a:spcBef>
                <a:spcPct val="0"/>
              </a:spcBef>
              <a:spcAft>
                <a:spcPct val="0"/>
              </a:spcAft>
              <a:buClrTx/>
              <a:buSzTx/>
              <a:buFontTx/>
              <a:buChar char="•"/>
              <a:tabLst/>
            </a:pPr>
            <a:r>
              <a:rPr kumimoji="0" lang="fr-FR" altLang="fr-FR" b="1" i="0" u="none" strike="noStrike" cap="none" normalizeH="0" baseline="0" dirty="0" err="1" smtClean="0">
                <a:ln>
                  <a:noFill/>
                </a:ln>
                <a:solidFill>
                  <a:schemeClr val="tx1"/>
                </a:solidFill>
                <a:effectLst/>
                <a:latin typeface="Arial" panose="020B0604020202020204" pitchFamily="34" charset="0"/>
              </a:rPr>
              <a:t>Two-way</a:t>
            </a:r>
            <a:r>
              <a:rPr kumimoji="0" lang="fr-FR" altLang="fr-FR" b="1" i="0" u="none" strike="noStrike" cap="none" normalizeH="0" baseline="0" dirty="0" smtClean="0">
                <a:ln>
                  <a:noFill/>
                </a:ln>
                <a:solidFill>
                  <a:schemeClr val="tx1"/>
                </a:solidFill>
                <a:effectLst/>
                <a:latin typeface="Arial" panose="020B0604020202020204" pitchFamily="34" charset="0"/>
              </a:rPr>
              <a:t> data binding</a:t>
            </a:r>
            <a:r>
              <a:rPr kumimoji="0" lang="fr-FR" altLang="fr-FR" b="0" i="0" u="none" strike="noStrike" cap="none" normalizeH="0" baseline="0" dirty="0" smtClean="0">
                <a:ln>
                  <a:noFill/>
                </a:ln>
                <a:solidFill>
                  <a:schemeClr val="tx1"/>
                </a:solidFill>
                <a:effectLst/>
                <a:latin typeface="Arial" panose="020B0604020202020204" pitchFamily="34" charset="0"/>
              </a:rPr>
              <a:t> : synchronisation automatique entre l'interface utilisateur et les données.</a:t>
            </a:r>
          </a:p>
          <a:p>
            <a:pPr marL="0" marR="0" lvl="0" indent="0" algn="just" defTabSz="914400" rtl="0" eaLnBrk="0" fontAlgn="base" latinLnBrk="0" hangingPunct="0">
              <a:lnSpc>
                <a:spcPct val="300000"/>
              </a:lnSpc>
              <a:spcBef>
                <a:spcPct val="0"/>
              </a:spcBef>
              <a:spcAft>
                <a:spcPct val="0"/>
              </a:spcAft>
              <a:buClrTx/>
              <a:buSzTx/>
              <a:buFontTx/>
              <a:buChar char="•"/>
              <a:tabLst/>
            </a:pPr>
            <a:r>
              <a:rPr kumimoji="0" lang="fr-FR" altLang="fr-FR" b="1" i="0" u="none" strike="noStrike" cap="none" normalizeH="0" baseline="0" dirty="0" smtClean="0">
                <a:ln>
                  <a:noFill/>
                </a:ln>
                <a:solidFill>
                  <a:schemeClr val="tx1"/>
                </a:solidFill>
                <a:effectLst/>
                <a:latin typeface="Arial" panose="020B0604020202020204" pitchFamily="34" charset="0"/>
              </a:rPr>
              <a:t>Injection de dépendances</a:t>
            </a:r>
            <a:r>
              <a:rPr kumimoji="0" lang="fr-FR" altLang="fr-FR" b="0" i="0" u="none" strike="noStrike" cap="none" normalizeH="0" baseline="0" dirty="0" smtClean="0">
                <a:ln>
                  <a:noFill/>
                </a:ln>
                <a:solidFill>
                  <a:schemeClr val="tx1"/>
                </a:solidFill>
                <a:effectLst/>
                <a:latin typeface="Arial" panose="020B0604020202020204" pitchFamily="34" charset="0"/>
              </a:rPr>
              <a:t> : simplifie la gestion des services partagés.</a:t>
            </a:r>
          </a:p>
          <a:p>
            <a:pPr marL="0" marR="0" lvl="0" indent="0" algn="just" defTabSz="914400" rtl="0" eaLnBrk="0" fontAlgn="base" latinLnBrk="0" hangingPunct="0">
              <a:lnSpc>
                <a:spcPct val="300000"/>
              </a:lnSpc>
              <a:spcBef>
                <a:spcPct val="0"/>
              </a:spcBef>
              <a:spcAft>
                <a:spcPct val="0"/>
              </a:spcAft>
              <a:buClrTx/>
              <a:buSzTx/>
              <a:buFontTx/>
              <a:buChar char="•"/>
              <a:tabLst/>
            </a:pPr>
            <a:r>
              <a:rPr kumimoji="0" lang="fr-FR" altLang="fr-FR" b="1" i="0" u="none" strike="noStrike" cap="none" normalizeH="0" baseline="0" dirty="0" smtClean="0">
                <a:ln>
                  <a:noFill/>
                </a:ln>
                <a:solidFill>
                  <a:schemeClr val="tx1"/>
                </a:solidFill>
                <a:effectLst/>
                <a:latin typeface="Arial" panose="020B0604020202020204" pitchFamily="34" charset="0"/>
              </a:rPr>
              <a:t>Routage</a:t>
            </a:r>
            <a:r>
              <a:rPr kumimoji="0" lang="fr-FR" altLang="fr-FR" b="0" i="0" u="none" strike="noStrike" cap="none" normalizeH="0" baseline="0" dirty="0" smtClean="0">
                <a:ln>
                  <a:noFill/>
                </a:ln>
                <a:solidFill>
                  <a:schemeClr val="tx1"/>
                </a:solidFill>
                <a:effectLst/>
                <a:latin typeface="Arial" panose="020B0604020202020204" pitchFamily="34" charset="0"/>
              </a:rPr>
              <a:t> : permet de gérer facilement la navigation entre les différentes vues d'une application.</a:t>
            </a:r>
          </a:p>
          <a:p>
            <a:pPr marL="0" marR="0" lvl="0" indent="0" algn="just" defTabSz="914400" rtl="0" eaLnBrk="0" fontAlgn="base" latinLnBrk="0" hangingPunct="0">
              <a:lnSpc>
                <a:spcPct val="300000"/>
              </a:lnSpc>
              <a:spcBef>
                <a:spcPct val="0"/>
              </a:spcBef>
              <a:spcAft>
                <a:spcPct val="0"/>
              </a:spcAft>
              <a:buClrTx/>
              <a:buSzTx/>
              <a:buFontTx/>
              <a:buChar char="•"/>
              <a:tabLst/>
            </a:pPr>
            <a:r>
              <a:rPr kumimoji="0" lang="fr-FR" altLang="fr-FR" b="1" i="0" u="none" strike="noStrike" cap="none" normalizeH="0" baseline="0" dirty="0" err="1" smtClean="0">
                <a:ln>
                  <a:noFill/>
                </a:ln>
                <a:solidFill>
                  <a:schemeClr val="tx1"/>
                </a:solidFill>
                <a:effectLst/>
                <a:latin typeface="Arial" panose="020B0604020202020204" pitchFamily="34" charset="0"/>
              </a:rPr>
              <a:t>Templates</a:t>
            </a:r>
            <a:r>
              <a:rPr kumimoji="0" lang="fr-FR" altLang="fr-FR" b="0" i="0" u="none" strike="noStrike" cap="none" normalizeH="0" baseline="0" dirty="0" smtClean="0">
                <a:ln>
                  <a:noFill/>
                </a:ln>
                <a:solidFill>
                  <a:schemeClr val="tx1"/>
                </a:solidFill>
                <a:effectLst/>
                <a:latin typeface="Arial" panose="020B0604020202020204" pitchFamily="34" charset="0"/>
              </a:rPr>
              <a:t> : utilise du HTML enrichi par des directives </a:t>
            </a:r>
            <a:r>
              <a:rPr kumimoji="0" lang="fr-FR" altLang="fr-FR" b="0" i="0" u="none" strike="noStrike" cap="none" normalizeH="0" baseline="0" dirty="0" err="1" smtClean="0">
                <a:ln>
                  <a:noFill/>
                </a:ln>
                <a:solidFill>
                  <a:schemeClr val="tx1"/>
                </a:solidFill>
                <a:effectLst/>
                <a:latin typeface="Arial" panose="020B0604020202020204" pitchFamily="34" charset="0"/>
              </a:rPr>
              <a:t>Angular</a:t>
            </a:r>
            <a:r>
              <a:rPr kumimoji="0" lang="fr-FR" altLang="fr-FR" b="0" i="0" u="none" strike="noStrike" cap="none" normalizeH="0" baseline="0" dirty="0" smtClean="0">
                <a:ln>
                  <a:noFill/>
                </a:ln>
                <a:solidFill>
                  <a:schemeClr val="tx1"/>
                </a:solidFill>
                <a:effectLst/>
                <a:latin typeface="Arial" panose="020B0604020202020204" pitchFamily="34" charset="0"/>
              </a:rPr>
              <a:t> pour créer des interfaces interactives.</a:t>
            </a:r>
          </a:p>
          <a:p>
            <a:pPr marL="0" marR="0" lvl="0" indent="0" algn="just" defTabSz="914400" rtl="0" eaLnBrk="0" fontAlgn="base" latinLnBrk="0" hangingPunct="0">
              <a:lnSpc>
                <a:spcPct val="300000"/>
              </a:lnSpc>
              <a:spcBef>
                <a:spcPct val="0"/>
              </a:spcBef>
              <a:spcAft>
                <a:spcPct val="0"/>
              </a:spcAft>
              <a:buClrTx/>
              <a:buSzTx/>
              <a:buFontTx/>
              <a:buChar char="•"/>
              <a:tabLst/>
            </a:pPr>
            <a:r>
              <a:rPr kumimoji="0" lang="fr-FR" altLang="fr-FR" b="1" i="0" u="none" strike="noStrike" cap="none" normalizeH="0" baseline="0" dirty="0" smtClean="0">
                <a:ln>
                  <a:noFill/>
                </a:ln>
                <a:solidFill>
                  <a:schemeClr val="tx1"/>
                </a:solidFill>
                <a:effectLst/>
                <a:latin typeface="Arial" panose="020B0604020202020204" pitchFamily="34" charset="0"/>
              </a:rPr>
              <a:t>Modularité</a:t>
            </a:r>
            <a:r>
              <a:rPr kumimoji="0" lang="fr-FR" altLang="fr-FR" b="0" i="0" u="none" strike="noStrike" cap="none" normalizeH="0" baseline="0" dirty="0" smtClean="0">
                <a:ln>
                  <a:noFill/>
                </a:ln>
                <a:solidFill>
                  <a:schemeClr val="tx1"/>
                </a:solidFill>
                <a:effectLst/>
                <a:latin typeface="Arial" panose="020B0604020202020204" pitchFamily="34" charset="0"/>
              </a:rPr>
              <a:t> : le code est organisé en modules pour être plus maintenable et </a:t>
            </a:r>
            <a:r>
              <a:rPr kumimoji="0" lang="fr-FR" altLang="fr-FR" b="0" i="0" u="none" strike="noStrike" cap="none" normalizeH="0" baseline="0" dirty="0" err="1" smtClean="0">
                <a:ln>
                  <a:noFill/>
                </a:ln>
                <a:solidFill>
                  <a:schemeClr val="tx1"/>
                </a:solidFill>
                <a:effectLst/>
                <a:latin typeface="Arial" panose="020B0604020202020204" pitchFamily="34" charset="0"/>
              </a:rPr>
              <a:t>scalable</a:t>
            </a:r>
            <a:r>
              <a:rPr kumimoji="0" lang="fr-FR" altLang="fr-FR" b="0" i="0" u="none" strike="noStrike" cap="none" normalizeH="0" baseline="0" dirty="0" smtClean="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2898793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down)">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down)">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wipe(down)">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wipe(down)">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wipe(down)">
                                      <p:cBhvr>
                                        <p:cTn id="27"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p:cNvPicPr>
            <a:picLocks noGrp="1" noChangeAspect="1"/>
          </p:cNvPicPr>
          <p:nvPr>
            <p:ph idx="1"/>
          </p:nvPr>
        </p:nvPicPr>
        <p:blipFill>
          <a:blip r:embed="rId2"/>
          <a:stretch>
            <a:fillRect/>
          </a:stretch>
        </p:blipFill>
        <p:spPr>
          <a:xfrm>
            <a:off x="993228" y="1143438"/>
            <a:ext cx="10231820" cy="4547914"/>
          </a:xfrm>
          <a:prstGeom prst="rect">
            <a:avLst/>
          </a:prstGeom>
        </p:spPr>
      </p:pic>
    </p:spTree>
    <p:extLst>
      <p:ext uri="{BB962C8B-B14F-4D97-AF65-F5344CB8AC3E}">
        <p14:creationId xmlns:p14="http://schemas.microsoft.com/office/powerpoint/2010/main" val="90744184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7" y="102160"/>
            <a:ext cx="10058400" cy="1609344"/>
          </a:xfrm>
        </p:spPr>
        <p:txBody>
          <a:bodyPr>
            <a:noAutofit/>
          </a:bodyPr>
          <a:lstStyle/>
          <a:p>
            <a:pPr lvl="0" algn="ctr"/>
            <a:r>
              <a:rPr lang="fr-FR" sz="3200" b="1" dirty="0">
                <a:latin typeface="+mn-lt"/>
              </a:rPr>
              <a:t>Différences avec d'autres </a:t>
            </a:r>
            <a:r>
              <a:rPr lang="fr-FR" sz="3200" b="1" dirty="0" smtClean="0">
                <a:latin typeface="+mn-lt"/>
              </a:rPr>
              <a:t>Framework </a:t>
            </a:r>
            <a:r>
              <a:rPr lang="fr-FR" sz="3200" b="1" dirty="0">
                <a:latin typeface="+mn-lt"/>
              </a:rPr>
              <a:t>front-end (</a:t>
            </a:r>
            <a:r>
              <a:rPr lang="fr-FR" sz="3200" b="1" dirty="0" err="1">
                <a:latin typeface="+mn-lt"/>
              </a:rPr>
              <a:t>React</a:t>
            </a:r>
            <a:r>
              <a:rPr lang="fr-FR" sz="3200" b="1" dirty="0">
                <a:latin typeface="+mn-lt"/>
              </a:rPr>
              <a:t>, Vue).</a:t>
            </a:r>
            <a:br>
              <a:rPr lang="fr-FR" sz="3200" b="1" dirty="0">
                <a:latin typeface="+mn-lt"/>
              </a:rPr>
            </a:br>
            <a:endParaRPr lang="fr-FR" sz="3200" b="1" dirty="0">
              <a:latin typeface="+mn-lt"/>
            </a:endParaRPr>
          </a:p>
        </p:txBody>
      </p:sp>
      <p:sp>
        <p:nvSpPr>
          <p:cNvPr id="4" name="Rectangle 1"/>
          <p:cNvSpPr>
            <a:spLocks noGrp="1" noChangeArrowheads="1"/>
          </p:cNvSpPr>
          <p:nvPr>
            <p:ph idx="1"/>
          </p:nvPr>
        </p:nvSpPr>
        <p:spPr bwMode="auto">
          <a:xfrm>
            <a:off x="399812" y="943648"/>
            <a:ext cx="11398469"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0" marR="0" lvl="0" indent="0" algn="just" defTabSz="914400" rtl="0" eaLnBrk="0" fontAlgn="base" latinLnBrk="0" hangingPunct="0">
              <a:lnSpc>
                <a:spcPct val="250000"/>
              </a:lnSpc>
              <a:spcBef>
                <a:spcPct val="0"/>
              </a:spcBef>
              <a:spcAft>
                <a:spcPct val="0"/>
              </a:spcAft>
              <a:buClrTx/>
              <a:buSzTx/>
              <a:buFontTx/>
              <a:buChar char="•"/>
              <a:tabLst/>
            </a:pPr>
            <a:r>
              <a:rPr kumimoji="0" lang="fr-FR" altLang="fr-FR" sz="2400" b="1" i="0" u="none" strike="noStrike" cap="none" normalizeH="0" baseline="0" dirty="0" err="1" smtClean="0">
                <a:ln>
                  <a:noFill/>
                </a:ln>
                <a:solidFill>
                  <a:srgbClr val="FF0000"/>
                </a:solidFill>
                <a:effectLst/>
              </a:rPr>
              <a:t>Angular</a:t>
            </a:r>
            <a:r>
              <a:rPr kumimoji="0" lang="fr-FR" altLang="fr-FR" sz="2400" b="0" i="0" u="none" strike="noStrike" cap="none" normalizeH="0" baseline="0" dirty="0" smtClean="0">
                <a:ln>
                  <a:noFill/>
                </a:ln>
                <a:solidFill>
                  <a:schemeClr val="tx1"/>
                </a:solidFill>
                <a:effectLst/>
              </a:rPr>
              <a:t> est un Framework complet adapté aux grandes applications complexes.</a:t>
            </a:r>
          </a:p>
          <a:p>
            <a:pPr marL="0" marR="0" lvl="0" indent="0" algn="just" defTabSz="914400" rtl="0" eaLnBrk="0" fontAlgn="base" latinLnBrk="0" hangingPunct="0">
              <a:lnSpc>
                <a:spcPct val="250000"/>
              </a:lnSpc>
              <a:spcBef>
                <a:spcPct val="0"/>
              </a:spcBef>
              <a:spcAft>
                <a:spcPct val="0"/>
              </a:spcAft>
              <a:buClrTx/>
              <a:buSzTx/>
              <a:buFontTx/>
              <a:buChar char="•"/>
              <a:tabLst/>
            </a:pPr>
            <a:r>
              <a:rPr kumimoji="0" lang="fr-FR" altLang="fr-FR" sz="2400" b="1" i="0" u="none" strike="noStrike" cap="none" normalizeH="0" baseline="0" dirty="0" err="1" smtClean="0">
                <a:ln>
                  <a:noFill/>
                </a:ln>
                <a:solidFill>
                  <a:srgbClr val="FF0000"/>
                </a:solidFill>
                <a:effectLst/>
              </a:rPr>
              <a:t>React</a:t>
            </a:r>
            <a:r>
              <a:rPr kumimoji="0" lang="fr-FR" altLang="fr-FR" sz="2400" b="0" i="0" u="none" strike="noStrike" cap="none" normalizeH="0" baseline="0" dirty="0" smtClean="0">
                <a:ln>
                  <a:noFill/>
                </a:ln>
                <a:solidFill>
                  <a:schemeClr val="tx1"/>
                </a:solidFill>
                <a:effectLst/>
              </a:rPr>
              <a:t> est une bibliothèque flexible pour les interfaces, souvent utilisée dans des environnements qui nécessitent une réactivité élevée.</a:t>
            </a:r>
          </a:p>
          <a:p>
            <a:pPr marL="0" marR="0" lvl="0" indent="0" algn="just" defTabSz="914400" rtl="0" eaLnBrk="0" fontAlgn="base" latinLnBrk="0" hangingPunct="0">
              <a:lnSpc>
                <a:spcPct val="250000"/>
              </a:lnSpc>
              <a:spcBef>
                <a:spcPct val="0"/>
              </a:spcBef>
              <a:spcAft>
                <a:spcPct val="0"/>
              </a:spcAft>
              <a:buClrTx/>
              <a:buSzTx/>
              <a:buFontTx/>
              <a:buChar char="•"/>
              <a:tabLst/>
            </a:pPr>
            <a:r>
              <a:rPr kumimoji="0" lang="fr-FR" altLang="fr-FR" sz="2400" b="1" i="0" u="none" strike="noStrike" cap="none" normalizeH="0" baseline="0" dirty="0" smtClean="0">
                <a:ln>
                  <a:noFill/>
                </a:ln>
                <a:solidFill>
                  <a:srgbClr val="FF0000"/>
                </a:solidFill>
                <a:effectLst/>
              </a:rPr>
              <a:t>Vue</a:t>
            </a:r>
            <a:r>
              <a:rPr kumimoji="0" lang="fr-FR" altLang="fr-FR" sz="2400" b="0" i="0" u="none" strike="noStrike" cap="none" normalizeH="0" baseline="0" dirty="0" smtClean="0">
                <a:ln>
                  <a:noFill/>
                </a:ln>
                <a:solidFill>
                  <a:schemeClr val="tx1"/>
                </a:solidFill>
                <a:effectLst/>
              </a:rPr>
              <a:t> est un Framework léger et progressif, facile à apprendre et parfait pour les développeurs souhaitant plus de flexibilité avec un effort minimal. </a:t>
            </a:r>
          </a:p>
        </p:txBody>
      </p:sp>
    </p:spTree>
    <p:extLst>
      <p:ext uri="{BB962C8B-B14F-4D97-AF65-F5344CB8AC3E}">
        <p14:creationId xmlns:p14="http://schemas.microsoft.com/office/powerpoint/2010/main" val="40867949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arn(inVertical)">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barn(inVertical)">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barn(inVertical)">
                                      <p:cBhvr>
                                        <p:cTn id="17"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484632"/>
            <a:ext cx="10058400" cy="555892"/>
          </a:xfrm>
        </p:spPr>
        <p:txBody>
          <a:bodyPr>
            <a:normAutofit fontScale="90000"/>
          </a:bodyPr>
          <a:lstStyle/>
          <a:p>
            <a:pPr algn="ctr"/>
            <a:r>
              <a:rPr lang="fr-FR" b="1" dirty="0">
                <a:latin typeface="Agency FB" panose="020B0503020202020204" pitchFamily="34" charset="0"/>
              </a:rPr>
              <a:t>Philosophie et approche</a:t>
            </a:r>
          </a:p>
        </p:txBody>
      </p:sp>
      <p:sp>
        <p:nvSpPr>
          <p:cNvPr id="3" name="Espace réservé du contenu 2"/>
          <p:cNvSpPr>
            <a:spLocks noGrp="1"/>
          </p:cNvSpPr>
          <p:nvPr>
            <p:ph idx="1"/>
          </p:nvPr>
        </p:nvSpPr>
        <p:spPr>
          <a:xfrm>
            <a:off x="457200" y="1166648"/>
            <a:ext cx="10671048" cy="5005552"/>
          </a:xfrm>
        </p:spPr>
        <p:txBody>
          <a:bodyPr>
            <a:normAutofit/>
          </a:bodyPr>
          <a:lstStyle/>
          <a:p>
            <a:pPr algn="just">
              <a:lnSpc>
                <a:spcPct val="150000"/>
              </a:lnSpc>
            </a:pPr>
            <a:r>
              <a:rPr lang="fr-FR" b="1" dirty="0" err="1"/>
              <a:t>Angular</a:t>
            </a:r>
            <a:r>
              <a:rPr lang="fr-FR" dirty="0"/>
              <a:t> : Framework </a:t>
            </a:r>
            <a:r>
              <a:rPr lang="fr-FR" b="1" dirty="0"/>
              <a:t>complet</a:t>
            </a:r>
            <a:r>
              <a:rPr lang="fr-FR" dirty="0"/>
              <a:t> avec une structure imposée, conçu pour des applications robustes et complexes. Il suit une approche "</a:t>
            </a:r>
            <a:r>
              <a:rPr lang="fr-FR" dirty="0" err="1"/>
              <a:t>opinionnée</a:t>
            </a:r>
            <a:r>
              <a:rPr lang="fr-FR" dirty="0"/>
              <a:t>" en offrant tout ce dont vous avez besoin (</a:t>
            </a:r>
            <a:r>
              <a:rPr lang="fr-FR" dirty="0" err="1"/>
              <a:t>routing</a:t>
            </a:r>
            <a:r>
              <a:rPr lang="fr-FR" dirty="0"/>
              <a:t>, state management, etc</a:t>
            </a:r>
            <a:r>
              <a:rPr lang="fr-FR" dirty="0" smtClean="0"/>
              <a:t>.).</a:t>
            </a:r>
          </a:p>
          <a:p>
            <a:pPr algn="just">
              <a:lnSpc>
                <a:spcPct val="150000"/>
              </a:lnSpc>
            </a:pPr>
            <a:r>
              <a:rPr lang="fr-FR" b="1" dirty="0" err="1"/>
              <a:t>React</a:t>
            </a:r>
            <a:r>
              <a:rPr lang="fr-FR" dirty="0"/>
              <a:t> : </a:t>
            </a:r>
            <a:r>
              <a:rPr lang="fr-FR" b="1" dirty="0"/>
              <a:t>Bibliothèque</a:t>
            </a:r>
            <a:r>
              <a:rPr lang="fr-FR" dirty="0"/>
              <a:t> pour créer des interfaces utilisateur (UI), se concentre uniquement sur la </a:t>
            </a:r>
            <a:r>
              <a:rPr lang="fr-FR" b="1" dirty="0"/>
              <a:t>vue</a:t>
            </a:r>
            <a:r>
              <a:rPr lang="fr-FR" dirty="0"/>
              <a:t> dans le modèle MVC. Très flexible, il nécessite souvent d’ajouter des bibliothèques externes (pour le routage, la gestion d'état, etc</a:t>
            </a:r>
            <a:r>
              <a:rPr lang="fr-FR" dirty="0" smtClean="0"/>
              <a:t>.).</a:t>
            </a:r>
          </a:p>
          <a:p>
            <a:pPr algn="just">
              <a:lnSpc>
                <a:spcPct val="150000"/>
              </a:lnSpc>
            </a:pPr>
            <a:r>
              <a:rPr lang="fr-FR" b="1" dirty="0"/>
              <a:t>Vue</a:t>
            </a:r>
            <a:r>
              <a:rPr lang="fr-FR" dirty="0"/>
              <a:t> : </a:t>
            </a:r>
            <a:r>
              <a:rPr lang="fr-FR" b="1" dirty="0"/>
              <a:t>Framework progressif</a:t>
            </a:r>
            <a:r>
              <a:rPr lang="fr-FR" dirty="0"/>
              <a:t> qui peut être utilisé pour des parties spécifiques d'une page web ou pour des applications complètes. Combine des aspects d’</a:t>
            </a:r>
            <a:r>
              <a:rPr lang="fr-FR" dirty="0" err="1"/>
              <a:t>Angular</a:t>
            </a:r>
            <a:r>
              <a:rPr lang="fr-FR" dirty="0"/>
              <a:t> (comme les directives) et de </a:t>
            </a:r>
            <a:r>
              <a:rPr lang="fr-FR" dirty="0" err="1"/>
              <a:t>React</a:t>
            </a:r>
            <a:r>
              <a:rPr lang="fr-FR" dirty="0"/>
              <a:t> (comme le </a:t>
            </a:r>
            <a:r>
              <a:rPr lang="fr-FR" dirty="0" err="1"/>
              <a:t>virtual</a:t>
            </a:r>
            <a:r>
              <a:rPr lang="fr-FR" dirty="0"/>
              <a:t> DOM).</a:t>
            </a:r>
          </a:p>
        </p:txBody>
      </p:sp>
    </p:spTree>
    <p:extLst>
      <p:ext uri="{BB962C8B-B14F-4D97-AF65-F5344CB8AC3E}">
        <p14:creationId xmlns:p14="http://schemas.microsoft.com/office/powerpoint/2010/main" val="1765723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b="1" cap="all" dirty="0">
                <a:latin typeface="Agency FB" panose="020B0503020202020204" pitchFamily="34" charset="0"/>
              </a:rPr>
              <a:t>POIDS DES FRAMEWORKS</a:t>
            </a:r>
            <a:r>
              <a:rPr lang="fr-FR" cap="all" dirty="0">
                <a:latin typeface="Agency FB" panose="020B0503020202020204" pitchFamily="34" charset="0"/>
              </a:rPr>
              <a:t/>
            </a:r>
            <a:br>
              <a:rPr lang="fr-FR" cap="all" dirty="0">
                <a:latin typeface="Agency FB" panose="020B0503020202020204" pitchFamily="34" charset="0"/>
              </a:rPr>
            </a:br>
            <a:endParaRPr lang="fr-FR" dirty="0">
              <a:latin typeface="Agency FB" panose="020B0503020202020204" pitchFamily="34" charset="0"/>
            </a:endParaRPr>
          </a:p>
        </p:txBody>
      </p:sp>
      <p:pic>
        <p:nvPicPr>
          <p:cNvPr id="4" name="Image 3"/>
          <p:cNvPicPr>
            <a:picLocks noChangeAspect="1"/>
          </p:cNvPicPr>
          <p:nvPr/>
        </p:nvPicPr>
        <p:blipFill>
          <a:blip r:embed="rId2"/>
          <a:stretch>
            <a:fillRect/>
          </a:stretch>
        </p:blipFill>
        <p:spPr>
          <a:xfrm>
            <a:off x="1371600" y="2388093"/>
            <a:ext cx="9448800" cy="256564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98810804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b="1" cap="all" dirty="0">
                <a:latin typeface="Agency FB" panose="020B0503020202020204" pitchFamily="34" charset="0"/>
              </a:rPr>
              <a:t>UTILISATION</a:t>
            </a:r>
            <a:r>
              <a:rPr lang="fr-FR" b="1" cap="all" dirty="0"/>
              <a:t> PAR LES MARQUES</a:t>
            </a:r>
            <a:r>
              <a:rPr lang="fr-FR" cap="all" dirty="0"/>
              <a:t/>
            </a:r>
            <a:br>
              <a:rPr lang="fr-FR" cap="all" dirty="0"/>
            </a:br>
            <a:endParaRPr lang="fr-FR" dirty="0"/>
          </a:p>
        </p:txBody>
      </p:sp>
      <p:pic>
        <p:nvPicPr>
          <p:cNvPr id="4" name="Image 3"/>
          <p:cNvPicPr>
            <a:picLocks noChangeAspect="1"/>
          </p:cNvPicPr>
          <p:nvPr/>
        </p:nvPicPr>
        <p:blipFill>
          <a:blip r:embed="rId2"/>
          <a:stretch>
            <a:fillRect/>
          </a:stretch>
        </p:blipFill>
        <p:spPr>
          <a:xfrm>
            <a:off x="1260629" y="1946475"/>
            <a:ext cx="9895051" cy="419687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43384048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ctrTitle"/>
          </p:nvPr>
        </p:nvSpPr>
        <p:spPr/>
        <p:txBody>
          <a:bodyPr/>
          <a:lstStyle/>
          <a:p>
            <a:r>
              <a:rPr lang="fr-FR" dirty="0" smtClean="0"/>
              <a:t>Evolutions </a:t>
            </a:r>
            <a:r>
              <a:rPr lang="fr-FR" dirty="0" err="1" smtClean="0"/>
              <a:t>Angular</a:t>
            </a:r>
            <a:endParaRPr lang="fr-FR" dirty="0"/>
          </a:p>
        </p:txBody>
      </p:sp>
      <p:sp>
        <p:nvSpPr>
          <p:cNvPr id="5" name="Sous-titre 4"/>
          <p:cNvSpPr>
            <a:spLocks noGrp="1"/>
          </p:cNvSpPr>
          <p:nvPr>
            <p:ph type="subTitle" idx="1"/>
          </p:nvPr>
        </p:nvSpPr>
        <p:spPr/>
        <p:txBody>
          <a:bodyPr>
            <a:normAutofit/>
          </a:bodyPr>
          <a:lstStyle/>
          <a:p>
            <a:r>
              <a:rPr lang="fr-FR" sz="4000" dirty="0" smtClean="0"/>
              <a:t>14 - 21</a:t>
            </a:r>
            <a:endParaRPr lang="fr-FR" sz="4000" dirty="0"/>
          </a:p>
        </p:txBody>
      </p:sp>
    </p:spTree>
    <p:extLst>
      <p:ext uri="{BB962C8B-B14F-4D97-AF65-F5344CB8AC3E}">
        <p14:creationId xmlns:p14="http://schemas.microsoft.com/office/powerpoint/2010/main" val="6360161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295446"/>
            <a:ext cx="10058400" cy="508596"/>
          </a:xfrm>
        </p:spPr>
        <p:txBody>
          <a:bodyPr>
            <a:normAutofit fontScale="90000"/>
          </a:bodyPr>
          <a:lstStyle/>
          <a:p>
            <a:pPr algn="ctr"/>
            <a:r>
              <a:rPr lang="fr-FR" dirty="0" err="1"/>
              <a:t>Angular</a:t>
            </a:r>
            <a:r>
              <a:rPr lang="fr-FR" dirty="0"/>
              <a:t> 14 (Juin 2022)</a:t>
            </a:r>
          </a:p>
        </p:txBody>
      </p:sp>
      <p:sp>
        <p:nvSpPr>
          <p:cNvPr id="3" name="Espace réservé du contenu 2"/>
          <p:cNvSpPr>
            <a:spLocks noGrp="1"/>
          </p:cNvSpPr>
          <p:nvPr>
            <p:ph idx="1"/>
          </p:nvPr>
        </p:nvSpPr>
        <p:spPr>
          <a:xfrm>
            <a:off x="520262" y="1119352"/>
            <a:ext cx="10607986" cy="5297214"/>
          </a:xfrm>
        </p:spPr>
        <p:txBody>
          <a:bodyPr>
            <a:normAutofit fontScale="85000" lnSpcReduction="20000"/>
          </a:bodyPr>
          <a:lstStyle/>
          <a:p>
            <a:pPr algn="just">
              <a:lnSpc>
                <a:spcPct val="150000"/>
              </a:lnSpc>
            </a:pPr>
            <a:r>
              <a:rPr lang="fr-FR" b="1" dirty="0" err="1">
                <a:latin typeface="+mj-lt"/>
              </a:rPr>
              <a:t>Standalone</a:t>
            </a:r>
            <a:r>
              <a:rPr lang="fr-FR" b="1" dirty="0">
                <a:latin typeface="+mj-lt"/>
              </a:rPr>
              <a:t> Components (en </a:t>
            </a:r>
            <a:r>
              <a:rPr lang="fr-FR" b="1" dirty="0" err="1">
                <a:latin typeface="+mj-lt"/>
              </a:rPr>
              <a:t>preview</a:t>
            </a:r>
            <a:r>
              <a:rPr lang="fr-FR" b="1" dirty="0" smtClean="0">
                <a:latin typeface="+mj-lt"/>
              </a:rPr>
              <a:t>)</a:t>
            </a:r>
          </a:p>
          <a:p>
            <a:pPr lvl="1" algn="just">
              <a:lnSpc>
                <a:spcPct val="150000"/>
              </a:lnSpc>
            </a:pPr>
            <a:r>
              <a:rPr lang="fr-FR" dirty="0">
                <a:latin typeface="+mj-lt"/>
              </a:rPr>
              <a:t>Introduction des composants autonomes (</a:t>
            </a:r>
            <a:r>
              <a:rPr lang="fr-FR" b="1" dirty="0" err="1">
                <a:latin typeface="+mj-lt"/>
              </a:rPr>
              <a:t>standalone</a:t>
            </a:r>
            <a:r>
              <a:rPr lang="fr-FR" dirty="0">
                <a:latin typeface="+mj-lt"/>
              </a:rPr>
              <a:t>: </a:t>
            </a:r>
            <a:r>
              <a:rPr lang="fr-FR" b="1" dirty="0" err="1">
                <a:latin typeface="+mj-lt"/>
              </a:rPr>
              <a:t>true</a:t>
            </a:r>
            <a:r>
              <a:rPr lang="fr-FR" dirty="0">
                <a:latin typeface="+mj-lt"/>
              </a:rPr>
              <a:t>), permettant de réduire la complexité des modules </a:t>
            </a:r>
            <a:r>
              <a:rPr lang="fr-FR" b="1" dirty="0" err="1">
                <a:latin typeface="+mj-lt"/>
              </a:rPr>
              <a:t>Angular</a:t>
            </a:r>
            <a:r>
              <a:rPr lang="fr-FR" dirty="0" smtClean="0">
                <a:latin typeface="+mj-lt"/>
              </a:rPr>
              <a:t>.</a:t>
            </a:r>
          </a:p>
          <a:p>
            <a:pPr lvl="1" algn="just">
              <a:lnSpc>
                <a:spcPct val="150000"/>
              </a:lnSpc>
            </a:pPr>
            <a:r>
              <a:rPr lang="fr-FR" dirty="0">
                <a:latin typeface="+mj-lt"/>
              </a:rPr>
              <a:t>Possibilité de déclarer des composants sans </a:t>
            </a:r>
            <a:r>
              <a:rPr lang="fr-FR" b="1" dirty="0" err="1">
                <a:latin typeface="+mj-lt"/>
              </a:rPr>
              <a:t>NgModule</a:t>
            </a:r>
            <a:r>
              <a:rPr lang="fr-FR" dirty="0">
                <a:latin typeface="+mj-lt"/>
              </a:rPr>
              <a:t>.</a:t>
            </a:r>
            <a:endParaRPr lang="fr-FR" dirty="0" smtClean="0">
              <a:latin typeface="+mj-lt"/>
            </a:endParaRPr>
          </a:p>
          <a:p>
            <a:pPr algn="just">
              <a:lnSpc>
                <a:spcPct val="150000"/>
              </a:lnSpc>
            </a:pPr>
            <a:r>
              <a:rPr lang="fr-FR" b="1" dirty="0" err="1">
                <a:latin typeface="+mj-lt"/>
              </a:rPr>
              <a:t>Typed</a:t>
            </a:r>
            <a:r>
              <a:rPr lang="fr-FR" b="1" dirty="0">
                <a:latin typeface="+mj-lt"/>
              </a:rPr>
              <a:t> </a:t>
            </a:r>
            <a:r>
              <a:rPr lang="fr-FR" b="1" dirty="0" err="1" smtClean="0">
                <a:latin typeface="+mj-lt"/>
              </a:rPr>
              <a:t>Forms</a:t>
            </a:r>
            <a:endParaRPr lang="fr-FR" b="1" dirty="0" smtClean="0">
              <a:latin typeface="+mj-lt"/>
            </a:endParaRPr>
          </a:p>
          <a:p>
            <a:pPr lvl="1" algn="just">
              <a:lnSpc>
                <a:spcPct val="150000"/>
              </a:lnSpc>
            </a:pPr>
            <a:r>
              <a:rPr lang="fr-FR" dirty="0" err="1">
                <a:latin typeface="+mj-lt"/>
              </a:rPr>
              <a:t>Angular</a:t>
            </a:r>
            <a:r>
              <a:rPr lang="fr-FR" dirty="0">
                <a:latin typeface="+mj-lt"/>
              </a:rPr>
              <a:t> </a:t>
            </a:r>
            <a:r>
              <a:rPr lang="fr-FR" dirty="0" err="1">
                <a:latin typeface="+mj-lt"/>
              </a:rPr>
              <a:t>Forms</a:t>
            </a:r>
            <a:r>
              <a:rPr lang="fr-FR" dirty="0">
                <a:latin typeface="+mj-lt"/>
              </a:rPr>
              <a:t> devient entièrement typé avec </a:t>
            </a:r>
            <a:r>
              <a:rPr lang="fr-FR" b="1" dirty="0" err="1">
                <a:latin typeface="+mj-lt"/>
              </a:rPr>
              <a:t>FormGroup</a:t>
            </a:r>
            <a:r>
              <a:rPr lang="fr-FR" dirty="0">
                <a:latin typeface="+mj-lt"/>
              </a:rPr>
              <a:t>, </a:t>
            </a:r>
            <a:r>
              <a:rPr lang="fr-FR" b="1" dirty="0" err="1">
                <a:latin typeface="+mj-lt"/>
              </a:rPr>
              <a:t>FormControl</a:t>
            </a:r>
            <a:r>
              <a:rPr lang="fr-FR" dirty="0">
                <a:latin typeface="+mj-lt"/>
              </a:rPr>
              <a:t>, et </a:t>
            </a:r>
            <a:r>
              <a:rPr lang="fr-FR" b="1" dirty="0" err="1">
                <a:latin typeface="+mj-lt"/>
              </a:rPr>
              <a:t>FormArray</a:t>
            </a:r>
            <a:r>
              <a:rPr lang="fr-FR" dirty="0">
                <a:latin typeface="+mj-lt"/>
              </a:rPr>
              <a:t>, permettant une meilleure vérification des types au moment de la compilation.</a:t>
            </a:r>
            <a:endParaRPr lang="fr-FR" dirty="0" smtClean="0">
              <a:latin typeface="+mj-lt"/>
            </a:endParaRPr>
          </a:p>
          <a:p>
            <a:pPr algn="just">
              <a:lnSpc>
                <a:spcPct val="150000"/>
              </a:lnSpc>
            </a:pPr>
            <a:r>
              <a:rPr lang="fr-FR" b="1" dirty="0">
                <a:latin typeface="+mj-lt"/>
              </a:rPr>
              <a:t>Améliorations des </a:t>
            </a:r>
            <a:r>
              <a:rPr lang="fr-FR" b="1" dirty="0" smtClean="0">
                <a:latin typeface="+mj-lt"/>
              </a:rPr>
              <a:t>routes</a:t>
            </a:r>
          </a:p>
          <a:p>
            <a:pPr lvl="1" algn="just">
              <a:lnSpc>
                <a:spcPct val="150000"/>
              </a:lnSpc>
            </a:pPr>
            <a:r>
              <a:rPr lang="fr-FR" dirty="0">
                <a:latin typeface="+mj-lt"/>
              </a:rPr>
              <a:t>Ajout de la fonction </a:t>
            </a:r>
            <a:r>
              <a:rPr lang="fr-FR" b="1" dirty="0" err="1">
                <a:latin typeface="+mj-lt"/>
              </a:rPr>
              <a:t>canMatch</a:t>
            </a:r>
            <a:r>
              <a:rPr lang="fr-FR" dirty="0">
                <a:latin typeface="+mj-lt"/>
              </a:rPr>
              <a:t> pour améliorer le chargement conditionnel des modules (remplaçant </a:t>
            </a:r>
            <a:r>
              <a:rPr lang="fr-FR" b="1" dirty="0" err="1">
                <a:latin typeface="+mj-lt"/>
              </a:rPr>
              <a:t>canLoad</a:t>
            </a:r>
            <a:r>
              <a:rPr lang="fr-FR" dirty="0">
                <a:latin typeface="+mj-lt"/>
              </a:rPr>
              <a:t> dans certains cas).</a:t>
            </a:r>
            <a:endParaRPr lang="fr-FR" dirty="0" smtClean="0">
              <a:latin typeface="+mj-lt"/>
            </a:endParaRPr>
          </a:p>
          <a:p>
            <a:pPr algn="just">
              <a:lnSpc>
                <a:spcPct val="150000"/>
              </a:lnSpc>
            </a:pPr>
            <a:r>
              <a:rPr lang="fr-FR" b="1" dirty="0">
                <a:latin typeface="+mj-lt"/>
              </a:rPr>
              <a:t>Modifications </a:t>
            </a:r>
            <a:r>
              <a:rPr lang="fr-FR" b="1" dirty="0" smtClean="0">
                <a:latin typeface="+mj-lt"/>
              </a:rPr>
              <a:t>CLI</a:t>
            </a:r>
          </a:p>
          <a:p>
            <a:pPr lvl="1" algn="just">
              <a:lnSpc>
                <a:spcPct val="150000"/>
              </a:lnSpc>
            </a:pPr>
            <a:r>
              <a:rPr lang="fr-FR" dirty="0">
                <a:latin typeface="+mj-lt"/>
              </a:rPr>
              <a:t>Génération automatique des </a:t>
            </a:r>
            <a:r>
              <a:rPr lang="fr-FR" b="1" dirty="0" err="1">
                <a:latin typeface="+mj-lt"/>
              </a:rPr>
              <a:t>standalone</a:t>
            </a:r>
            <a:r>
              <a:rPr lang="fr-FR" dirty="0">
                <a:latin typeface="+mj-lt"/>
              </a:rPr>
              <a:t> components avec </a:t>
            </a:r>
            <a:r>
              <a:rPr lang="fr-FR" b="1" dirty="0" err="1">
                <a:latin typeface="+mj-lt"/>
              </a:rPr>
              <a:t>ng</a:t>
            </a:r>
            <a:r>
              <a:rPr lang="fr-FR" b="1" dirty="0">
                <a:latin typeface="+mj-lt"/>
              </a:rPr>
              <a:t> </a:t>
            </a:r>
            <a:r>
              <a:rPr lang="fr-FR" b="1" dirty="0" err="1">
                <a:latin typeface="+mj-lt"/>
              </a:rPr>
              <a:t>generate</a:t>
            </a:r>
            <a:r>
              <a:rPr lang="fr-FR" b="1" dirty="0">
                <a:latin typeface="+mj-lt"/>
              </a:rPr>
              <a:t> component</a:t>
            </a:r>
            <a:r>
              <a:rPr lang="fr-FR" dirty="0" smtClean="0">
                <a:latin typeface="+mj-lt"/>
              </a:rPr>
              <a:t>.</a:t>
            </a:r>
          </a:p>
          <a:p>
            <a:pPr lvl="1" algn="just">
              <a:lnSpc>
                <a:spcPct val="150000"/>
              </a:lnSpc>
            </a:pPr>
            <a:r>
              <a:rPr lang="fr-FR" dirty="0">
                <a:latin typeface="+mj-lt"/>
              </a:rPr>
              <a:t>Mode strict activé par défaut dans </a:t>
            </a:r>
            <a:r>
              <a:rPr lang="fr-FR" b="1" dirty="0" err="1">
                <a:latin typeface="+mj-lt"/>
              </a:rPr>
              <a:t>TypeScript</a:t>
            </a:r>
            <a:r>
              <a:rPr lang="fr-FR" dirty="0">
                <a:latin typeface="+mj-lt"/>
              </a:rPr>
              <a:t>.</a:t>
            </a:r>
            <a:endParaRPr lang="fr-FR" dirty="0" smtClean="0">
              <a:latin typeface="+mj-lt"/>
            </a:endParaRPr>
          </a:p>
          <a:p>
            <a:pPr lvl="1" algn="just">
              <a:lnSpc>
                <a:spcPct val="150000"/>
              </a:lnSpc>
            </a:pPr>
            <a:endParaRPr lang="fr-FR" dirty="0">
              <a:latin typeface="+mj-lt"/>
            </a:endParaRPr>
          </a:p>
        </p:txBody>
      </p:sp>
    </p:spTree>
    <p:extLst>
      <p:ext uri="{BB962C8B-B14F-4D97-AF65-F5344CB8AC3E}">
        <p14:creationId xmlns:p14="http://schemas.microsoft.com/office/powerpoint/2010/main" val="230662849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200853"/>
            <a:ext cx="10058400" cy="650485"/>
          </a:xfrm>
        </p:spPr>
        <p:txBody>
          <a:bodyPr>
            <a:normAutofit fontScale="90000"/>
          </a:bodyPr>
          <a:lstStyle/>
          <a:p>
            <a:pPr algn="ctr"/>
            <a:r>
              <a:rPr lang="fr-FR" dirty="0" err="1"/>
              <a:t>Angular</a:t>
            </a:r>
            <a:r>
              <a:rPr lang="fr-FR" dirty="0"/>
              <a:t> 15 (Novembre 2022)</a:t>
            </a:r>
          </a:p>
        </p:txBody>
      </p:sp>
      <p:sp>
        <p:nvSpPr>
          <p:cNvPr id="3" name="Espace réservé du contenu 2"/>
          <p:cNvSpPr>
            <a:spLocks noGrp="1"/>
          </p:cNvSpPr>
          <p:nvPr>
            <p:ph idx="1"/>
          </p:nvPr>
        </p:nvSpPr>
        <p:spPr>
          <a:xfrm>
            <a:off x="1069848" y="1119352"/>
            <a:ext cx="10058400" cy="5265682"/>
          </a:xfrm>
        </p:spPr>
        <p:txBody>
          <a:bodyPr>
            <a:normAutofit fontScale="92500" lnSpcReduction="20000"/>
          </a:bodyPr>
          <a:lstStyle/>
          <a:p>
            <a:pPr algn="just">
              <a:lnSpc>
                <a:spcPct val="150000"/>
              </a:lnSpc>
            </a:pPr>
            <a:r>
              <a:rPr lang="fr-FR" b="1" dirty="0" err="1"/>
              <a:t>Standalone</a:t>
            </a:r>
            <a:r>
              <a:rPr lang="fr-FR" dirty="0"/>
              <a:t> Components (stabilisé</a:t>
            </a:r>
            <a:r>
              <a:rPr lang="fr-FR" dirty="0" smtClean="0"/>
              <a:t>)</a:t>
            </a:r>
          </a:p>
          <a:p>
            <a:pPr lvl="1" algn="just">
              <a:lnSpc>
                <a:spcPct val="150000"/>
              </a:lnSpc>
            </a:pPr>
            <a:r>
              <a:rPr lang="fr-FR" dirty="0"/>
              <a:t>Plus besoin de </a:t>
            </a:r>
            <a:r>
              <a:rPr lang="fr-FR" b="1" dirty="0" err="1"/>
              <a:t>NgModules</a:t>
            </a:r>
            <a:r>
              <a:rPr lang="fr-FR" dirty="0"/>
              <a:t>, les </a:t>
            </a:r>
            <a:r>
              <a:rPr lang="fr-FR" b="1" dirty="0" err="1"/>
              <a:t>standalone</a:t>
            </a:r>
            <a:r>
              <a:rPr lang="fr-FR" dirty="0"/>
              <a:t> components sont désormais totalement supportés</a:t>
            </a:r>
            <a:r>
              <a:rPr lang="fr-FR" dirty="0" smtClean="0"/>
              <a:t>.</a:t>
            </a:r>
          </a:p>
          <a:p>
            <a:pPr algn="just">
              <a:lnSpc>
                <a:spcPct val="150000"/>
              </a:lnSpc>
            </a:pPr>
            <a:r>
              <a:rPr lang="fr-FR" dirty="0"/>
              <a:t>Directive Composition </a:t>
            </a:r>
            <a:r>
              <a:rPr lang="fr-FR" dirty="0" smtClean="0"/>
              <a:t>API</a:t>
            </a:r>
          </a:p>
          <a:p>
            <a:pPr lvl="1" algn="just">
              <a:lnSpc>
                <a:spcPct val="150000"/>
              </a:lnSpc>
            </a:pPr>
            <a:r>
              <a:rPr lang="fr-FR" dirty="0"/>
              <a:t>Nouvelle API </a:t>
            </a:r>
            <a:r>
              <a:rPr lang="fr-FR" b="1" dirty="0"/>
              <a:t>@Directive({</a:t>
            </a:r>
            <a:r>
              <a:rPr lang="fr-FR" b="1" dirty="0" err="1"/>
              <a:t>standalone</a:t>
            </a:r>
            <a:r>
              <a:rPr lang="fr-FR" b="1" dirty="0"/>
              <a:t>: </a:t>
            </a:r>
            <a:r>
              <a:rPr lang="fr-FR" b="1" dirty="0" err="1"/>
              <a:t>true</a:t>
            </a:r>
            <a:r>
              <a:rPr lang="fr-FR" b="1" dirty="0"/>
              <a:t>}) </a:t>
            </a:r>
            <a:r>
              <a:rPr lang="fr-FR" dirty="0"/>
              <a:t>qui permet d’ajouter plusieurs directives directement à un composant</a:t>
            </a:r>
            <a:r>
              <a:rPr lang="fr-FR" dirty="0" smtClean="0"/>
              <a:t>.</a:t>
            </a:r>
          </a:p>
          <a:p>
            <a:pPr algn="just">
              <a:lnSpc>
                <a:spcPct val="150000"/>
              </a:lnSpc>
            </a:pPr>
            <a:r>
              <a:rPr lang="fr-FR" dirty="0"/>
              <a:t>Optimisation de l'API des </a:t>
            </a:r>
            <a:r>
              <a:rPr lang="fr-FR" dirty="0" smtClean="0"/>
              <a:t>routes</a:t>
            </a:r>
          </a:p>
          <a:p>
            <a:pPr lvl="1" algn="just">
              <a:lnSpc>
                <a:spcPct val="150000"/>
              </a:lnSpc>
            </a:pPr>
            <a:r>
              <a:rPr lang="fr-FR" dirty="0"/>
              <a:t>Routes plus flexibles avec </a:t>
            </a:r>
            <a:r>
              <a:rPr lang="fr-FR" b="1" dirty="0" err="1"/>
              <a:t>RouterStandalone</a:t>
            </a:r>
            <a:r>
              <a:rPr lang="fr-FR" dirty="0"/>
              <a:t> API</a:t>
            </a:r>
            <a:r>
              <a:rPr lang="fr-FR" dirty="0" smtClean="0"/>
              <a:t>.</a:t>
            </a:r>
          </a:p>
          <a:p>
            <a:pPr lvl="1" algn="just">
              <a:lnSpc>
                <a:spcPct val="150000"/>
              </a:lnSpc>
            </a:pPr>
            <a:r>
              <a:rPr lang="fr-FR" dirty="0"/>
              <a:t>Amélioration du </a:t>
            </a:r>
            <a:r>
              <a:rPr lang="fr-FR" b="1" dirty="0" err="1"/>
              <a:t>Lazy</a:t>
            </a:r>
            <a:r>
              <a:rPr lang="fr-FR" dirty="0"/>
              <a:t> </a:t>
            </a:r>
            <a:r>
              <a:rPr lang="fr-FR" b="1" dirty="0" err="1"/>
              <a:t>Loading</a:t>
            </a:r>
            <a:r>
              <a:rPr lang="fr-FR" dirty="0"/>
              <a:t> pour réduire la taille du bundle</a:t>
            </a:r>
            <a:r>
              <a:rPr lang="fr-FR" dirty="0" smtClean="0"/>
              <a:t>.</a:t>
            </a:r>
          </a:p>
          <a:p>
            <a:pPr algn="just">
              <a:lnSpc>
                <a:spcPct val="150000"/>
              </a:lnSpc>
            </a:pPr>
            <a:r>
              <a:rPr lang="fr-FR" dirty="0"/>
              <a:t>Amélioration des </a:t>
            </a:r>
            <a:r>
              <a:rPr lang="fr-FR" dirty="0" smtClean="0"/>
              <a:t>performances</a:t>
            </a:r>
          </a:p>
          <a:p>
            <a:pPr lvl="1" algn="just">
              <a:lnSpc>
                <a:spcPct val="150000"/>
              </a:lnSpc>
            </a:pPr>
            <a:r>
              <a:rPr lang="fr-FR" dirty="0"/>
              <a:t>Suppression automatique des classes CSS inutilisées avec </a:t>
            </a:r>
            <a:r>
              <a:rPr lang="fr-FR" b="1" dirty="0" err="1"/>
              <a:t>ng</a:t>
            </a:r>
            <a:r>
              <a:rPr lang="fr-FR" b="1" dirty="0"/>
              <a:t> </a:t>
            </a:r>
            <a:r>
              <a:rPr lang="fr-FR" b="1" dirty="0" err="1"/>
              <a:t>build</a:t>
            </a:r>
            <a:r>
              <a:rPr lang="fr-FR" b="1" dirty="0"/>
              <a:t> --</a:t>
            </a:r>
            <a:r>
              <a:rPr lang="fr-FR" b="1" dirty="0" err="1"/>
              <a:t>optimization</a:t>
            </a:r>
            <a:r>
              <a:rPr lang="fr-FR" dirty="0" smtClean="0"/>
              <a:t>.</a:t>
            </a:r>
          </a:p>
          <a:p>
            <a:pPr lvl="1" algn="just">
              <a:lnSpc>
                <a:spcPct val="150000"/>
              </a:lnSpc>
            </a:pPr>
            <a:r>
              <a:rPr lang="fr-FR" dirty="0"/>
              <a:t>Meilleure gestion du rendu </a:t>
            </a:r>
            <a:r>
              <a:rPr lang="fr-FR" b="1" dirty="0"/>
              <a:t>SSR (Server-</a:t>
            </a:r>
            <a:r>
              <a:rPr lang="fr-FR" b="1" dirty="0" err="1"/>
              <a:t>Side</a:t>
            </a:r>
            <a:r>
              <a:rPr lang="fr-FR" b="1" dirty="0"/>
              <a:t> </a:t>
            </a:r>
            <a:r>
              <a:rPr lang="fr-FR" b="1" dirty="0" err="1"/>
              <a:t>Rendering</a:t>
            </a:r>
            <a:r>
              <a:rPr lang="fr-FR" b="1" dirty="0"/>
              <a:t>).</a:t>
            </a:r>
          </a:p>
        </p:txBody>
      </p:sp>
    </p:spTree>
    <p:extLst>
      <p:ext uri="{BB962C8B-B14F-4D97-AF65-F5344CB8AC3E}">
        <p14:creationId xmlns:p14="http://schemas.microsoft.com/office/powerpoint/2010/main" val="409936342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4000" dirty="0" err="1"/>
              <a:t>Standalone</a:t>
            </a:r>
            <a:r>
              <a:rPr lang="fr-FR" sz="4000" dirty="0"/>
              <a:t> Components (stabilisé)</a:t>
            </a:r>
          </a:p>
        </p:txBody>
      </p:sp>
      <p:sp>
        <p:nvSpPr>
          <p:cNvPr id="3" name="Espace réservé du contenu 2"/>
          <p:cNvSpPr>
            <a:spLocks noGrp="1"/>
          </p:cNvSpPr>
          <p:nvPr>
            <p:ph idx="1"/>
          </p:nvPr>
        </p:nvSpPr>
        <p:spPr>
          <a:xfrm>
            <a:off x="6920804" y="1970341"/>
            <a:ext cx="4207186" cy="4050792"/>
          </a:xfrm>
        </p:spPr>
        <p:txBody>
          <a:bodyPr>
            <a:normAutofit/>
          </a:bodyPr>
          <a:lstStyle/>
          <a:p>
            <a:pPr algn="just">
              <a:lnSpc>
                <a:spcPct val="200000"/>
              </a:lnSpc>
            </a:pPr>
            <a:r>
              <a:rPr lang="fr-FR" sz="2400" dirty="0"/>
              <a:t>Avantage : Moins de fichiers à gérer, meilleure organisation du code, et plus de flexibilité !</a:t>
            </a:r>
          </a:p>
        </p:txBody>
      </p:sp>
      <p:pic>
        <p:nvPicPr>
          <p:cNvPr id="4" name="Image 3"/>
          <p:cNvPicPr>
            <a:picLocks noChangeAspect="1"/>
          </p:cNvPicPr>
          <p:nvPr/>
        </p:nvPicPr>
        <p:blipFill>
          <a:blip r:embed="rId2">
            <a:duotone>
              <a:prstClr val="black"/>
              <a:schemeClr val="accent1">
                <a:tint val="45000"/>
                <a:satMod val="400000"/>
              </a:schemeClr>
            </a:duotone>
          </a:blip>
          <a:stretch>
            <a:fillRect/>
          </a:stretch>
        </p:blipFill>
        <p:spPr>
          <a:xfrm>
            <a:off x="1400666" y="1970341"/>
            <a:ext cx="5189320" cy="239670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5" name="Image 4"/>
          <p:cNvPicPr>
            <a:picLocks noChangeAspect="1"/>
          </p:cNvPicPr>
          <p:nvPr/>
        </p:nvPicPr>
        <p:blipFill>
          <a:blip r:embed="rId3">
            <a:duotone>
              <a:prstClr val="black"/>
              <a:schemeClr val="accent1">
                <a:tint val="45000"/>
                <a:satMod val="400000"/>
              </a:schemeClr>
            </a:duotone>
          </a:blip>
          <a:stretch>
            <a:fillRect/>
          </a:stretch>
        </p:blipFill>
        <p:spPr>
          <a:xfrm>
            <a:off x="1400666" y="4747857"/>
            <a:ext cx="5187113" cy="11049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4896499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a:t>Directive Composition API</a:t>
            </a:r>
          </a:p>
        </p:txBody>
      </p:sp>
      <p:pic>
        <p:nvPicPr>
          <p:cNvPr id="4" name="Espace réservé du contenu 3"/>
          <p:cNvPicPr>
            <a:picLocks noGrp="1" noChangeAspect="1"/>
          </p:cNvPicPr>
          <p:nvPr>
            <p:ph idx="1"/>
          </p:nvPr>
        </p:nvPicPr>
        <p:blipFill>
          <a:blip r:embed="rId2">
            <a:duotone>
              <a:prstClr val="black"/>
              <a:schemeClr val="accent1">
                <a:tint val="45000"/>
                <a:satMod val="400000"/>
              </a:schemeClr>
            </a:duotone>
          </a:blip>
          <a:stretch>
            <a:fillRect/>
          </a:stretch>
        </p:blipFill>
        <p:spPr>
          <a:xfrm>
            <a:off x="504497" y="1818946"/>
            <a:ext cx="5394526" cy="294322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5" name="Image 4"/>
          <p:cNvPicPr>
            <a:picLocks noChangeAspect="1"/>
          </p:cNvPicPr>
          <p:nvPr/>
        </p:nvPicPr>
        <p:blipFill>
          <a:blip r:embed="rId3">
            <a:duotone>
              <a:prstClr val="black"/>
              <a:schemeClr val="accent1">
                <a:tint val="45000"/>
                <a:satMod val="400000"/>
              </a:schemeClr>
            </a:duotone>
          </a:blip>
          <a:stretch>
            <a:fillRect/>
          </a:stretch>
        </p:blipFill>
        <p:spPr>
          <a:xfrm>
            <a:off x="6099048" y="1818946"/>
            <a:ext cx="5409780" cy="294322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6" name="Rectangle 5"/>
          <p:cNvSpPr/>
          <p:nvPr/>
        </p:nvSpPr>
        <p:spPr>
          <a:xfrm>
            <a:off x="504497" y="4997696"/>
            <a:ext cx="11004331" cy="954107"/>
          </a:xfrm>
          <a:prstGeom prst="rect">
            <a:avLst/>
          </a:prstGeom>
        </p:spPr>
        <p:txBody>
          <a:bodyPr wrap="square">
            <a:spAutoFit/>
          </a:bodyPr>
          <a:lstStyle/>
          <a:p>
            <a:pPr algn="ctr"/>
            <a:r>
              <a:rPr lang="fr-FR" sz="2800" dirty="0"/>
              <a:t>Avantage : Moins de dépendances, code plus propre et plus modulaire !</a:t>
            </a:r>
          </a:p>
        </p:txBody>
      </p:sp>
    </p:spTree>
    <p:extLst>
      <p:ext uri="{BB962C8B-B14F-4D97-AF65-F5344CB8AC3E}">
        <p14:creationId xmlns:p14="http://schemas.microsoft.com/office/powerpoint/2010/main" val="24453261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232384"/>
            <a:ext cx="10058400" cy="760844"/>
          </a:xfrm>
        </p:spPr>
        <p:txBody>
          <a:bodyPr>
            <a:normAutofit/>
          </a:bodyPr>
          <a:lstStyle/>
          <a:p>
            <a:pPr algn="ctr"/>
            <a:r>
              <a:rPr lang="fr-FR" sz="4400" dirty="0"/>
              <a:t>Optimisation de l'API des routes</a:t>
            </a:r>
          </a:p>
        </p:txBody>
      </p:sp>
      <p:sp>
        <p:nvSpPr>
          <p:cNvPr id="3" name="Espace réservé du contenu 2"/>
          <p:cNvSpPr>
            <a:spLocks noGrp="1"/>
          </p:cNvSpPr>
          <p:nvPr>
            <p:ph idx="1"/>
          </p:nvPr>
        </p:nvSpPr>
        <p:spPr>
          <a:xfrm>
            <a:off x="1069848" y="993228"/>
            <a:ext cx="10058400" cy="4050792"/>
          </a:xfrm>
        </p:spPr>
        <p:txBody>
          <a:bodyPr/>
          <a:lstStyle/>
          <a:p>
            <a:r>
              <a:rPr lang="fr-FR" dirty="0"/>
              <a:t>On peut déclarer les routes directement dans </a:t>
            </a:r>
            <a:r>
              <a:rPr lang="fr-FR" b="1" dirty="0" err="1" smtClean="0"/>
              <a:t>main.ts</a:t>
            </a:r>
            <a:r>
              <a:rPr lang="fr-FR" dirty="0" smtClean="0"/>
              <a:t> </a:t>
            </a:r>
            <a:r>
              <a:rPr lang="fr-FR" dirty="0"/>
              <a:t>:</a:t>
            </a:r>
          </a:p>
        </p:txBody>
      </p:sp>
      <p:pic>
        <p:nvPicPr>
          <p:cNvPr id="5" name="Image 4"/>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2396359" y="1580651"/>
            <a:ext cx="7234401" cy="346336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6" name="Image 5"/>
          <p:cNvPicPr>
            <a:picLocks noChangeAspect="1"/>
          </p:cNvPicPr>
          <p:nvPr/>
        </p:nvPicPr>
        <p:blipFill>
          <a:blip r:embed="rId4"/>
          <a:stretch>
            <a:fillRect/>
          </a:stretch>
        </p:blipFill>
        <p:spPr>
          <a:xfrm>
            <a:off x="2277460" y="5263534"/>
            <a:ext cx="7353300" cy="1310687"/>
          </a:xfrm>
          <a:prstGeom prst="rect">
            <a:avLst/>
          </a:prstGeom>
        </p:spPr>
      </p:pic>
    </p:spTree>
    <p:extLst>
      <p:ext uri="{BB962C8B-B14F-4D97-AF65-F5344CB8AC3E}">
        <p14:creationId xmlns:p14="http://schemas.microsoft.com/office/powerpoint/2010/main" val="18916829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4400" dirty="0"/>
              <a:t>Amélioration des performances</a:t>
            </a:r>
          </a:p>
        </p:txBody>
      </p:sp>
      <p:sp>
        <p:nvSpPr>
          <p:cNvPr id="3" name="Espace réservé du contenu 2"/>
          <p:cNvSpPr>
            <a:spLocks noGrp="1"/>
          </p:cNvSpPr>
          <p:nvPr>
            <p:ph idx="1"/>
          </p:nvPr>
        </p:nvSpPr>
        <p:spPr/>
        <p:txBody>
          <a:bodyPr/>
          <a:lstStyle/>
          <a:p>
            <a:pPr algn="just">
              <a:lnSpc>
                <a:spcPct val="150000"/>
              </a:lnSpc>
            </a:pPr>
            <a:r>
              <a:rPr lang="fr-FR" b="1" dirty="0" err="1"/>
              <a:t>Angular</a:t>
            </a:r>
            <a:r>
              <a:rPr lang="fr-FR" dirty="0"/>
              <a:t> </a:t>
            </a:r>
            <a:r>
              <a:rPr lang="fr-FR" b="1" dirty="0"/>
              <a:t>15</a:t>
            </a:r>
            <a:r>
              <a:rPr lang="fr-FR" dirty="0"/>
              <a:t> introduit une </a:t>
            </a:r>
            <a:r>
              <a:rPr lang="fr-FR" b="1" dirty="0"/>
              <a:t>optimisation du </a:t>
            </a:r>
            <a:r>
              <a:rPr lang="fr-FR" b="1" dirty="0" err="1"/>
              <a:t>build</a:t>
            </a:r>
            <a:r>
              <a:rPr lang="fr-FR" dirty="0"/>
              <a:t> qui supprime les classes CSS non utilisées dans le projet </a:t>
            </a:r>
            <a:r>
              <a:rPr lang="fr-FR" dirty="0" smtClean="0"/>
              <a:t>:</a:t>
            </a:r>
          </a:p>
          <a:p>
            <a:pPr algn="just">
              <a:lnSpc>
                <a:spcPct val="150000"/>
              </a:lnSpc>
            </a:pPr>
            <a:endParaRPr lang="fr-FR" dirty="0"/>
          </a:p>
          <a:p>
            <a:pPr algn="just">
              <a:lnSpc>
                <a:spcPct val="150000"/>
              </a:lnSpc>
            </a:pPr>
            <a:r>
              <a:rPr lang="fr-FR" b="1" dirty="0"/>
              <a:t>Avantage</a:t>
            </a:r>
            <a:r>
              <a:rPr lang="fr-FR" dirty="0"/>
              <a:t> : Réduction significative de la taille du bundle CSS.</a:t>
            </a:r>
          </a:p>
        </p:txBody>
      </p:sp>
      <p:pic>
        <p:nvPicPr>
          <p:cNvPr id="4" name="Image 3"/>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5096367" y="2674555"/>
            <a:ext cx="3637730" cy="62043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8963464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2400" dirty="0"/>
              <a:t>Meilleure gestion du rendu SSR (Server-</a:t>
            </a:r>
            <a:r>
              <a:rPr lang="fr-FR" sz="2400" dirty="0" err="1"/>
              <a:t>Side</a:t>
            </a:r>
            <a:r>
              <a:rPr lang="fr-FR" sz="2400" dirty="0"/>
              <a:t> </a:t>
            </a:r>
            <a:r>
              <a:rPr lang="fr-FR" sz="2400" dirty="0" err="1"/>
              <a:t>Rendering</a:t>
            </a:r>
            <a:r>
              <a:rPr lang="fr-FR" sz="2400" dirty="0"/>
              <a:t>)</a:t>
            </a:r>
          </a:p>
        </p:txBody>
      </p:sp>
      <p:sp>
        <p:nvSpPr>
          <p:cNvPr id="3" name="Espace réservé du contenu 2"/>
          <p:cNvSpPr>
            <a:spLocks noGrp="1"/>
          </p:cNvSpPr>
          <p:nvPr>
            <p:ph idx="1"/>
          </p:nvPr>
        </p:nvSpPr>
        <p:spPr/>
        <p:txBody>
          <a:bodyPr/>
          <a:lstStyle/>
          <a:p>
            <a:pPr algn="just">
              <a:lnSpc>
                <a:spcPct val="150000"/>
              </a:lnSpc>
            </a:pPr>
            <a:r>
              <a:rPr lang="fr-FR" dirty="0"/>
              <a:t>Avec </a:t>
            </a:r>
            <a:r>
              <a:rPr lang="fr-FR" b="1" dirty="0" err="1"/>
              <a:t>Angular</a:t>
            </a:r>
            <a:r>
              <a:rPr lang="fr-FR" dirty="0"/>
              <a:t> </a:t>
            </a:r>
            <a:r>
              <a:rPr lang="fr-FR" b="1" dirty="0"/>
              <a:t>15</a:t>
            </a:r>
            <a:r>
              <a:rPr lang="fr-FR" dirty="0"/>
              <a:t>, l’amélioration du </a:t>
            </a:r>
            <a:r>
              <a:rPr lang="fr-FR" b="1" dirty="0"/>
              <a:t>Server-</a:t>
            </a:r>
            <a:r>
              <a:rPr lang="fr-FR" b="1" dirty="0" err="1"/>
              <a:t>Side</a:t>
            </a:r>
            <a:r>
              <a:rPr lang="fr-FR" b="1" dirty="0"/>
              <a:t> </a:t>
            </a:r>
            <a:r>
              <a:rPr lang="fr-FR" b="1" dirty="0" err="1"/>
              <a:t>Rendering</a:t>
            </a:r>
            <a:r>
              <a:rPr lang="fr-FR" b="1" dirty="0"/>
              <a:t> (SSR)</a:t>
            </a:r>
            <a:r>
              <a:rPr lang="fr-FR" dirty="0"/>
              <a:t> et du </a:t>
            </a:r>
            <a:r>
              <a:rPr lang="fr-FR" b="1" dirty="0" err="1"/>
              <a:t>hydration</a:t>
            </a:r>
            <a:r>
              <a:rPr lang="fr-FR" dirty="0"/>
              <a:t> permet un affichage plus rapide des pages</a:t>
            </a:r>
            <a:r>
              <a:rPr lang="fr-FR" dirty="0" smtClean="0"/>
              <a:t>.</a:t>
            </a:r>
          </a:p>
          <a:p>
            <a:pPr algn="just">
              <a:lnSpc>
                <a:spcPct val="150000"/>
              </a:lnSpc>
            </a:pPr>
            <a:r>
              <a:rPr lang="fr-FR" b="1" dirty="0"/>
              <a:t>Exemple</a:t>
            </a:r>
            <a:r>
              <a:rPr lang="fr-FR" dirty="0"/>
              <a:t> : Utilisation de l’optimisation SSR avec </a:t>
            </a:r>
            <a:r>
              <a:rPr lang="fr-FR" dirty="0" err="1"/>
              <a:t>Angular</a:t>
            </a:r>
            <a:r>
              <a:rPr lang="fr-FR" dirty="0"/>
              <a:t> Universal </a:t>
            </a:r>
            <a:r>
              <a:rPr lang="fr-FR" dirty="0" smtClean="0"/>
              <a:t>:</a:t>
            </a:r>
          </a:p>
          <a:p>
            <a:pPr algn="just">
              <a:lnSpc>
                <a:spcPct val="150000"/>
              </a:lnSpc>
            </a:pPr>
            <a:r>
              <a:rPr lang="fr-FR" b="1" dirty="0"/>
              <a:t>Avantage</a:t>
            </a:r>
            <a:r>
              <a:rPr lang="fr-FR" dirty="0"/>
              <a:t> : Amélioration des performances et du SEO.</a:t>
            </a:r>
          </a:p>
        </p:txBody>
      </p:sp>
      <p:pic>
        <p:nvPicPr>
          <p:cNvPr id="4" name="Image 3"/>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9112469" y="3137338"/>
            <a:ext cx="2790497" cy="63062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1542997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REACP ANGULAR 15</a:t>
            </a:r>
            <a:endParaRPr lang="fr-FR" dirty="0"/>
          </a:p>
        </p:txBody>
      </p:sp>
      <p:pic>
        <p:nvPicPr>
          <p:cNvPr id="4" name="Espace réservé du contenu 3"/>
          <p:cNvPicPr>
            <a:picLocks noGrp="1" noChangeAspect="1"/>
          </p:cNvPicPr>
          <p:nvPr>
            <p:ph idx="1"/>
          </p:nvPr>
        </p:nvPicPr>
        <p:blipFill>
          <a:blip r:embed="rId2"/>
          <a:stretch>
            <a:fillRect/>
          </a:stretch>
        </p:blipFill>
        <p:spPr>
          <a:xfrm>
            <a:off x="1450429" y="2093976"/>
            <a:ext cx="8702564" cy="405457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33056382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263915"/>
            <a:ext cx="10058400" cy="555892"/>
          </a:xfrm>
        </p:spPr>
        <p:txBody>
          <a:bodyPr>
            <a:normAutofit fontScale="90000"/>
          </a:bodyPr>
          <a:lstStyle/>
          <a:p>
            <a:pPr algn="ctr"/>
            <a:r>
              <a:rPr lang="fr-FR" dirty="0" err="1"/>
              <a:t>Angular</a:t>
            </a:r>
            <a:r>
              <a:rPr lang="fr-FR" dirty="0"/>
              <a:t> 16 (Mai 2023)</a:t>
            </a:r>
          </a:p>
        </p:txBody>
      </p:sp>
      <p:sp>
        <p:nvSpPr>
          <p:cNvPr id="3" name="Espace réservé du contenu 2"/>
          <p:cNvSpPr>
            <a:spLocks noGrp="1"/>
          </p:cNvSpPr>
          <p:nvPr>
            <p:ph idx="1"/>
          </p:nvPr>
        </p:nvSpPr>
        <p:spPr>
          <a:xfrm>
            <a:off x="1069848" y="1103586"/>
            <a:ext cx="10058400" cy="5068614"/>
          </a:xfrm>
        </p:spPr>
        <p:txBody>
          <a:bodyPr/>
          <a:lstStyle/>
          <a:p>
            <a:pPr algn="just">
              <a:lnSpc>
                <a:spcPct val="150000"/>
              </a:lnSpc>
            </a:pPr>
            <a:r>
              <a:rPr lang="fr-FR" b="1" dirty="0" err="1"/>
              <a:t>Signals</a:t>
            </a:r>
            <a:r>
              <a:rPr lang="fr-FR" dirty="0"/>
              <a:t> (en expérimental</a:t>
            </a:r>
            <a:r>
              <a:rPr lang="fr-FR" dirty="0" smtClean="0"/>
              <a:t>)</a:t>
            </a:r>
          </a:p>
          <a:p>
            <a:pPr lvl="1" algn="just">
              <a:lnSpc>
                <a:spcPct val="150000"/>
              </a:lnSpc>
            </a:pPr>
            <a:r>
              <a:rPr lang="fr-FR" dirty="0"/>
              <a:t>Introduction des </a:t>
            </a:r>
            <a:r>
              <a:rPr lang="fr-FR" b="1" dirty="0" err="1"/>
              <a:t>Signals</a:t>
            </a:r>
            <a:r>
              <a:rPr lang="fr-FR" dirty="0"/>
              <a:t>, une nouvelle approche pour la gestion des états réactifs, remplaçant </a:t>
            </a:r>
            <a:r>
              <a:rPr lang="fr-FR" b="1" dirty="0" err="1"/>
              <a:t>RxJS</a:t>
            </a:r>
            <a:r>
              <a:rPr lang="fr-FR" dirty="0"/>
              <a:t> dans certains cas</a:t>
            </a:r>
            <a:r>
              <a:rPr lang="fr-FR" dirty="0" smtClean="0"/>
              <a:t>.</a:t>
            </a:r>
          </a:p>
          <a:p>
            <a:pPr lvl="1" algn="just">
              <a:lnSpc>
                <a:spcPct val="150000"/>
              </a:lnSpc>
            </a:pPr>
            <a:r>
              <a:rPr lang="fr-FR" b="1" dirty="0" err="1"/>
              <a:t>computed</a:t>
            </a:r>
            <a:r>
              <a:rPr lang="fr-FR" dirty="0"/>
              <a:t>(), </a:t>
            </a:r>
            <a:r>
              <a:rPr lang="fr-FR" b="1" dirty="0" err="1"/>
              <a:t>effect</a:t>
            </a:r>
            <a:r>
              <a:rPr lang="fr-FR" dirty="0"/>
              <a:t>() et </a:t>
            </a:r>
            <a:r>
              <a:rPr lang="fr-FR" b="1" dirty="0"/>
              <a:t>signal</a:t>
            </a:r>
            <a:r>
              <a:rPr lang="fr-FR" dirty="0"/>
              <a:t>() pour gérer les changements d’état sans </a:t>
            </a:r>
            <a:r>
              <a:rPr lang="fr-FR" b="1" dirty="0" err="1"/>
              <a:t>EventEmitter</a:t>
            </a:r>
            <a:r>
              <a:rPr lang="fr-FR" dirty="0" smtClean="0"/>
              <a:t>.</a:t>
            </a:r>
          </a:p>
          <a:p>
            <a:pPr algn="just">
              <a:lnSpc>
                <a:spcPct val="150000"/>
              </a:lnSpc>
            </a:pPr>
            <a:r>
              <a:rPr lang="fr-FR" dirty="0"/>
              <a:t>Améliorations du </a:t>
            </a:r>
            <a:r>
              <a:rPr lang="fr-FR" b="1" dirty="0"/>
              <a:t>Server-</a:t>
            </a:r>
            <a:r>
              <a:rPr lang="fr-FR" b="1" dirty="0" err="1"/>
              <a:t>Side</a:t>
            </a:r>
            <a:r>
              <a:rPr lang="fr-FR" b="1" dirty="0"/>
              <a:t> </a:t>
            </a:r>
            <a:r>
              <a:rPr lang="fr-FR" b="1" dirty="0" err="1"/>
              <a:t>Rendering</a:t>
            </a:r>
            <a:r>
              <a:rPr lang="fr-FR" b="1" dirty="0"/>
              <a:t> (SSR</a:t>
            </a:r>
            <a:r>
              <a:rPr lang="fr-FR" b="1" dirty="0" smtClean="0"/>
              <a:t>)</a:t>
            </a:r>
          </a:p>
          <a:p>
            <a:pPr lvl="1" algn="just">
              <a:lnSpc>
                <a:spcPct val="150000"/>
              </a:lnSpc>
            </a:pPr>
            <a:r>
              <a:rPr lang="fr-FR" dirty="0"/>
              <a:t>Amélioration de </a:t>
            </a:r>
            <a:r>
              <a:rPr lang="fr-FR" dirty="0" err="1"/>
              <a:t>Hydration</a:t>
            </a:r>
            <a:r>
              <a:rPr lang="fr-FR" dirty="0"/>
              <a:t> pour rendre les applications plus performantes</a:t>
            </a:r>
            <a:r>
              <a:rPr lang="fr-FR" dirty="0" smtClean="0"/>
              <a:t>.</a:t>
            </a:r>
          </a:p>
          <a:p>
            <a:pPr algn="just">
              <a:lnSpc>
                <a:spcPct val="150000"/>
              </a:lnSpc>
            </a:pPr>
            <a:r>
              <a:rPr lang="fr-FR" b="1" dirty="0" err="1"/>
              <a:t>Standalone</a:t>
            </a:r>
            <a:r>
              <a:rPr lang="fr-FR" dirty="0"/>
              <a:t> APIs </a:t>
            </a:r>
            <a:r>
              <a:rPr lang="fr-FR" dirty="0" smtClean="0"/>
              <a:t>améliorées</a:t>
            </a:r>
          </a:p>
          <a:p>
            <a:pPr lvl="1" algn="just">
              <a:lnSpc>
                <a:spcPct val="150000"/>
              </a:lnSpc>
            </a:pPr>
            <a:r>
              <a:rPr lang="fr-FR" dirty="0"/>
              <a:t>API de formulaire améliorée avec </a:t>
            </a:r>
            <a:r>
              <a:rPr lang="fr-FR" b="1" dirty="0" err="1"/>
              <a:t>Standalone</a:t>
            </a:r>
            <a:r>
              <a:rPr lang="fr-FR" b="1" dirty="0"/>
              <a:t> </a:t>
            </a:r>
            <a:r>
              <a:rPr lang="fr-FR" b="1" dirty="0" err="1"/>
              <a:t>Forms</a:t>
            </a:r>
            <a:r>
              <a:rPr lang="fr-FR" dirty="0" smtClean="0"/>
              <a:t>.</a:t>
            </a:r>
          </a:p>
          <a:p>
            <a:pPr lvl="1" algn="just">
              <a:lnSpc>
                <a:spcPct val="150000"/>
              </a:lnSpc>
            </a:pPr>
            <a:r>
              <a:rPr lang="fr-FR" dirty="0"/>
              <a:t>Simplification de la configuration des routes et des services.</a:t>
            </a:r>
          </a:p>
        </p:txBody>
      </p:sp>
    </p:spTree>
    <p:extLst>
      <p:ext uri="{BB962C8B-B14F-4D97-AF65-F5344CB8AC3E}">
        <p14:creationId xmlns:p14="http://schemas.microsoft.com/office/powerpoint/2010/main" val="282638598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err="1"/>
              <a:t>Signals</a:t>
            </a:r>
            <a:r>
              <a:rPr lang="fr-FR" dirty="0"/>
              <a:t> (expérimental)</a:t>
            </a:r>
          </a:p>
        </p:txBody>
      </p:sp>
      <p:sp>
        <p:nvSpPr>
          <p:cNvPr id="3" name="Espace réservé du contenu 2"/>
          <p:cNvSpPr>
            <a:spLocks noGrp="1"/>
          </p:cNvSpPr>
          <p:nvPr>
            <p:ph idx="1"/>
          </p:nvPr>
        </p:nvSpPr>
        <p:spPr/>
        <p:txBody>
          <a:bodyPr/>
          <a:lstStyle/>
          <a:p>
            <a:pPr algn="just">
              <a:lnSpc>
                <a:spcPct val="150000"/>
              </a:lnSpc>
            </a:pPr>
            <a:r>
              <a:rPr lang="fr-FR" dirty="0"/>
              <a:t>Qu'est-ce qu'un Signal </a:t>
            </a:r>
            <a:r>
              <a:rPr lang="fr-FR" dirty="0" smtClean="0"/>
              <a:t>?</a:t>
            </a:r>
          </a:p>
          <a:p>
            <a:pPr lvl="1" algn="just">
              <a:lnSpc>
                <a:spcPct val="150000"/>
              </a:lnSpc>
            </a:pPr>
            <a:r>
              <a:rPr lang="fr-FR" dirty="0"/>
              <a:t>Un </a:t>
            </a:r>
            <a:r>
              <a:rPr lang="fr-FR" b="1" dirty="0"/>
              <a:t>Signal</a:t>
            </a:r>
            <a:r>
              <a:rPr lang="fr-FR" dirty="0"/>
              <a:t> est une nouvelle manière de gérer la réactivité dans </a:t>
            </a:r>
            <a:r>
              <a:rPr lang="fr-FR" b="1" dirty="0" err="1"/>
              <a:t>Angular</a:t>
            </a:r>
            <a:r>
              <a:rPr lang="fr-FR" dirty="0"/>
              <a:t>, </a:t>
            </a:r>
            <a:r>
              <a:rPr lang="fr-FR" b="1" dirty="0"/>
              <a:t>alternative à </a:t>
            </a:r>
            <a:r>
              <a:rPr lang="fr-FR" b="1" dirty="0" err="1"/>
              <a:t>RxJS</a:t>
            </a:r>
            <a:r>
              <a:rPr lang="fr-FR" dirty="0"/>
              <a:t> dans certains cas</a:t>
            </a:r>
            <a:r>
              <a:rPr lang="fr-FR" dirty="0" smtClean="0"/>
              <a:t>.</a:t>
            </a:r>
          </a:p>
          <a:p>
            <a:pPr lvl="1" algn="just">
              <a:lnSpc>
                <a:spcPct val="150000"/>
              </a:lnSpc>
            </a:pPr>
            <a:r>
              <a:rPr lang="fr-FR" dirty="0"/>
              <a:t>Avec les </a:t>
            </a:r>
            <a:r>
              <a:rPr lang="fr-FR" b="1" dirty="0" err="1"/>
              <a:t>Signals</a:t>
            </a:r>
            <a:r>
              <a:rPr lang="fr-FR" dirty="0"/>
              <a:t>, plus besoin </a:t>
            </a:r>
            <a:r>
              <a:rPr lang="fr-FR" b="1" dirty="0"/>
              <a:t>d’</a:t>
            </a:r>
            <a:r>
              <a:rPr lang="fr-FR" b="1" dirty="0" err="1"/>
              <a:t>EventEmitter</a:t>
            </a:r>
            <a:r>
              <a:rPr lang="fr-FR" dirty="0"/>
              <a:t>, d</a:t>
            </a:r>
            <a:r>
              <a:rPr lang="fr-FR" b="1" dirty="0"/>
              <a:t>’@Input() </a:t>
            </a:r>
            <a:r>
              <a:rPr lang="fr-FR" dirty="0"/>
              <a:t>ou </a:t>
            </a:r>
            <a:r>
              <a:rPr lang="fr-FR" b="1" dirty="0"/>
              <a:t>d’</a:t>
            </a:r>
            <a:r>
              <a:rPr lang="fr-FR" b="1" dirty="0" err="1"/>
              <a:t>RxJS</a:t>
            </a:r>
            <a:r>
              <a:rPr lang="fr-FR" b="1" dirty="0"/>
              <a:t> </a:t>
            </a:r>
            <a:r>
              <a:rPr lang="fr-FR" b="1" dirty="0" err="1"/>
              <a:t>BehaviorSubject</a:t>
            </a:r>
            <a:r>
              <a:rPr lang="fr-FR" b="1" dirty="0"/>
              <a:t> </a:t>
            </a:r>
            <a:r>
              <a:rPr lang="fr-FR" dirty="0"/>
              <a:t>pour gérer les changements d’état.</a:t>
            </a:r>
          </a:p>
        </p:txBody>
      </p:sp>
    </p:spTree>
    <p:extLst>
      <p:ext uri="{BB962C8B-B14F-4D97-AF65-F5344CB8AC3E}">
        <p14:creationId xmlns:p14="http://schemas.microsoft.com/office/powerpoint/2010/main" val="8647429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4400" dirty="0"/>
              <a:t>Principales Fonctions des </a:t>
            </a:r>
            <a:r>
              <a:rPr lang="fr-FR" sz="4400" dirty="0" err="1"/>
              <a:t>Signals</a:t>
            </a:r>
            <a:endParaRPr lang="fr-FR" sz="4400" dirty="0"/>
          </a:p>
        </p:txBody>
      </p:sp>
      <p:sp>
        <p:nvSpPr>
          <p:cNvPr id="3" name="Espace réservé du contenu 2"/>
          <p:cNvSpPr>
            <a:spLocks noGrp="1"/>
          </p:cNvSpPr>
          <p:nvPr>
            <p:ph idx="1"/>
          </p:nvPr>
        </p:nvSpPr>
        <p:spPr>
          <a:xfrm>
            <a:off x="441434" y="2121408"/>
            <a:ext cx="10686814" cy="4050792"/>
          </a:xfrm>
        </p:spPr>
        <p:txBody>
          <a:bodyPr>
            <a:normAutofit/>
          </a:bodyPr>
          <a:lstStyle/>
          <a:p>
            <a:pPr algn="just">
              <a:lnSpc>
                <a:spcPct val="200000"/>
              </a:lnSpc>
            </a:pPr>
            <a:r>
              <a:rPr lang="fr-FR" sz="2400" b="1" dirty="0"/>
              <a:t>signal&lt;T&gt;(</a:t>
            </a:r>
            <a:r>
              <a:rPr lang="fr-FR" sz="2400" b="1" dirty="0" err="1"/>
              <a:t>valeurInitiale</a:t>
            </a:r>
            <a:r>
              <a:rPr lang="fr-FR" sz="2400" b="1" dirty="0"/>
              <a:t>) </a:t>
            </a:r>
            <a:r>
              <a:rPr lang="fr-FR" sz="2400" dirty="0"/>
              <a:t>→ Crée un signal réactif</a:t>
            </a:r>
            <a:r>
              <a:rPr lang="fr-FR" sz="2400" dirty="0" smtClean="0"/>
              <a:t>.</a:t>
            </a:r>
          </a:p>
          <a:p>
            <a:pPr algn="just">
              <a:lnSpc>
                <a:spcPct val="200000"/>
              </a:lnSpc>
            </a:pPr>
            <a:r>
              <a:rPr lang="fr-FR" sz="2400" b="1" dirty="0" err="1"/>
              <a:t>computed</a:t>
            </a:r>
            <a:r>
              <a:rPr lang="fr-FR" sz="2400" b="1" dirty="0"/>
              <a:t>(() =&gt; ...) </a:t>
            </a:r>
            <a:r>
              <a:rPr lang="fr-FR" sz="2400" dirty="0"/>
              <a:t>→ Génère une valeur basée sur d’autres signaux</a:t>
            </a:r>
            <a:r>
              <a:rPr lang="fr-FR" sz="2400" dirty="0" smtClean="0"/>
              <a:t>.</a:t>
            </a:r>
          </a:p>
          <a:p>
            <a:pPr algn="just">
              <a:lnSpc>
                <a:spcPct val="200000"/>
              </a:lnSpc>
            </a:pPr>
            <a:r>
              <a:rPr lang="fr-FR" sz="2400" b="1" dirty="0" err="1"/>
              <a:t>effect</a:t>
            </a:r>
            <a:r>
              <a:rPr lang="fr-FR" sz="2400" b="1" dirty="0"/>
              <a:t>(() =&gt; { ... }) </a:t>
            </a:r>
            <a:r>
              <a:rPr lang="fr-FR" sz="2400" dirty="0"/>
              <a:t>→ Exécute une fonction lorsque les signaux utilisés à l'intérieur changent.</a:t>
            </a:r>
          </a:p>
        </p:txBody>
      </p:sp>
    </p:spTree>
    <p:extLst>
      <p:ext uri="{BB962C8B-B14F-4D97-AF65-F5344CB8AC3E}">
        <p14:creationId xmlns:p14="http://schemas.microsoft.com/office/powerpoint/2010/main" val="123055677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a:t>Déclaration d'un Signal</a:t>
            </a:r>
          </a:p>
        </p:txBody>
      </p:sp>
      <p:sp>
        <p:nvSpPr>
          <p:cNvPr id="3" name="Espace réservé du contenu 2"/>
          <p:cNvSpPr>
            <a:spLocks noGrp="1"/>
          </p:cNvSpPr>
          <p:nvPr>
            <p:ph idx="1"/>
          </p:nvPr>
        </p:nvSpPr>
        <p:spPr>
          <a:xfrm>
            <a:off x="7535918" y="2121408"/>
            <a:ext cx="4004442" cy="4050792"/>
          </a:xfrm>
        </p:spPr>
        <p:txBody>
          <a:bodyPr/>
          <a:lstStyle/>
          <a:p>
            <a:pPr>
              <a:lnSpc>
                <a:spcPct val="200000"/>
              </a:lnSpc>
            </a:pPr>
            <a:r>
              <a:rPr lang="fr-FR" dirty="0"/>
              <a:t>Avantage : Plus besoin de </a:t>
            </a:r>
            <a:r>
              <a:rPr lang="fr-FR" b="1" dirty="0" err="1"/>
              <a:t>BehaviorSubject</a:t>
            </a:r>
            <a:r>
              <a:rPr lang="fr-FR" dirty="0"/>
              <a:t> ou @</a:t>
            </a:r>
            <a:r>
              <a:rPr lang="fr-FR" b="1" dirty="0"/>
              <a:t>Input</a:t>
            </a:r>
            <a:r>
              <a:rPr lang="fr-FR" dirty="0"/>
              <a:t>() + </a:t>
            </a:r>
            <a:r>
              <a:rPr lang="fr-FR" b="1" dirty="0" err="1"/>
              <a:t>EventEmitter</a:t>
            </a:r>
            <a:r>
              <a:rPr lang="fr-FR" dirty="0"/>
              <a:t> !</a:t>
            </a:r>
          </a:p>
        </p:txBody>
      </p:sp>
      <p:pic>
        <p:nvPicPr>
          <p:cNvPr id="4" name="Image 3"/>
          <p:cNvPicPr>
            <a:picLocks noChangeAspect="1"/>
          </p:cNvPicPr>
          <p:nvPr/>
        </p:nvPicPr>
        <p:blipFill>
          <a:blip r:embed="rId2">
            <a:duotone>
              <a:prstClr val="black"/>
              <a:schemeClr val="accent1">
                <a:tint val="45000"/>
                <a:satMod val="400000"/>
              </a:schemeClr>
            </a:duotone>
          </a:blip>
          <a:stretch>
            <a:fillRect/>
          </a:stretch>
        </p:blipFill>
        <p:spPr>
          <a:xfrm>
            <a:off x="1590674" y="2070328"/>
            <a:ext cx="5740291" cy="248262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5" name="Image 4"/>
          <p:cNvPicPr>
            <a:picLocks noChangeAspect="1"/>
          </p:cNvPicPr>
          <p:nvPr/>
        </p:nvPicPr>
        <p:blipFill>
          <a:blip r:embed="rId3">
            <a:duotone>
              <a:prstClr val="black"/>
              <a:schemeClr val="accent1">
                <a:tint val="45000"/>
                <a:satMod val="400000"/>
              </a:schemeClr>
            </a:duotone>
          </a:blip>
          <a:stretch>
            <a:fillRect/>
          </a:stretch>
        </p:blipFill>
        <p:spPr>
          <a:xfrm>
            <a:off x="1590674" y="4826824"/>
            <a:ext cx="5740291" cy="131182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2404053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200853"/>
            <a:ext cx="10058400" cy="713547"/>
          </a:xfrm>
        </p:spPr>
        <p:txBody>
          <a:bodyPr>
            <a:normAutofit fontScale="90000"/>
          </a:bodyPr>
          <a:lstStyle/>
          <a:p>
            <a:pPr algn="ctr"/>
            <a:r>
              <a:rPr lang="fr-FR" dirty="0" err="1"/>
              <a:t>computed</a:t>
            </a:r>
            <a:r>
              <a:rPr lang="fr-FR" dirty="0"/>
              <a:t>() : Signal dérivé</a:t>
            </a:r>
          </a:p>
        </p:txBody>
      </p:sp>
      <p:sp>
        <p:nvSpPr>
          <p:cNvPr id="3" name="Espace réservé du contenu 2"/>
          <p:cNvSpPr>
            <a:spLocks noGrp="1"/>
          </p:cNvSpPr>
          <p:nvPr>
            <p:ph idx="1"/>
          </p:nvPr>
        </p:nvSpPr>
        <p:spPr>
          <a:xfrm>
            <a:off x="1069848" y="1932222"/>
            <a:ext cx="10058400" cy="4050792"/>
          </a:xfrm>
        </p:spPr>
        <p:txBody>
          <a:bodyPr/>
          <a:lstStyle/>
          <a:p>
            <a:r>
              <a:rPr lang="fr-FR" dirty="0"/>
              <a:t>Crée une valeur qui dépend d’un autre signal </a:t>
            </a:r>
            <a:r>
              <a:rPr lang="fr-FR" dirty="0" smtClean="0"/>
              <a:t>:</a:t>
            </a:r>
          </a:p>
          <a:p>
            <a:endParaRPr lang="fr-FR" dirty="0"/>
          </a:p>
          <a:p>
            <a:endParaRPr lang="fr-FR" dirty="0" smtClean="0"/>
          </a:p>
          <a:p>
            <a:endParaRPr lang="fr-FR" dirty="0"/>
          </a:p>
          <a:p>
            <a:r>
              <a:rPr lang="fr-FR" dirty="0"/>
              <a:t>Dans le </a:t>
            </a:r>
            <a:r>
              <a:rPr lang="fr-FR" dirty="0" smtClean="0"/>
              <a:t>Template :</a:t>
            </a:r>
          </a:p>
          <a:p>
            <a:endParaRPr lang="fr-FR" dirty="0"/>
          </a:p>
          <a:p>
            <a:endParaRPr lang="fr-FR" dirty="0" smtClean="0"/>
          </a:p>
          <a:p>
            <a:r>
              <a:rPr lang="fr-FR" dirty="0"/>
              <a:t>Avantage : Plus besoin de </a:t>
            </a:r>
            <a:r>
              <a:rPr lang="fr-FR" b="1" dirty="0" err="1"/>
              <a:t>RxJS</a:t>
            </a:r>
            <a:r>
              <a:rPr lang="fr-FR" dirty="0"/>
              <a:t> </a:t>
            </a:r>
            <a:r>
              <a:rPr lang="fr-FR" b="1" dirty="0" err="1"/>
              <a:t>combineLatest</a:t>
            </a:r>
            <a:r>
              <a:rPr lang="fr-FR" dirty="0"/>
              <a:t>() ou </a:t>
            </a:r>
            <a:r>
              <a:rPr lang="fr-FR" b="1" dirty="0" err="1"/>
              <a:t>map</a:t>
            </a:r>
            <a:r>
              <a:rPr lang="fr-FR" dirty="0"/>
              <a:t>().</a:t>
            </a:r>
          </a:p>
        </p:txBody>
      </p:sp>
      <p:pic>
        <p:nvPicPr>
          <p:cNvPr id="5" name="Image 4"/>
          <p:cNvPicPr>
            <a:picLocks noChangeAspect="1"/>
          </p:cNvPicPr>
          <p:nvPr/>
        </p:nvPicPr>
        <p:blipFill>
          <a:blip r:embed="rId2">
            <a:duotone>
              <a:prstClr val="black"/>
              <a:schemeClr val="accent1">
                <a:tint val="45000"/>
                <a:satMod val="400000"/>
              </a:schemeClr>
            </a:duotone>
          </a:blip>
          <a:stretch>
            <a:fillRect/>
          </a:stretch>
        </p:blipFill>
        <p:spPr>
          <a:xfrm>
            <a:off x="6769976" y="1053006"/>
            <a:ext cx="5158414" cy="244694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6" name="Image 5"/>
          <p:cNvPicPr>
            <a:picLocks noChangeAspect="1"/>
          </p:cNvPicPr>
          <p:nvPr/>
        </p:nvPicPr>
        <p:blipFill>
          <a:blip r:embed="rId3">
            <a:duotone>
              <a:prstClr val="black"/>
              <a:schemeClr val="accent1">
                <a:tint val="45000"/>
                <a:satMod val="400000"/>
              </a:schemeClr>
            </a:duotone>
          </a:blip>
          <a:stretch>
            <a:fillRect/>
          </a:stretch>
        </p:blipFill>
        <p:spPr>
          <a:xfrm>
            <a:off x="6769976" y="3700115"/>
            <a:ext cx="5158414" cy="54658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14988311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2800" dirty="0" err="1"/>
              <a:t>effect</a:t>
            </a:r>
            <a:r>
              <a:rPr lang="fr-FR" sz="2800" dirty="0"/>
              <a:t>() : Exécuter un effet sur changement de signal</a:t>
            </a:r>
          </a:p>
        </p:txBody>
      </p:sp>
      <p:sp>
        <p:nvSpPr>
          <p:cNvPr id="3" name="Espace réservé du contenu 2"/>
          <p:cNvSpPr>
            <a:spLocks noGrp="1"/>
          </p:cNvSpPr>
          <p:nvPr>
            <p:ph idx="1"/>
          </p:nvPr>
        </p:nvSpPr>
        <p:spPr>
          <a:xfrm>
            <a:off x="6522510" y="2093976"/>
            <a:ext cx="4605738" cy="4050792"/>
          </a:xfrm>
        </p:spPr>
        <p:txBody>
          <a:bodyPr/>
          <a:lstStyle/>
          <a:p>
            <a:pPr algn="just">
              <a:lnSpc>
                <a:spcPct val="200000"/>
              </a:lnSpc>
            </a:pPr>
            <a:r>
              <a:rPr lang="fr-FR" dirty="0"/>
              <a:t>Avantage : Éviter </a:t>
            </a:r>
            <a:r>
              <a:rPr lang="fr-FR" b="1" dirty="0" err="1"/>
              <a:t>RxJS</a:t>
            </a:r>
            <a:r>
              <a:rPr lang="fr-FR" dirty="0"/>
              <a:t> </a:t>
            </a:r>
            <a:r>
              <a:rPr lang="fr-FR" b="1" dirty="0" err="1"/>
              <a:t>subscribe</a:t>
            </a:r>
            <a:r>
              <a:rPr lang="fr-FR" dirty="0"/>
              <a:t>() et gérer les changements d’état de façon plus simple.</a:t>
            </a:r>
          </a:p>
        </p:txBody>
      </p:sp>
      <p:pic>
        <p:nvPicPr>
          <p:cNvPr id="5" name="Image 4"/>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1252866" y="2093976"/>
            <a:ext cx="4974513" cy="405079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95540450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3200" dirty="0"/>
              <a:t>Améliorations du Server-</a:t>
            </a:r>
            <a:r>
              <a:rPr lang="fr-FR" sz="3200" dirty="0" err="1"/>
              <a:t>Side</a:t>
            </a:r>
            <a:r>
              <a:rPr lang="fr-FR" sz="3200" dirty="0"/>
              <a:t> </a:t>
            </a:r>
            <a:r>
              <a:rPr lang="fr-FR" sz="3200" dirty="0" err="1"/>
              <a:t>Rendering</a:t>
            </a:r>
            <a:r>
              <a:rPr lang="fr-FR" sz="3200" dirty="0"/>
              <a:t> (SSR)</a:t>
            </a:r>
          </a:p>
        </p:txBody>
      </p:sp>
      <p:sp>
        <p:nvSpPr>
          <p:cNvPr id="3" name="Espace réservé du contenu 2"/>
          <p:cNvSpPr>
            <a:spLocks noGrp="1"/>
          </p:cNvSpPr>
          <p:nvPr>
            <p:ph idx="1"/>
          </p:nvPr>
        </p:nvSpPr>
        <p:spPr>
          <a:xfrm>
            <a:off x="1069848" y="2121408"/>
            <a:ext cx="10058400" cy="4342454"/>
          </a:xfrm>
        </p:spPr>
        <p:txBody>
          <a:bodyPr>
            <a:normAutofit/>
          </a:bodyPr>
          <a:lstStyle/>
          <a:p>
            <a:r>
              <a:rPr lang="fr-FR" b="1" dirty="0"/>
              <a:t>Optimisation du </a:t>
            </a:r>
            <a:r>
              <a:rPr lang="fr-FR" b="1" dirty="0" err="1"/>
              <a:t>Hydration</a:t>
            </a:r>
            <a:r>
              <a:rPr lang="fr-FR" dirty="0"/>
              <a:t> → Réduit le travail du navigateur en évitant de recréer le DOM côté client</a:t>
            </a:r>
            <a:r>
              <a:rPr lang="fr-FR" dirty="0" smtClean="0"/>
              <a:t>.</a:t>
            </a:r>
          </a:p>
          <a:p>
            <a:r>
              <a:rPr lang="fr-FR" b="1" dirty="0"/>
              <a:t>Meilleure compatibilité avec les </a:t>
            </a:r>
            <a:r>
              <a:rPr lang="fr-FR" b="1" dirty="0" err="1"/>
              <a:t>Standalone</a:t>
            </a:r>
            <a:r>
              <a:rPr lang="fr-FR" b="1" dirty="0"/>
              <a:t> Components.</a:t>
            </a:r>
            <a:endParaRPr lang="fr-FR" dirty="0"/>
          </a:p>
          <a:p>
            <a:r>
              <a:rPr lang="fr-FR" dirty="0"/>
              <a:t>Exemple : Activer le </a:t>
            </a:r>
            <a:r>
              <a:rPr lang="fr-FR" dirty="0" smtClean="0"/>
              <a:t>SSR</a:t>
            </a:r>
          </a:p>
          <a:p>
            <a:pPr lvl="1"/>
            <a:r>
              <a:rPr lang="fr-FR" dirty="0"/>
              <a:t>Ajouter </a:t>
            </a:r>
            <a:r>
              <a:rPr lang="fr-FR" dirty="0" err="1"/>
              <a:t>Angular</a:t>
            </a:r>
            <a:r>
              <a:rPr lang="fr-FR" dirty="0"/>
              <a:t> Universal </a:t>
            </a:r>
            <a:r>
              <a:rPr lang="fr-FR" dirty="0" smtClean="0"/>
              <a:t>:</a:t>
            </a:r>
          </a:p>
          <a:p>
            <a:pPr lvl="1"/>
            <a:endParaRPr lang="fr-FR" dirty="0"/>
          </a:p>
          <a:p>
            <a:pPr lvl="1"/>
            <a:r>
              <a:rPr lang="fr-FR" dirty="0" err="1"/>
              <a:t>Hydration</a:t>
            </a:r>
            <a:r>
              <a:rPr lang="fr-FR" dirty="0"/>
              <a:t> automatique :Dans </a:t>
            </a:r>
            <a:r>
              <a:rPr lang="fr-FR" dirty="0" err="1"/>
              <a:t>main.ts</a:t>
            </a:r>
            <a:r>
              <a:rPr lang="fr-FR" dirty="0"/>
              <a:t> </a:t>
            </a:r>
            <a:r>
              <a:rPr lang="fr-FR" dirty="0" smtClean="0"/>
              <a:t>:</a:t>
            </a:r>
          </a:p>
          <a:p>
            <a:pPr lvl="1"/>
            <a:endParaRPr lang="fr-FR" dirty="0" smtClean="0"/>
          </a:p>
          <a:p>
            <a:pPr lvl="1"/>
            <a:endParaRPr lang="fr-FR" dirty="0"/>
          </a:p>
          <a:p>
            <a:pPr lvl="1"/>
            <a:endParaRPr lang="fr-FR" dirty="0" smtClean="0"/>
          </a:p>
          <a:p>
            <a:pPr lvl="1"/>
            <a:endParaRPr lang="fr-FR" dirty="0"/>
          </a:p>
          <a:p>
            <a:pPr lvl="1"/>
            <a:r>
              <a:rPr lang="fr-FR" b="1" dirty="0"/>
              <a:t>Avantage</a:t>
            </a:r>
            <a:r>
              <a:rPr lang="fr-FR" dirty="0"/>
              <a:t> : Chargement plus rapide des applications </a:t>
            </a:r>
            <a:r>
              <a:rPr lang="fr-FR" dirty="0" err="1"/>
              <a:t>Angular</a:t>
            </a:r>
            <a:r>
              <a:rPr lang="fr-FR" dirty="0"/>
              <a:t>.</a:t>
            </a:r>
          </a:p>
        </p:txBody>
      </p:sp>
      <p:pic>
        <p:nvPicPr>
          <p:cNvPr id="4" name="Image 3"/>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4976155" y="3327510"/>
            <a:ext cx="3269211" cy="67791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6" name="Image 5"/>
          <p:cNvPicPr>
            <a:picLocks noChangeAspect="1"/>
          </p:cNvPicPr>
          <p:nvPr/>
        </p:nvPicPr>
        <p:blipFill>
          <a:blip r:embed="rId4">
            <a:extLst>
              <a:ext uri="{BEBA8EAE-BF5A-486C-A8C5-ECC9F3942E4B}">
                <a14:imgProps xmlns:a14="http://schemas.microsoft.com/office/drawing/2010/main">
                  <a14:imgLayer r:embed="rId5">
                    <a14:imgEffect>
                      <a14:colorTemperature colorTemp="4700"/>
                    </a14:imgEffect>
                  </a14:imgLayer>
                </a14:imgProps>
              </a:ext>
            </a:extLst>
          </a:blip>
          <a:stretch>
            <a:fillRect/>
          </a:stretch>
        </p:blipFill>
        <p:spPr>
          <a:xfrm>
            <a:off x="5869863" y="4146331"/>
            <a:ext cx="5134468" cy="145042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04303835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2800" dirty="0"/>
              <a:t>Amélioration des formulaires avec </a:t>
            </a:r>
            <a:r>
              <a:rPr lang="fr-FR" sz="2800" dirty="0" err="1"/>
              <a:t>Standalone</a:t>
            </a:r>
            <a:r>
              <a:rPr lang="fr-FR" sz="2800" dirty="0"/>
              <a:t> </a:t>
            </a:r>
            <a:r>
              <a:rPr lang="fr-FR" sz="2800" dirty="0" err="1"/>
              <a:t>Forms</a:t>
            </a:r>
            <a:endParaRPr lang="fr-FR" sz="2800" dirty="0"/>
          </a:p>
        </p:txBody>
      </p:sp>
      <p:sp>
        <p:nvSpPr>
          <p:cNvPr id="3" name="Espace réservé du contenu 2"/>
          <p:cNvSpPr>
            <a:spLocks noGrp="1"/>
          </p:cNvSpPr>
          <p:nvPr>
            <p:ph idx="1"/>
          </p:nvPr>
        </p:nvSpPr>
        <p:spPr/>
        <p:txBody>
          <a:bodyPr>
            <a:normAutofit/>
          </a:bodyPr>
          <a:lstStyle/>
          <a:p>
            <a:pPr algn="just">
              <a:lnSpc>
                <a:spcPct val="200000"/>
              </a:lnSpc>
            </a:pPr>
            <a:r>
              <a:rPr lang="fr-FR" sz="2800" dirty="0"/>
              <a:t>Avant, il fallait importer </a:t>
            </a:r>
            <a:r>
              <a:rPr lang="fr-FR" sz="2800" b="1" dirty="0" err="1"/>
              <a:t>FormsModule</a:t>
            </a:r>
            <a:r>
              <a:rPr lang="fr-FR" sz="2800" dirty="0"/>
              <a:t> ou </a:t>
            </a:r>
            <a:r>
              <a:rPr lang="fr-FR" sz="2800" b="1" dirty="0" err="1"/>
              <a:t>ReactiveFormsModule</a:t>
            </a:r>
            <a:r>
              <a:rPr lang="fr-FR" sz="2800" dirty="0"/>
              <a:t> dans </a:t>
            </a:r>
            <a:r>
              <a:rPr lang="fr-FR" sz="2800" b="1" dirty="0" err="1"/>
              <a:t>NgModule.Maintenant</a:t>
            </a:r>
            <a:r>
              <a:rPr lang="fr-FR" sz="2800" dirty="0"/>
              <a:t>, on peut importer directement les directives de formulaire.</a:t>
            </a:r>
          </a:p>
        </p:txBody>
      </p:sp>
    </p:spTree>
    <p:extLst>
      <p:ext uri="{BB962C8B-B14F-4D97-AF65-F5344CB8AC3E}">
        <p14:creationId xmlns:p14="http://schemas.microsoft.com/office/powerpoint/2010/main" val="224119595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4000" dirty="0"/>
              <a:t>Résumé des nouveautés d'</a:t>
            </a:r>
            <a:r>
              <a:rPr lang="fr-FR" sz="4000" dirty="0" err="1"/>
              <a:t>Angular</a:t>
            </a:r>
            <a:r>
              <a:rPr lang="fr-FR" sz="4000" dirty="0"/>
              <a:t> 16</a:t>
            </a:r>
          </a:p>
        </p:txBody>
      </p:sp>
      <p:pic>
        <p:nvPicPr>
          <p:cNvPr id="4" name="Espace réservé du contenu 3"/>
          <p:cNvPicPr>
            <a:picLocks noGrp="1" noChangeAspect="1"/>
          </p:cNvPicPr>
          <p:nvPr>
            <p:ph idx="1"/>
          </p:nvPr>
        </p:nvPicPr>
        <p:blipFill>
          <a:blip r:embed="rId2"/>
          <a:stretch>
            <a:fillRect/>
          </a:stretch>
        </p:blipFill>
        <p:spPr>
          <a:xfrm>
            <a:off x="1261242" y="1939158"/>
            <a:ext cx="9867006" cy="4130565"/>
          </a:xfrm>
          <a:prstGeom prst="rect">
            <a:avLst/>
          </a:prstGeom>
        </p:spPr>
      </p:pic>
    </p:spTree>
    <p:extLst>
      <p:ext uri="{BB962C8B-B14F-4D97-AF65-F5344CB8AC3E}">
        <p14:creationId xmlns:p14="http://schemas.microsoft.com/office/powerpoint/2010/main" val="1466591327"/>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232383"/>
            <a:ext cx="10058400" cy="603189"/>
          </a:xfrm>
        </p:spPr>
        <p:txBody>
          <a:bodyPr>
            <a:normAutofit fontScale="90000"/>
          </a:bodyPr>
          <a:lstStyle/>
          <a:p>
            <a:pPr algn="ctr"/>
            <a:r>
              <a:rPr lang="fr-FR" dirty="0" err="1"/>
              <a:t>Angular</a:t>
            </a:r>
            <a:r>
              <a:rPr lang="fr-FR" dirty="0"/>
              <a:t> 17 (Novembre 2023)</a:t>
            </a:r>
          </a:p>
        </p:txBody>
      </p:sp>
      <p:sp>
        <p:nvSpPr>
          <p:cNvPr id="3" name="Espace réservé du contenu 2"/>
          <p:cNvSpPr>
            <a:spLocks noGrp="1"/>
          </p:cNvSpPr>
          <p:nvPr>
            <p:ph idx="1"/>
          </p:nvPr>
        </p:nvSpPr>
        <p:spPr>
          <a:xfrm>
            <a:off x="457200" y="1056290"/>
            <a:ext cx="10671048" cy="5115910"/>
          </a:xfrm>
        </p:spPr>
        <p:txBody>
          <a:bodyPr>
            <a:normAutofit fontScale="92500" lnSpcReduction="20000"/>
          </a:bodyPr>
          <a:lstStyle/>
          <a:p>
            <a:pPr algn="just">
              <a:lnSpc>
                <a:spcPct val="150000"/>
              </a:lnSpc>
            </a:pPr>
            <a:r>
              <a:rPr lang="fr-FR" dirty="0"/>
              <a:t>Nouvelle syntaxe de </a:t>
            </a:r>
            <a:r>
              <a:rPr lang="fr-FR" dirty="0" smtClean="0"/>
              <a:t>Template </a:t>
            </a:r>
            <a:r>
              <a:rPr lang="fr-FR" dirty="0"/>
              <a:t>avec </a:t>
            </a:r>
            <a:r>
              <a:rPr lang="fr-FR" b="1" dirty="0"/>
              <a:t>@</a:t>
            </a:r>
            <a:r>
              <a:rPr lang="fr-FR" b="1" dirty="0" err="1" smtClean="0"/>
              <a:t>defer</a:t>
            </a:r>
            <a:endParaRPr lang="fr-FR" b="1" dirty="0" smtClean="0"/>
          </a:p>
          <a:p>
            <a:pPr lvl="1" algn="just">
              <a:lnSpc>
                <a:spcPct val="150000"/>
              </a:lnSpc>
            </a:pPr>
            <a:r>
              <a:rPr lang="fr-FR" b="1" dirty="0" err="1"/>
              <a:t>Angular</a:t>
            </a:r>
            <a:r>
              <a:rPr lang="fr-FR" dirty="0"/>
              <a:t> introduit </a:t>
            </a:r>
            <a:r>
              <a:rPr lang="fr-FR" b="1" dirty="0"/>
              <a:t>@</a:t>
            </a:r>
            <a:r>
              <a:rPr lang="fr-FR" b="1" dirty="0" err="1"/>
              <a:t>defer</a:t>
            </a:r>
            <a:r>
              <a:rPr lang="fr-FR" dirty="0"/>
              <a:t>, </a:t>
            </a:r>
            <a:r>
              <a:rPr lang="fr-FR" b="1" dirty="0"/>
              <a:t>@</a:t>
            </a:r>
            <a:r>
              <a:rPr lang="fr-FR" b="1" dirty="0" err="1"/>
              <a:t>placeholder</a:t>
            </a:r>
            <a:r>
              <a:rPr lang="fr-FR" dirty="0"/>
              <a:t>, et </a:t>
            </a:r>
            <a:r>
              <a:rPr lang="fr-FR" b="1" dirty="0"/>
              <a:t>@</a:t>
            </a:r>
            <a:r>
              <a:rPr lang="fr-FR" b="1" dirty="0" err="1"/>
              <a:t>loading</a:t>
            </a:r>
            <a:r>
              <a:rPr lang="fr-FR" b="1" dirty="0"/>
              <a:t> </a:t>
            </a:r>
            <a:r>
              <a:rPr lang="fr-FR" dirty="0"/>
              <a:t>pour le chargement différé des composants</a:t>
            </a:r>
            <a:r>
              <a:rPr lang="fr-FR" dirty="0" smtClean="0"/>
              <a:t>.</a:t>
            </a:r>
          </a:p>
          <a:p>
            <a:pPr algn="just">
              <a:lnSpc>
                <a:spcPct val="150000"/>
              </a:lnSpc>
            </a:pPr>
            <a:r>
              <a:rPr lang="fr-FR" dirty="0"/>
              <a:t>Amélioration des </a:t>
            </a:r>
            <a:r>
              <a:rPr lang="fr-FR" b="1" dirty="0" err="1" smtClean="0"/>
              <a:t>Signals</a:t>
            </a:r>
            <a:endParaRPr lang="fr-FR" b="1" dirty="0" smtClean="0"/>
          </a:p>
          <a:p>
            <a:pPr lvl="1" algn="just">
              <a:lnSpc>
                <a:spcPct val="150000"/>
              </a:lnSpc>
            </a:pPr>
            <a:r>
              <a:rPr lang="fr-FR" dirty="0"/>
              <a:t>Les </a:t>
            </a:r>
            <a:r>
              <a:rPr lang="fr-FR" b="1" dirty="0" err="1"/>
              <a:t>Signals</a:t>
            </a:r>
            <a:r>
              <a:rPr lang="fr-FR" dirty="0"/>
              <a:t> deviennent plus stables et plus performants</a:t>
            </a:r>
            <a:r>
              <a:rPr lang="fr-FR" dirty="0" smtClean="0"/>
              <a:t>.</a:t>
            </a:r>
          </a:p>
          <a:p>
            <a:pPr lvl="1" algn="just">
              <a:lnSpc>
                <a:spcPct val="150000"/>
              </a:lnSpc>
            </a:pPr>
            <a:r>
              <a:rPr lang="fr-FR" dirty="0"/>
              <a:t>Meilleure compatibilité avec </a:t>
            </a:r>
            <a:r>
              <a:rPr lang="fr-FR" b="1" dirty="0" err="1"/>
              <a:t>RxJS</a:t>
            </a:r>
            <a:r>
              <a:rPr lang="fr-FR" dirty="0" smtClean="0"/>
              <a:t>.</a:t>
            </a:r>
          </a:p>
          <a:p>
            <a:pPr algn="just">
              <a:lnSpc>
                <a:spcPct val="150000"/>
              </a:lnSpc>
            </a:pPr>
            <a:r>
              <a:rPr lang="fr-FR" dirty="0"/>
              <a:t>Optimisation du rendu (</a:t>
            </a:r>
            <a:r>
              <a:rPr lang="fr-FR" b="1" dirty="0" err="1"/>
              <a:t>React-like</a:t>
            </a:r>
            <a:r>
              <a:rPr lang="fr-FR" dirty="0" smtClean="0"/>
              <a:t>)</a:t>
            </a:r>
          </a:p>
          <a:p>
            <a:pPr lvl="1" algn="just">
              <a:lnSpc>
                <a:spcPct val="150000"/>
              </a:lnSpc>
            </a:pPr>
            <a:r>
              <a:rPr lang="fr-FR" dirty="0"/>
              <a:t>Nouveau mode de rendu </a:t>
            </a:r>
            <a:r>
              <a:rPr lang="fr-FR" b="1" dirty="0"/>
              <a:t>"</a:t>
            </a:r>
            <a:r>
              <a:rPr lang="fr-FR" b="1" dirty="0" err="1"/>
              <a:t>View</a:t>
            </a:r>
            <a:r>
              <a:rPr lang="fr-FR" b="1" dirty="0"/>
              <a:t> Engine"</a:t>
            </a:r>
            <a:r>
              <a:rPr lang="fr-FR" dirty="0"/>
              <a:t> plus performant</a:t>
            </a:r>
            <a:r>
              <a:rPr lang="fr-FR" dirty="0" smtClean="0"/>
              <a:t>.</a:t>
            </a:r>
          </a:p>
          <a:p>
            <a:pPr lvl="1" algn="just">
              <a:lnSpc>
                <a:spcPct val="150000"/>
              </a:lnSpc>
            </a:pPr>
            <a:r>
              <a:rPr lang="fr-FR" dirty="0" err="1"/>
              <a:t>Hydration</a:t>
            </a:r>
            <a:r>
              <a:rPr lang="fr-FR" dirty="0"/>
              <a:t> amélioré pour les applications </a:t>
            </a:r>
            <a:r>
              <a:rPr lang="fr-FR" b="1" dirty="0"/>
              <a:t>SSR</a:t>
            </a:r>
            <a:r>
              <a:rPr lang="fr-FR" dirty="0" smtClean="0"/>
              <a:t>.</a:t>
            </a:r>
          </a:p>
          <a:p>
            <a:pPr algn="just">
              <a:lnSpc>
                <a:spcPct val="150000"/>
              </a:lnSpc>
            </a:pPr>
            <a:r>
              <a:rPr lang="fr-FR" dirty="0"/>
              <a:t>Support des styles natifs via </a:t>
            </a:r>
            <a:r>
              <a:rPr lang="fr-FR" b="1" dirty="0"/>
              <a:t>CSS</a:t>
            </a:r>
            <a:r>
              <a:rPr lang="fr-FR" dirty="0"/>
              <a:t> </a:t>
            </a:r>
            <a:r>
              <a:rPr lang="fr-FR" b="1" dirty="0" err="1" smtClean="0"/>
              <a:t>Layers</a:t>
            </a:r>
            <a:r>
              <a:rPr lang="fr-FR" dirty="0" smtClean="0"/>
              <a:t>	</a:t>
            </a:r>
          </a:p>
          <a:p>
            <a:pPr lvl="1" algn="just">
              <a:lnSpc>
                <a:spcPct val="150000"/>
              </a:lnSpc>
            </a:pPr>
            <a:r>
              <a:rPr lang="fr-FR" dirty="0"/>
              <a:t>Support de @layer pour mieux gérer les styles des composants.</a:t>
            </a:r>
          </a:p>
        </p:txBody>
      </p:sp>
    </p:spTree>
    <p:extLst>
      <p:ext uri="{BB962C8B-B14F-4D97-AF65-F5344CB8AC3E}">
        <p14:creationId xmlns:p14="http://schemas.microsoft.com/office/powerpoint/2010/main" val="2418610198"/>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Migration </a:t>
            </a:r>
            <a:r>
              <a:rPr lang="fr-FR" dirty="0" err="1" smtClean="0"/>
              <a:t>Material</a:t>
            </a:r>
            <a:r>
              <a:rPr lang="fr-FR" dirty="0" smtClean="0"/>
              <a:t> 16 vers 17</a:t>
            </a:r>
            <a:endParaRPr lang="fr-FR" dirty="0"/>
          </a:p>
        </p:txBody>
      </p:sp>
      <p:sp>
        <p:nvSpPr>
          <p:cNvPr id="3" name="Espace réservé du contenu 2"/>
          <p:cNvSpPr>
            <a:spLocks noGrp="1"/>
          </p:cNvSpPr>
          <p:nvPr>
            <p:ph idx="1"/>
          </p:nvPr>
        </p:nvSpPr>
        <p:spPr/>
        <p:txBody>
          <a:bodyPr>
            <a:noAutofit/>
          </a:bodyPr>
          <a:lstStyle/>
          <a:p>
            <a:pPr algn="just">
              <a:lnSpc>
                <a:spcPct val="200000"/>
              </a:lnSpc>
            </a:pPr>
            <a:r>
              <a:rPr lang="fr-FR" sz="2800" dirty="0" err="1"/>
              <a:t>Angular</a:t>
            </a:r>
            <a:r>
              <a:rPr lang="fr-FR" sz="2800" dirty="0"/>
              <a:t> </a:t>
            </a:r>
            <a:r>
              <a:rPr lang="fr-FR" sz="2800" dirty="0" err="1"/>
              <a:t>Material</a:t>
            </a:r>
            <a:r>
              <a:rPr lang="fr-FR" sz="2800" dirty="0"/>
              <a:t> 16 et 17 apportent des évolutions significatives, notamment l'adoption de </a:t>
            </a:r>
            <a:r>
              <a:rPr lang="fr-FR" sz="2800" dirty="0" err="1"/>
              <a:t>Material</a:t>
            </a:r>
            <a:r>
              <a:rPr lang="fr-FR" sz="2800" dirty="0"/>
              <a:t> 3 et des améliorations en termes de personnalisation et d'accessibilité. Voici un résumé des principales différences entre ces deux versions :</a:t>
            </a:r>
          </a:p>
        </p:txBody>
      </p:sp>
    </p:spTree>
    <p:extLst>
      <p:ext uri="{BB962C8B-B14F-4D97-AF65-F5344CB8AC3E}">
        <p14:creationId xmlns:p14="http://schemas.microsoft.com/office/powerpoint/2010/main" val="1362305573"/>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err="1"/>
              <a:t>Angular</a:t>
            </a:r>
            <a:r>
              <a:rPr lang="fr-FR" dirty="0"/>
              <a:t> </a:t>
            </a:r>
            <a:r>
              <a:rPr lang="fr-FR" dirty="0" err="1"/>
              <a:t>Material</a:t>
            </a:r>
            <a:r>
              <a:rPr lang="fr-FR" dirty="0"/>
              <a:t> 16</a:t>
            </a:r>
          </a:p>
        </p:txBody>
      </p:sp>
      <p:sp>
        <p:nvSpPr>
          <p:cNvPr id="3" name="Espace réservé du contenu 2"/>
          <p:cNvSpPr>
            <a:spLocks noGrp="1"/>
          </p:cNvSpPr>
          <p:nvPr>
            <p:ph idx="1"/>
          </p:nvPr>
        </p:nvSpPr>
        <p:spPr>
          <a:xfrm>
            <a:off x="1069848" y="1765808"/>
            <a:ext cx="10058400" cy="4050792"/>
          </a:xfrm>
        </p:spPr>
        <p:txBody>
          <a:bodyPr>
            <a:noAutofit/>
          </a:bodyPr>
          <a:lstStyle/>
          <a:p>
            <a:pPr algn="just">
              <a:lnSpc>
                <a:spcPct val="150000"/>
              </a:lnSpc>
            </a:pPr>
            <a:r>
              <a:rPr lang="fr-FR" sz="2400" b="1" dirty="0"/>
              <a:t>Introduction des composants basés sur MDC :</a:t>
            </a:r>
            <a:r>
              <a:rPr lang="fr-FR" sz="2400" dirty="0"/>
              <a:t> Cette version a introduit de nouveaux composants </a:t>
            </a:r>
            <a:r>
              <a:rPr lang="fr-FR" sz="2400" dirty="0" err="1"/>
              <a:t>Angular</a:t>
            </a:r>
            <a:r>
              <a:rPr lang="fr-FR" sz="2400" dirty="0"/>
              <a:t> </a:t>
            </a:r>
            <a:r>
              <a:rPr lang="fr-FR" sz="2400" dirty="0" err="1"/>
              <a:t>Material</a:t>
            </a:r>
            <a:r>
              <a:rPr lang="fr-FR" sz="2400" dirty="0"/>
              <a:t> basés sur </a:t>
            </a:r>
            <a:r>
              <a:rPr lang="fr-FR" sz="2400" dirty="0" err="1"/>
              <a:t>Material</a:t>
            </a:r>
            <a:r>
              <a:rPr lang="fr-FR" sz="2400" dirty="0"/>
              <a:t> Design Components (MDC), offrant une meilleure conformité avec les directives </a:t>
            </a:r>
            <a:r>
              <a:rPr lang="fr-FR" sz="2400" dirty="0" err="1"/>
              <a:t>Material</a:t>
            </a:r>
            <a:r>
              <a:rPr lang="fr-FR" sz="2400" dirty="0"/>
              <a:t> 3</a:t>
            </a:r>
            <a:r>
              <a:rPr lang="fr-FR" sz="2400" dirty="0" smtClean="0"/>
              <a:t>.</a:t>
            </a:r>
          </a:p>
          <a:p>
            <a:pPr algn="just">
              <a:lnSpc>
                <a:spcPct val="150000"/>
              </a:lnSpc>
            </a:pPr>
            <a:r>
              <a:rPr lang="fr-FR" sz="2400" b="1" dirty="0"/>
              <a:t>Dépréciation des anciens composants :</a:t>
            </a:r>
            <a:r>
              <a:rPr lang="fr-FR" sz="2400" dirty="0"/>
              <a:t> Les composants hérités non basés sur MDC ont été marqués comme obsolètes, avec une planification de leur suppression dans les versions ultérieures.</a:t>
            </a:r>
          </a:p>
        </p:txBody>
      </p:sp>
    </p:spTree>
    <p:extLst>
      <p:ext uri="{BB962C8B-B14F-4D97-AF65-F5344CB8AC3E}">
        <p14:creationId xmlns:p14="http://schemas.microsoft.com/office/powerpoint/2010/main" val="4076436567"/>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484632"/>
            <a:ext cx="10058400" cy="551688"/>
          </a:xfrm>
        </p:spPr>
        <p:txBody>
          <a:bodyPr>
            <a:normAutofit fontScale="90000"/>
          </a:bodyPr>
          <a:lstStyle/>
          <a:p>
            <a:pPr algn="ctr"/>
            <a:r>
              <a:rPr lang="fr-FR" dirty="0" err="1"/>
              <a:t>Angular</a:t>
            </a:r>
            <a:r>
              <a:rPr lang="fr-FR" dirty="0"/>
              <a:t> </a:t>
            </a:r>
            <a:r>
              <a:rPr lang="fr-FR" dirty="0" err="1"/>
              <a:t>Material</a:t>
            </a:r>
            <a:r>
              <a:rPr lang="fr-FR" dirty="0"/>
              <a:t> 17</a:t>
            </a:r>
          </a:p>
        </p:txBody>
      </p:sp>
      <p:sp>
        <p:nvSpPr>
          <p:cNvPr id="3" name="Espace réservé du contenu 2"/>
          <p:cNvSpPr>
            <a:spLocks noGrp="1"/>
          </p:cNvSpPr>
          <p:nvPr>
            <p:ph idx="1"/>
          </p:nvPr>
        </p:nvSpPr>
        <p:spPr>
          <a:xfrm>
            <a:off x="876808" y="1369568"/>
            <a:ext cx="10058400" cy="4050792"/>
          </a:xfrm>
        </p:spPr>
        <p:txBody>
          <a:bodyPr>
            <a:noAutofit/>
          </a:bodyPr>
          <a:lstStyle/>
          <a:p>
            <a:pPr algn="just">
              <a:lnSpc>
                <a:spcPct val="150000"/>
              </a:lnSpc>
            </a:pPr>
            <a:r>
              <a:rPr lang="fr-FR" b="1" dirty="0"/>
              <a:t>Suppression des composants hérités :</a:t>
            </a:r>
            <a:r>
              <a:rPr lang="fr-FR" dirty="0"/>
              <a:t> Conformément aux annonces précédentes, les anciens composants non basés sur MDC ont été supprimés dans cette version. Les développeurs sont encouragés à migrer vers les nouveaux composants pour bénéficier des dernières améliorations</a:t>
            </a:r>
            <a:r>
              <a:rPr lang="fr-FR" dirty="0" smtClean="0"/>
              <a:t>.</a:t>
            </a:r>
          </a:p>
          <a:p>
            <a:pPr algn="just">
              <a:lnSpc>
                <a:spcPct val="150000"/>
              </a:lnSpc>
            </a:pPr>
            <a:r>
              <a:rPr lang="fr-FR" b="1" dirty="0"/>
              <a:t>Améliorations de la personnalisation :</a:t>
            </a:r>
            <a:r>
              <a:rPr lang="fr-FR" dirty="0"/>
              <a:t> Introduction d'une API de </a:t>
            </a:r>
            <a:r>
              <a:rPr lang="fr-FR" dirty="0" err="1"/>
              <a:t>thématisation</a:t>
            </a:r>
            <a:r>
              <a:rPr lang="fr-FR" dirty="0"/>
              <a:t> basée sur des </a:t>
            </a:r>
            <a:r>
              <a:rPr lang="fr-FR" dirty="0" err="1"/>
              <a:t>tokens</a:t>
            </a:r>
            <a:r>
              <a:rPr lang="fr-FR" dirty="0"/>
              <a:t>, permettant une personnalisation plus fine et flexible des composants </a:t>
            </a:r>
            <a:r>
              <a:rPr lang="fr-FR" dirty="0" err="1"/>
              <a:t>Material</a:t>
            </a:r>
            <a:r>
              <a:rPr lang="fr-FR" dirty="0" smtClean="0"/>
              <a:t>.</a:t>
            </a:r>
          </a:p>
          <a:p>
            <a:pPr algn="just">
              <a:lnSpc>
                <a:spcPct val="150000"/>
              </a:lnSpc>
            </a:pPr>
            <a:r>
              <a:rPr lang="fr-FR" b="1" dirty="0"/>
              <a:t>Mises à jour de l'accessibilité :</a:t>
            </a:r>
            <a:r>
              <a:rPr lang="fr-FR" dirty="0"/>
              <a:t> Poursuite des efforts pour améliorer l'accessibilité des composants, garantissant une meilleure expérience utilisateur pour tous.</a:t>
            </a:r>
          </a:p>
        </p:txBody>
      </p:sp>
    </p:spTree>
    <p:extLst>
      <p:ext uri="{BB962C8B-B14F-4D97-AF65-F5344CB8AC3E}">
        <p14:creationId xmlns:p14="http://schemas.microsoft.com/office/powerpoint/2010/main" val="3293978023"/>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a:t>Résumé des changements clés</a:t>
            </a:r>
          </a:p>
        </p:txBody>
      </p:sp>
      <p:pic>
        <p:nvPicPr>
          <p:cNvPr id="4" name="Espace réservé du contenu 3"/>
          <p:cNvPicPr>
            <a:picLocks noGrp="1" noChangeAspect="1"/>
          </p:cNvPicPr>
          <p:nvPr>
            <p:ph idx="1"/>
          </p:nvPr>
        </p:nvPicPr>
        <p:blipFill>
          <a:blip r:embed="rId2"/>
          <a:stretch>
            <a:fillRect/>
          </a:stretch>
        </p:blipFill>
        <p:spPr>
          <a:xfrm>
            <a:off x="1069848" y="2336800"/>
            <a:ext cx="10136632" cy="364744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295425932"/>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263915"/>
            <a:ext cx="10058400" cy="650485"/>
          </a:xfrm>
        </p:spPr>
        <p:txBody>
          <a:bodyPr>
            <a:normAutofit fontScale="90000"/>
          </a:bodyPr>
          <a:lstStyle/>
          <a:p>
            <a:pPr algn="ctr"/>
            <a:r>
              <a:rPr lang="fr-FR" dirty="0" err="1"/>
              <a:t>Angular</a:t>
            </a:r>
            <a:r>
              <a:rPr lang="fr-FR" dirty="0"/>
              <a:t> 18 (Mai </a:t>
            </a:r>
            <a:r>
              <a:rPr lang="fr-FR" dirty="0" smtClean="0"/>
              <a:t>2024)</a:t>
            </a:r>
            <a:endParaRPr lang="fr-FR" dirty="0"/>
          </a:p>
        </p:txBody>
      </p:sp>
      <p:sp>
        <p:nvSpPr>
          <p:cNvPr id="3" name="Espace réservé du contenu 2"/>
          <p:cNvSpPr>
            <a:spLocks noGrp="1"/>
          </p:cNvSpPr>
          <p:nvPr>
            <p:ph idx="1"/>
          </p:nvPr>
        </p:nvSpPr>
        <p:spPr>
          <a:xfrm>
            <a:off x="520262" y="1198179"/>
            <a:ext cx="10893972" cy="5328745"/>
          </a:xfrm>
        </p:spPr>
        <p:txBody>
          <a:bodyPr>
            <a:normAutofit/>
          </a:bodyPr>
          <a:lstStyle/>
          <a:p>
            <a:pPr algn="just">
              <a:lnSpc>
                <a:spcPct val="150000"/>
              </a:lnSpc>
            </a:pPr>
            <a:r>
              <a:rPr lang="fr-FR" dirty="0"/>
              <a:t>Stabilisation des </a:t>
            </a:r>
            <a:r>
              <a:rPr lang="fr-FR" b="1" dirty="0" err="1" smtClean="0"/>
              <a:t>Signals</a:t>
            </a:r>
            <a:endParaRPr lang="fr-FR" b="1" dirty="0" smtClean="0"/>
          </a:p>
          <a:p>
            <a:pPr lvl="1" algn="just">
              <a:lnSpc>
                <a:spcPct val="150000"/>
              </a:lnSpc>
            </a:pPr>
            <a:r>
              <a:rPr lang="fr-FR" dirty="0"/>
              <a:t>Les </a:t>
            </a:r>
            <a:r>
              <a:rPr lang="fr-FR" b="1" dirty="0" err="1"/>
              <a:t>Signals</a:t>
            </a:r>
            <a:r>
              <a:rPr lang="fr-FR" dirty="0"/>
              <a:t> deviennent la méthode recommandée pour gérer les changements d’état</a:t>
            </a:r>
            <a:r>
              <a:rPr lang="fr-FR" dirty="0" smtClean="0"/>
              <a:t>.</a:t>
            </a:r>
          </a:p>
          <a:p>
            <a:pPr lvl="1" algn="just">
              <a:lnSpc>
                <a:spcPct val="150000"/>
              </a:lnSpc>
            </a:pPr>
            <a:r>
              <a:rPr lang="fr-FR" dirty="0"/>
              <a:t>Ajout de </a:t>
            </a:r>
            <a:r>
              <a:rPr lang="fr-FR" b="1" dirty="0"/>
              <a:t>Signal-</a:t>
            </a:r>
            <a:r>
              <a:rPr lang="fr-FR" b="1" dirty="0" err="1"/>
              <a:t>based</a:t>
            </a:r>
            <a:r>
              <a:rPr lang="fr-FR" dirty="0"/>
              <a:t> Components pour améliorer la performance</a:t>
            </a:r>
            <a:r>
              <a:rPr lang="fr-FR" dirty="0" smtClean="0"/>
              <a:t>.</a:t>
            </a:r>
          </a:p>
          <a:p>
            <a:pPr algn="just">
              <a:lnSpc>
                <a:spcPct val="150000"/>
              </a:lnSpc>
            </a:pPr>
            <a:r>
              <a:rPr lang="fr-FR" dirty="0"/>
              <a:t>Simplification des formulaires </a:t>
            </a:r>
            <a:r>
              <a:rPr lang="fr-FR" b="1" dirty="0" err="1" smtClean="0"/>
              <a:t>Angular</a:t>
            </a:r>
            <a:endParaRPr lang="fr-FR" b="1" dirty="0" smtClean="0"/>
          </a:p>
          <a:p>
            <a:pPr lvl="1" algn="just">
              <a:lnSpc>
                <a:spcPct val="150000"/>
              </a:lnSpc>
            </a:pPr>
            <a:r>
              <a:rPr lang="fr-FR" dirty="0"/>
              <a:t>Support des </a:t>
            </a:r>
            <a:r>
              <a:rPr lang="fr-FR" b="1" dirty="0" err="1"/>
              <a:t>Reactive</a:t>
            </a:r>
            <a:r>
              <a:rPr lang="fr-FR" b="1" dirty="0"/>
              <a:t> </a:t>
            </a:r>
            <a:r>
              <a:rPr lang="fr-FR" b="1" dirty="0" err="1"/>
              <a:t>Forms</a:t>
            </a:r>
            <a:r>
              <a:rPr lang="fr-FR" b="1" dirty="0"/>
              <a:t> avec </a:t>
            </a:r>
            <a:r>
              <a:rPr lang="fr-FR" b="1" dirty="0" err="1"/>
              <a:t>Signals</a:t>
            </a:r>
            <a:r>
              <a:rPr lang="fr-FR" dirty="0" smtClean="0"/>
              <a:t>.</a:t>
            </a:r>
          </a:p>
          <a:p>
            <a:pPr lvl="1" algn="just">
              <a:lnSpc>
                <a:spcPct val="150000"/>
              </a:lnSpc>
            </a:pPr>
            <a:r>
              <a:rPr lang="fr-FR" dirty="0"/>
              <a:t>Meilleur typage pour la gestion des valeurs dans les formulaires</a:t>
            </a:r>
            <a:r>
              <a:rPr lang="fr-FR" dirty="0" smtClean="0"/>
              <a:t>.</a:t>
            </a:r>
          </a:p>
          <a:p>
            <a:pPr algn="just">
              <a:lnSpc>
                <a:spcPct val="150000"/>
              </a:lnSpc>
            </a:pPr>
            <a:r>
              <a:rPr lang="fr-FR" dirty="0"/>
              <a:t>Améliorations du </a:t>
            </a:r>
            <a:r>
              <a:rPr lang="fr-FR" b="1" dirty="0"/>
              <a:t>Server-</a:t>
            </a:r>
            <a:r>
              <a:rPr lang="fr-FR" b="1" dirty="0" err="1"/>
              <a:t>Side</a:t>
            </a:r>
            <a:r>
              <a:rPr lang="fr-FR" b="1" dirty="0"/>
              <a:t> </a:t>
            </a:r>
            <a:r>
              <a:rPr lang="fr-FR" b="1" dirty="0" err="1"/>
              <a:t>Rendering</a:t>
            </a:r>
            <a:r>
              <a:rPr lang="fr-FR" b="1" dirty="0"/>
              <a:t> (SSR</a:t>
            </a:r>
            <a:r>
              <a:rPr lang="fr-FR" b="1" dirty="0" smtClean="0"/>
              <a:t>)</a:t>
            </a:r>
          </a:p>
          <a:p>
            <a:pPr lvl="1" algn="just">
              <a:lnSpc>
                <a:spcPct val="150000"/>
              </a:lnSpc>
            </a:pPr>
            <a:r>
              <a:rPr lang="fr-FR" dirty="0"/>
              <a:t>Chargement dynamique optimisé avec </a:t>
            </a:r>
            <a:r>
              <a:rPr lang="fr-FR" b="1" dirty="0" err="1"/>
              <a:t>ng</a:t>
            </a:r>
            <a:r>
              <a:rPr lang="fr-FR" b="1" dirty="0"/>
              <a:t> </a:t>
            </a:r>
            <a:r>
              <a:rPr lang="fr-FR" b="1" dirty="0" err="1"/>
              <a:t>render</a:t>
            </a:r>
            <a:r>
              <a:rPr lang="fr-FR" dirty="0" smtClean="0"/>
              <a:t>.</a:t>
            </a:r>
          </a:p>
          <a:p>
            <a:pPr algn="just">
              <a:lnSpc>
                <a:spcPct val="150000"/>
              </a:lnSpc>
            </a:pPr>
            <a:r>
              <a:rPr lang="fr-FR" dirty="0"/>
              <a:t>Dépréciation de </a:t>
            </a:r>
            <a:r>
              <a:rPr lang="fr-FR" b="1" dirty="0" err="1"/>
              <a:t>View</a:t>
            </a:r>
            <a:r>
              <a:rPr lang="fr-FR" b="1" dirty="0"/>
              <a:t> Engine </a:t>
            </a:r>
            <a:r>
              <a:rPr lang="fr-FR" dirty="0"/>
              <a:t>(encore plus poussé</a:t>
            </a:r>
            <a:r>
              <a:rPr lang="fr-FR" dirty="0" smtClean="0"/>
              <a:t>)</a:t>
            </a:r>
          </a:p>
          <a:p>
            <a:pPr lvl="1" algn="just">
              <a:lnSpc>
                <a:spcPct val="150000"/>
              </a:lnSpc>
            </a:pPr>
            <a:r>
              <a:rPr lang="fr-FR" dirty="0"/>
              <a:t>Encouragement à utiliser </a:t>
            </a:r>
            <a:r>
              <a:rPr lang="fr-FR" b="1" dirty="0" err="1"/>
              <a:t>Ivy</a:t>
            </a:r>
            <a:r>
              <a:rPr lang="fr-FR" dirty="0"/>
              <a:t> pour tous les nouveaux projets.</a:t>
            </a:r>
          </a:p>
        </p:txBody>
      </p:sp>
    </p:spTree>
    <p:extLst>
      <p:ext uri="{BB962C8B-B14F-4D97-AF65-F5344CB8AC3E}">
        <p14:creationId xmlns:p14="http://schemas.microsoft.com/office/powerpoint/2010/main" val="3769636042"/>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3600" dirty="0"/>
              <a:t>Simplification des formulaires </a:t>
            </a:r>
            <a:r>
              <a:rPr lang="fr-FR" sz="3600" dirty="0" err="1"/>
              <a:t>Angular</a:t>
            </a:r>
            <a:endParaRPr lang="fr-FR" sz="3600" dirty="0"/>
          </a:p>
        </p:txBody>
      </p:sp>
      <p:sp>
        <p:nvSpPr>
          <p:cNvPr id="3" name="Espace réservé du contenu 2"/>
          <p:cNvSpPr>
            <a:spLocks noGrp="1"/>
          </p:cNvSpPr>
          <p:nvPr>
            <p:ph idx="1"/>
          </p:nvPr>
        </p:nvSpPr>
        <p:spPr/>
        <p:txBody>
          <a:bodyPr>
            <a:normAutofit/>
          </a:bodyPr>
          <a:lstStyle/>
          <a:p>
            <a:pPr algn="just">
              <a:lnSpc>
                <a:spcPct val="200000"/>
              </a:lnSpc>
            </a:pPr>
            <a:r>
              <a:rPr lang="fr-FR" sz="2400" b="1" dirty="0" err="1"/>
              <a:t>Angular</a:t>
            </a:r>
            <a:r>
              <a:rPr lang="fr-FR" sz="2400" dirty="0"/>
              <a:t> </a:t>
            </a:r>
            <a:r>
              <a:rPr lang="fr-FR" sz="2400" b="1" dirty="0"/>
              <a:t>18</a:t>
            </a:r>
            <a:r>
              <a:rPr lang="fr-FR" sz="2400" dirty="0"/>
              <a:t> simplifie la gestion des formulaires, en particulier les </a:t>
            </a:r>
            <a:r>
              <a:rPr lang="fr-FR" sz="2400" b="1" dirty="0"/>
              <a:t>Template-</a:t>
            </a:r>
            <a:r>
              <a:rPr lang="fr-FR" sz="2400" b="1" dirty="0" err="1"/>
              <a:t>driven</a:t>
            </a:r>
            <a:r>
              <a:rPr lang="fr-FR" sz="2400" dirty="0"/>
              <a:t> et </a:t>
            </a:r>
            <a:r>
              <a:rPr lang="fr-FR" sz="2400" b="1" dirty="0" err="1"/>
              <a:t>Reactive</a:t>
            </a:r>
            <a:r>
              <a:rPr lang="fr-FR" sz="2400" b="1" dirty="0"/>
              <a:t> </a:t>
            </a:r>
            <a:r>
              <a:rPr lang="fr-FR" sz="2400" b="1" dirty="0" err="1"/>
              <a:t>Forms</a:t>
            </a:r>
            <a:r>
              <a:rPr lang="fr-FR" sz="2400" dirty="0"/>
              <a:t>. La gestion de l'état des formulaires devient plus intuitive, et l'intégration avec les </a:t>
            </a:r>
            <a:r>
              <a:rPr lang="fr-FR" sz="2400" dirty="0" err="1"/>
              <a:t>Signals</a:t>
            </a:r>
            <a:r>
              <a:rPr lang="fr-FR" sz="2400" dirty="0"/>
              <a:t> améliore la réactivité des formulaires.</a:t>
            </a:r>
          </a:p>
        </p:txBody>
      </p:sp>
    </p:spTree>
    <p:extLst>
      <p:ext uri="{BB962C8B-B14F-4D97-AF65-F5344CB8AC3E}">
        <p14:creationId xmlns:p14="http://schemas.microsoft.com/office/powerpoint/2010/main" val="4282324597"/>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169672"/>
            <a:ext cx="10058400" cy="704088"/>
          </a:xfrm>
        </p:spPr>
        <p:txBody>
          <a:bodyPr>
            <a:normAutofit/>
          </a:bodyPr>
          <a:lstStyle/>
          <a:p>
            <a:pPr algn="ctr"/>
            <a:r>
              <a:rPr lang="fr-FR" sz="3600" dirty="0"/>
              <a:t>Exemple de formulaire réactif avec Signal</a:t>
            </a:r>
          </a:p>
        </p:txBody>
      </p:sp>
      <p:pic>
        <p:nvPicPr>
          <p:cNvPr id="6" name="Espace réservé du contenu 5"/>
          <p:cNvPicPr>
            <a:picLocks noGrp="1" noChangeAspect="1"/>
          </p:cNvPicPr>
          <p:nvPr>
            <p:ph idx="1"/>
          </p:nvPr>
        </p:nvPicPr>
        <p:blipFill>
          <a:blip r:embed="rId2">
            <a:extLst>
              <a:ext uri="{BEBA8EAE-BF5A-486C-A8C5-ECC9F3942E4B}">
                <a14:imgProps xmlns:a14="http://schemas.microsoft.com/office/drawing/2010/main">
                  <a14:imgLayer r:embed="rId3">
                    <a14:imgEffect>
                      <a14:colorTemperature colorTemp="5300"/>
                    </a14:imgEffect>
                  </a14:imgLayer>
                </a14:imgProps>
              </a:ext>
            </a:extLst>
          </a:blip>
          <a:stretch>
            <a:fillRect/>
          </a:stretch>
        </p:blipFill>
        <p:spPr>
          <a:xfrm>
            <a:off x="538480" y="944880"/>
            <a:ext cx="10789920" cy="556811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278817195"/>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dirty="0"/>
              <a:t>Meilleur typage pour la gestion des valeurs dans les formulaires</a:t>
            </a:r>
          </a:p>
        </p:txBody>
      </p:sp>
      <p:sp>
        <p:nvSpPr>
          <p:cNvPr id="3" name="Espace réservé du contenu 2"/>
          <p:cNvSpPr>
            <a:spLocks noGrp="1"/>
          </p:cNvSpPr>
          <p:nvPr>
            <p:ph idx="1"/>
          </p:nvPr>
        </p:nvSpPr>
        <p:spPr/>
        <p:txBody>
          <a:bodyPr>
            <a:normAutofit fontScale="92500"/>
          </a:bodyPr>
          <a:lstStyle/>
          <a:p>
            <a:pPr algn="just">
              <a:lnSpc>
                <a:spcPct val="250000"/>
              </a:lnSpc>
            </a:pPr>
            <a:r>
              <a:rPr lang="fr-FR" sz="2800" dirty="0"/>
              <a:t>Avec </a:t>
            </a:r>
            <a:r>
              <a:rPr lang="fr-FR" sz="2800" b="1" dirty="0" err="1"/>
              <a:t>Angular</a:t>
            </a:r>
            <a:r>
              <a:rPr lang="fr-FR" sz="2800" dirty="0"/>
              <a:t> </a:t>
            </a:r>
            <a:r>
              <a:rPr lang="fr-FR" sz="2800" b="1" dirty="0"/>
              <a:t>18</a:t>
            </a:r>
            <a:r>
              <a:rPr lang="fr-FR" sz="2800" dirty="0"/>
              <a:t>, il y a un meilleur typage des valeurs dans les formulaires. Cela rend le code plus fiable et prévient les erreurs liées aux types de données dans les formulaires.</a:t>
            </a:r>
          </a:p>
        </p:txBody>
      </p:sp>
    </p:spTree>
    <p:extLst>
      <p:ext uri="{BB962C8B-B14F-4D97-AF65-F5344CB8AC3E}">
        <p14:creationId xmlns:p14="http://schemas.microsoft.com/office/powerpoint/2010/main" val="109757817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261112"/>
            <a:ext cx="10058400" cy="886968"/>
          </a:xfrm>
        </p:spPr>
        <p:txBody>
          <a:bodyPr>
            <a:normAutofit/>
          </a:bodyPr>
          <a:lstStyle/>
          <a:p>
            <a:pPr algn="ctr"/>
            <a:r>
              <a:rPr lang="fr-FR" sz="2800" dirty="0"/>
              <a:t>Chargement dynamique optimisé avec </a:t>
            </a:r>
            <a:r>
              <a:rPr lang="fr-FR" sz="2800" dirty="0" err="1">
                <a:solidFill>
                  <a:srgbClr val="FF0000"/>
                </a:solidFill>
              </a:rPr>
              <a:t>ng</a:t>
            </a:r>
            <a:r>
              <a:rPr lang="fr-FR" sz="2800" dirty="0">
                <a:solidFill>
                  <a:srgbClr val="FF0000"/>
                </a:solidFill>
              </a:rPr>
              <a:t> </a:t>
            </a:r>
            <a:r>
              <a:rPr lang="fr-FR" sz="2800" dirty="0" err="1">
                <a:solidFill>
                  <a:srgbClr val="FF0000"/>
                </a:solidFill>
              </a:rPr>
              <a:t>render</a:t>
            </a:r>
            <a:endParaRPr lang="fr-FR" sz="2800" dirty="0">
              <a:solidFill>
                <a:srgbClr val="FF0000"/>
              </a:solidFill>
            </a:endParaRPr>
          </a:p>
        </p:txBody>
      </p:sp>
      <p:sp>
        <p:nvSpPr>
          <p:cNvPr id="3" name="Espace réservé du contenu 2"/>
          <p:cNvSpPr>
            <a:spLocks noGrp="1"/>
          </p:cNvSpPr>
          <p:nvPr>
            <p:ph idx="1"/>
          </p:nvPr>
        </p:nvSpPr>
        <p:spPr>
          <a:xfrm>
            <a:off x="216408" y="1298448"/>
            <a:ext cx="5097272" cy="5061712"/>
          </a:xfrm>
        </p:spPr>
        <p:txBody>
          <a:bodyPr>
            <a:normAutofit fontScale="85000" lnSpcReduction="20000"/>
          </a:bodyPr>
          <a:lstStyle/>
          <a:p>
            <a:pPr algn="just">
              <a:lnSpc>
                <a:spcPct val="150000"/>
              </a:lnSpc>
            </a:pPr>
            <a:r>
              <a:rPr lang="fr-FR" sz="2400" dirty="0"/>
              <a:t>Le chargement dynamique des modules a été optimisé avec la commande </a:t>
            </a:r>
            <a:r>
              <a:rPr lang="fr-FR" sz="2400" b="1" dirty="0" err="1"/>
              <a:t>ng</a:t>
            </a:r>
            <a:r>
              <a:rPr lang="fr-FR" sz="2400" b="1" dirty="0"/>
              <a:t> </a:t>
            </a:r>
            <a:r>
              <a:rPr lang="fr-FR" sz="2400" b="1" dirty="0" err="1"/>
              <a:t>render</a:t>
            </a:r>
            <a:r>
              <a:rPr lang="fr-FR" sz="2400" dirty="0"/>
              <a:t>. Cette fonctionnalité permet de charger les composants de manière plus efficace et de rendre les applications plus performantes, particulièrement pour les grandes applications</a:t>
            </a:r>
            <a:r>
              <a:rPr lang="fr-FR" sz="2400" dirty="0" smtClean="0"/>
              <a:t>.</a:t>
            </a:r>
          </a:p>
          <a:p>
            <a:pPr algn="just">
              <a:lnSpc>
                <a:spcPct val="150000"/>
              </a:lnSpc>
            </a:pPr>
            <a:r>
              <a:rPr lang="fr-FR" sz="2400" dirty="0"/>
              <a:t>Ici, </a:t>
            </a:r>
            <a:r>
              <a:rPr lang="fr-FR" sz="2400" b="1" dirty="0" err="1"/>
              <a:t>ng</a:t>
            </a:r>
            <a:r>
              <a:rPr lang="fr-FR" sz="2400" b="1" dirty="0"/>
              <a:t> </a:t>
            </a:r>
            <a:r>
              <a:rPr lang="fr-FR" sz="2400" b="1" dirty="0" err="1"/>
              <a:t>render</a:t>
            </a:r>
            <a:r>
              <a:rPr lang="fr-FR" sz="2400" b="1" dirty="0"/>
              <a:t> </a:t>
            </a:r>
            <a:r>
              <a:rPr lang="fr-FR" sz="2400" dirty="0"/>
              <a:t>permet de charger dynamiquement le composant </a:t>
            </a:r>
            <a:r>
              <a:rPr lang="fr-FR" sz="2400" b="1" dirty="0" err="1"/>
              <a:t>LazyLoadedComponent</a:t>
            </a:r>
            <a:r>
              <a:rPr lang="fr-FR" sz="2400" dirty="0"/>
              <a:t> lorsque cela est nécessaire.</a:t>
            </a:r>
          </a:p>
        </p:txBody>
      </p:sp>
      <p:pic>
        <p:nvPicPr>
          <p:cNvPr id="6" name="Image 5"/>
          <p:cNvPicPr>
            <a:picLocks noChangeAspect="1"/>
          </p:cNvPicPr>
          <p:nvPr/>
        </p:nvPicPr>
        <p:blipFill>
          <a:blip r:embed="rId2">
            <a:extLst>
              <a:ext uri="{BEBA8EAE-BF5A-486C-A8C5-ECC9F3942E4B}">
                <a14:imgProps xmlns:a14="http://schemas.microsoft.com/office/drawing/2010/main">
                  <a14:imgLayer r:embed="rId3">
                    <a14:imgEffect>
                      <a14:colorTemperature colorTemp="5300"/>
                    </a14:imgEffect>
                  </a14:imgLayer>
                </a14:imgProps>
              </a:ext>
            </a:extLst>
          </a:blip>
          <a:stretch>
            <a:fillRect/>
          </a:stretch>
        </p:blipFill>
        <p:spPr>
          <a:xfrm>
            <a:off x="5628640" y="1389888"/>
            <a:ext cx="5895975" cy="462483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36786285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4000" dirty="0"/>
              <a:t>Résumé des nouveautés d'</a:t>
            </a:r>
            <a:r>
              <a:rPr lang="fr-FR" sz="4000" dirty="0" err="1"/>
              <a:t>Angular</a:t>
            </a:r>
            <a:r>
              <a:rPr lang="fr-FR" sz="4000" dirty="0"/>
              <a:t> 18</a:t>
            </a:r>
          </a:p>
        </p:txBody>
      </p:sp>
      <p:pic>
        <p:nvPicPr>
          <p:cNvPr id="4" name="Espace réservé du contenu 3"/>
          <p:cNvPicPr>
            <a:picLocks noGrp="1" noChangeAspect="1"/>
          </p:cNvPicPr>
          <p:nvPr>
            <p:ph idx="1"/>
          </p:nvPr>
        </p:nvPicPr>
        <p:blipFill>
          <a:blip r:embed="rId2"/>
          <a:stretch>
            <a:fillRect/>
          </a:stretch>
        </p:blipFill>
        <p:spPr>
          <a:xfrm>
            <a:off x="1069848" y="2286000"/>
            <a:ext cx="10202497" cy="3468414"/>
          </a:xfrm>
          <a:prstGeom prst="rect">
            <a:avLst/>
          </a:prstGeom>
        </p:spPr>
      </p:pic>
    </p:spTree>
    <p:extLst>
      <p:ext uri="{BB962C8B-B14F-4D97-AF65-F5344CB8AC3E}">
        <p14:creationId xmlns:p14="http://schemas.microsoft.com/office/powerpoint/2010/main" val="3523973418"/>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484632"/>
            <a:ext cx="10058400" cy="666251"/>
          </a:xfrm>
        </p:spPr>
        <p:txBody>
          <a:bodyPr>
            <a:normAutofit fontScale="90000"/>
          </a:bodyPr>
          <a:lstStyle/>
          <a:p>
            <a:pPr algn="ctr"/>
            <a:r>
              <a:rPr lang="fr-FR" dirty="0" err="1" smtClean="0"/>
              <a:t>Angular</a:t>
            </a:r>
            <a:r>
              <a:rPr lang="fr-FR" dirty="0"/>
              <a:t> 19 novembre 2024</a:t>
            </a:r>
          </a:p>
        </p:txBody>
      </p:sp>
      <p:sp>
        <p:nvSpPr>
          <p:cNvPr id="3" name="Espace réservé du contenu 2"/>
          <p:cNvSpPr>
            <a:spLocks noGrp="1"/>
          </p:cNvSpPr>
          <p:nvPr>
            <p:ph idx="1"/>
          </p:nvPr>
        </p:nvSpPr>
        <p:spPr>
          <a:xfrm>
            <a:off x="1069848" y="1576553"/>
            <a:ext cx="10058400" cy="4595648"/>
          </a:xfrm>
        </p:spPr>
        <p:txBody>
          <a:bodyPr>
            <a:normAutofit lnSpcReduction="10000"/>
          </a:bodyPr>
          <a:lstStyle/>
          <a:p>
            <a:pPr algn="just">
              <a:lnSpc>
                <a:spcPct val="150000"/>
              </a:lnSpc>
            </a:pPr>
            <a:r>
              <a:rPr lang="fr-FR" dirty="0"/>
              <a:t>Composants autonomes par </a:t>
            </a:r>
            <a:r>
              <a:rPr lang="fr-FR" dirty="0" smtClean="0"/>
              <a:t>défaut</a:t>
            </a:r>
          </a:p>
          <a:p>
            <a:pPr algn="just">
              <a:lnSpc>
                <a:spcPct val="150000"/>
              </a:lnSpc>
            </a:pPr>
            <a:r>
              <a:rPr lang="fr-FR" dirty="0"/>
              <a:t>Réactivité fine avec les </a:t>
            </a:r>
            <a:r>
              <a:rPr lang="fr-FR" dirty="0" smtClean="0"/>
              <a:t>signaux</a:t>
            </a:r>
          </a:p>
          <a:p>
            <a:pPr algn="just">
              <a:lnSpc>
                <a:spcPct val="150000"/>
              </a:lnSpc>
            </a:pPr>
            <a:r>
              <a:rPr lang="fr-FR" dirty="0"/>
              <a:t>Hydratation </a:t>
            </a:r>
            <a:r>
              <a:rPr lang="fr-FR" dirty="0" smtClean="0"/>
              <a:t>incrémentielle</a:t>
            </a:r>
          </a:p>
          <a:p>
            <a:pPr algn="just">
              <a:lnSpc>
                <a:spcPct val="150000"/>
              </a:lnSpc>
            </a:pPr>
            <a:r>
              <a:rPr lang="fr-FR" dirty="0"/>
              <a:t>Relecture d'événements (Event </a:t>
            </a:r>
            <a:r>
              <a:rPr lang="fr-FR" dirty="0" err="1"/>
              <a:t>Replay</a:t>
            </a:r>
            <a:r>
              <a:rPr lang="fr-FR" dirty="0" smtClean="0"/>
              <a:t>)</a:t>
            </a:r>
          </a:p>
          <a:p>
            <a:pPr algn="just">
              <a:lnSpc>
                <a:spcPct val="150000"/>
              </a:lnSpc>
            </a:pPr>
            <a:r>
              <a:rPr lang="fr-FR" dirty="0"/>
              <a:t>Remplacement à chaud des modules (HMR) pour les styles et les </a:t>
            </a:r>
            <a:r>
              <a:rPr lang="fr-FR" dirty="0" err="1" smtClean="0"/>
              <a:t>templates</a:t>
            </a:r>
            <a:endParaRPr lang="fr-FR" dirty="0" smtClean="0"/>
          </a:p>
          <a:p>
            <a:pPr algn="just">
              <a:lnSpc>
                <a:spcPct val="150000"/>
              </a:lnSpc>
            </a:pPr>
            <a:r>
              <a:rPr lang="fr-FR" dirty="0"/>
              <a:t>Améliorations d'</a:t>
            </a:r>
            <a:r>
              <a:rPr lang="fr-FR" dirty="0" err="1"/>
              <a:t>Angular</a:t>
            </a:r>
            <a:r>
              <a:rPr lang="fr-FR" dirty="0"/>
              <a:t> </a:t>
            </a:r>
            <a:r>
              <a:rPr lang="fr-FR" dirty="0" err="1"/>
              <a:t>Material</a:t>
            </a:r>
            <a:r>
              <a:rPr lang="fr-FR" dirty="0"/>
              <a:t> et du </a:t>
            </a:r>
            <a:r>
              <a:rPr lang="fr-FR" dirty="0" smtClean="0"/>
              <a:t>CDK</a:t>
            </a:r>
          </a:p>
          <a:p>
            <a:pPr algn="just">
              <a:lnSpc>
                <a:spcPct val="150000"/>
              </a:lnSpc>
            </a:pPr>
            <a:r>
              <a:rPr lang="fr-FR" dirty="0"/>
              <a:t>Contrôle du rendu au niveau des </a:t>
            </a:r>
            <a:r>
              <a:rPr lang="fr-FR" dirty="0" smtClean="0"/>
              <a:t>routes</a:t>
            </a:r>
          </a:p>
          <a:p>
            <a:pPr algn="just">
              <a:lnSpc>
                <a:spcPct val="150000"/>
              </a:lnSpc>
            </a:pPr>
            <a:r>
              <a:rPr lang="fr-FR" dirty="0"/>
              <a:t>Support amélioré pour le développement sans zone (</a:t>
            </a:r>
            <a:r>
              <a:rPr lang="fr-FR" dirty="0" err="1"/>
              <a:t>Zoneless</a:t>
            </a:r>
            <a:r>
              <a:rPr lang="fr-FR" dirty="0"/>
              <a:t>)</a:t>
            </a:r>
          </a:p>
        </p:txBody>
      </p:sp>
    </p:spTree>
    <p:extLst>
      <p:ext uri="{BB962C8B-B14F-4D97-AF65-F5344CB8AC3E}">
        <p14:creationId xmlns:p14="http://schemas.microsoft.com/office/powerpoint/2010/main" val="108145252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975255" y="137790"/>
            <a:ext cx="10058400" cy="713547"/>
          </a:xfrm>
        </p:spPr>
        <p:txBody>
          <a:bodyPr>
            <a:normAutofit fontScale="90000"/>
          </a:bodyPr>
          <a:lstStyle/>
          <a:p>
            <a:pPr algn="ctr"/>
            <a:r>
              <a:rPr lang="fr-FR" dirty="0" smtClean="0"/>
              <a:t>RECAP </a:t>
            </a:r>
            <a:r>
              <a:rPr lang="fr-FR" dirty="0" err="1" smtClean="0"/>
              <a:t>Angular</a:t>
            </a:r>
            <a:r>
              <a:rPr lang="fr-FR" dirty="0" smtClean="0"/>
              <a:t> 19</a:t>
            </a:r>
            <a:endParaRPr lang="fr-FR" dirty="0"/>
          </a:p>
        </p:txBody>
      </p:sp>
      <p:pic>
        <p:nvPicPr>
          <p:cNvPr id="6" name="Image 5"/>
          <p:cNvPicPr>
            <a:picLocks noChangeAspect="1"/>
          </p:cNvPicPr>
          <p:nvPr/>
        </p:nvPicPr>
        <p:blipFill>
          <a:blip r:embed="rId2"/>
          <a:stretch>
            <a:fillRect/>
          </a:stretch>
        </p:blipFill>
        <p:spPr>
          <a:xfrm>
            <a:off x="315311" y="851337"/>
            <a:ext cx="10718344" cy="5738649"/>
          </a:xfrm>
          <a:prstGeom prst="rect">
            <a:avLst/>
          </a:prstGeom>
        </p:spPr>
      </p:pic>
    </p:spTree>
    <p:extLst>
      <p:ext uri="{BB962C8B-B14F-4D97-AF65-F5344CB8AC3E}">
        <p14:creationId xmlns:p14="http://schemas.microsoft.com/office/powerpoint/2010/main" val="309978761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3200" dirty="0"/>
              <a:t>Priorités pour un ingénieur </a:t>
            </a:r>
            <a:r>
              <a:rPr lang="fr-FR" sz="3200" dirty="0" err="1"/>
              <a:t>frontend</a:t>
            </a:r>
            <a:r>
              <a:rPr lang="fr-FR" sz="3200" dirty="0"/>
              <a:t> </a:t>
            </a:r>
            <a:r>
              <a:rPr lang="fr-FR" sz="3200" dirty="0" err="1"/>
              <a:t>Angular</a:t>
            </a:r>
            <a:r>
              <a:rPr lang="fr-FR" sz="3200" dirty="0"/>
              <a:t> :</a:t>
            </a:r>
          </a:p>
        </p:txBody>
      </p:sp>
      <p:sp>
        <p:nvSpPr>
          <p:cNvPr id="3" name="Espace réservé du contenu 2"/>
          <p:cNvSpPr>
            <a:spLocks noGrp="1"/>
          </p:cNvSpPr>
          <p:nvPr>
            <p:ph idx="1"/>
          </p:nvPr>
        </p:nvSpPr>
        <p:spPr/>
        <p:txBody>
          <a:bodyPr>
            <a:normAutofit/>
          </a:bodyPr>
          <a:lstStyle/>
          <a:p>
            <a:pPr algn="just">
              <a:lnSpc>
                <a:spcPct val="150000"/>
              </a:lnSpc>
            </a:pPr>
            <a:r>
              <a:rPr lang="fr-FR" sz="2400" dirty="0"/>
              <a:t>Initialiser et structurer le projet (</a:t>
            </a:r>
            <a:r>
              <a:rPr lang="fr-FR" sz="2400" b="1" dirty="0"/>
              <a:t>Modules, </a:t>
            </a:r>
            <a:r>
              <a:rPr lang="fr-FR" sz="2400" b="1" dirty="0" err="1"/>
              <a:t>Routing</a:t>
            </a:r>
            <a:r>
              <a:rPr lang="fr-FR" sz="2400" b="1" dirty="0"/>
              <a:t>, Services</a:t>
            </a:r>
            <a:r>
              <a:rPr lang="fr-FR" sz="2400" dirty="0" smtClean="0"/>
              <a:t>).</a:t>
            </a:r>
          </a:p>
          <a:p>
            <a:pPr algn="just">
              <a:lnSpc>
                <a:spcPct val="150000"/>
              </a:lnSpc>
            </a:pPr>
            <a:r>
              <a:rPr lang="fr-FR" sz="2400" dirty="0" smtClean="0"/>
              <a:t>Créer </a:t>
            </a:r>
            <a:r>
              <a:rPr lang="fr-FR" sz="2400" dirty="0"/>
              <a:t>les composants de base (</a:t>
            </a:r>
            <a:r>
              <a:rPr lang="fr-FR" sz="2400" b="1" dirty="0" err="1"/>
              <a:t>Navbar</a:t>
            </a:r>
            <a:r>
              <a:rPr lang="fr-FR" sz="2400" b="1" dirty="0"/>
              <a:t>, Dashboard, </a:t>
            </a:r>
            <a:r>
              <a:rPr lang="fr-FR" sz="2400" b="1" dirty="0" err="1"/>
              <a:t>Auth</a:t>
            </a:r>
            <a:r>
              <a:rPr lang="fr-FR" sz="2400" dirty="0" smtClean="0"/>
              <a:t>).</a:t>
            </a:r>
          </a:p>
          <a:p>
            <a:pPr algn="just">
              <a:lnSpc>
                <a:spcPct val="150000"/>
              </a:lnSpc>
            </a:pPr>
            <a:r>
              <a:rPr lang="fr-FR" sz="2400" dirty="0" smtClean="0"/>
              <a:t>Gérer </a:t>
            </a:r>
            <a:r>
              <a:rPr lang="fr-FR" sz="2400" dirty="0"/>
              <a:t>la connexion à l’API </a:t>
            </a:r>
            <a:r>
              <a:rPr lang="fr-FR" sz="2400" dirty="0" err="1"/>
              <a:t>backend</a:t>
            </a:r>
            <a:r>
              <a:rPr lang="fr-FR" sz="2400" dirty="0"/>
              <a:t> (</a:t>
            </a:r>
            <a:r>
              <a:rPr lang="fr-FR" sz="2400" b="1" dirty="0"/>
              <a:t>Services, </a:t>
            </a:r>
            <a:r>
              <a:rPr lang="fr-FR" sz="2400" b="1" dirty="0" err="1"/>
              <a:t>HttpClient</a:t>
            </a:r>
            <a:r>
              <a:rPr lang="fr-FR" sz="2400" dirty="0" smtClean="0"/>
              <a:t>).</a:t>
            </a:r>
          </a:p>
          <a:p>
            <a:pPr algn="just">
              <a:lnSpc>
                <a:spcPct val="150000"/>
              </a:lnSpc>
            </a:pPr>
            <a:r>
              <a:rPr lang="fr-FR" sz="2400" dirty="0" smtClean="0"/>
              <a:t> </a:t>
            </a:r>
            <a:r>
              <a:rPr lang="fr-FR" sz="2400" dirty="0"/>
              <a:t>Implémenter </a:t>
            </a:r>
            <a:r>
              <a:rPr lang="fr-FR" sz="2400" b="1" dirty="0"/>
              <a:t>l’authentification</a:t>
            </a:r>
            <a:r>
              <a:rPr lang="fr-FR" sz="2400" dirty="0"/>
              <a:t> et sécuriser les </a:t>
            </a:r>
            <a:r>
              <a:rPr lang="fr-FR" sz="2400" b="1" dirty="0" smtClean="0"/>
              <a:t>routes</a:t>
            </a:r>
            <a:r>
              <a:rPr lang="fr-FR" sz="2400" dirty="0" smtClean="0"/>
              <a:t>.</a:t>
            </a:r>
          </a:p>
          <a:p>
            <a:pPr algn="just">
              <a:lnSpc>
                <a:spcPct val="150000"/>
              </a:lnSpc>
            </a:pPr>
            <a:r>
              <a:rPr lang="fr-FR" sz="2400" dirty="0" smtClean="0"/>
              <a:t> </a:t>
            </a:r>
            <a:r>
              <a:rPr lang="fr-FR" sz="2400" dirty="0"/>
              <a:t>Améliorer l’UI et l’expérience utilisateur (</a:t>
            </a:r>
            <a:r>
              <a:rPr lang="fr-FR" sz="2400" b="1" dirty="0" err="1"/>
              <a:t>Matérial</a:t>
            </a:r>
            <a:r>
              <a:rPr lang="fr-FR" sz="2400" b="1" dirty="0"/>
              <a:t>, </a:t>
            </a:r>
            <a:r>
              <a:rPr lang="fr-FR" sz="2400" b="1" dirty="0" err="1"/>
              <a:t>Toastr</a:t>
            </a:r>
            <a:r>
              <a:rPr lang="fr-FR" sz="2400" dirty="0"/>
              <a:t>).</a:t>
            </a:r>
          </a:p>
        </p:txBody>
      </p:sp>
    </p:spTree>
    <p:extLst>
      <p:ext uri="{BB962C8B-B14F-4D97-AF65-F5344CB8AC3E}">
        <p14:creationId xmlns:p14="http://schemas.microsoft.com/office/powerpoint/2010/main" val="295112033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err="1" smtClean="0"/>
              <a:t>Angular</a:t>
            </a:r>
            <a:r>
              <a:rPr lang="fr-FR" dirty="0" smtClean="0"/>
              <a:t> 20 : le 28 Mai 2025</a:t>
            </a:r>
            <a:endParaRPr lang="fr-FR" dirty="0"/>
          </a:p>
        </p:txBody>
      </p:sp>
      <p:sp>
        <p:nvSpPr>
          <p:cNvPr id="3" name="Espace réservé du contenu 2"/>
          <p:cNvSpPr>
            <a:spLocks noGrp="1"/>
          </p:cNvSpPr>
          <p:nvPr>
            <p:ph idx="1"/>
          </p:nvPr>
        </p:nvSpPr>
        <p:spPr/>
        <p:txBody>
          <a:bodyPr/>
          <a:lstStyle/>
          <a:p>
            <a:pPr algn="just">
              <a:lnSpc>
                <a:spcPct val="150000"/>
              </a:lnSpc>
            </a:pPr>
            <a:r>
              <a:rPr lang="fr-FR" dirty="0" err="1"/>
              <a:t>Angular</a:t>
            </a:r>
            <a:r>
              <a:rPr lang="fr-FR" dirty="0"/>
              <a:t> 20 n’est </a:t>
            </a:r>
            <a:r>
              <a:rPr lang="fr-FR" b="1" dirty="0"/>
              <a:t>pas seulement une version incrémentale achevant </a:t>
            </a:r>
            <a:r>
              <a:rPr lang="fr-FR" b="1" dirty="0" err="1"/>
              <a:t>Angular</a:t>
            </a:r>
            <a:r>
              <a:rPr lang="fr-FR" b="1" dirty="0"/>
              <a:t> 19</a:t>
            </a:r>
            <a:r>
              <a:rPr lang="fr-FR" dirty="0"/>
              <a:t>, mais une étape majeure vers </a:t>
            </a:r>
            <a:r>
              <a:rPr lang="fr-FR" dirty="0" smtClean="0"/>
              <a:t>:</a:t>
            </a:r>
          </a:p>
          <a:p>
            <a:pPr lvl="1" algn="just">
              <a:lnSpc>
                <a:spcPct val="150000"/>
              </a:lnSpc>
            </a:pPr>
            <a:r>
              <a:rPr lang="fr-FR" dirty="0"/>
              <a:t>des </a:t>
            </a:r>
            <a:r>
              <a:rPr lang="fr-FR" dirty="0" smtClean="0"/>
              <a:t>applications </a:t>
            </a:r>
            <a:r>
              <a:rPr lang="fr-FR" dirty="0"/>
              <a:t>plus rapides et plus </a:t>
            </a:r>
            <a:r>
              <a:rPr lang="fr-FR" dirty="0" smtClean="0"/>
              <a:t>légères</a:t>
            </a:r>
          </a:p>
          <a:p>
            <a:pPr lvl="1" algn="just">
              <a:lnSpc>
                <a:spcPct val="150000"/>
              </a:lnSpc>
            </a:pPr>
            <a:r>
              <a:rPr lang="fr-FR" dirty="0"/>
              <a:t>une réactivité fluide et plus </a:t>
            </a:r>
            <a:r>
              <a:rPr lang="fr-FR" dirty="0" smtClean="0"/>
              <a:t>intégrée</a:t>
            </a:r>
          </a:p>
          <a:p>
            <a:pPr lvl="1" algn="just">
              <a:lnSpc>
                <a:spcPct val="150000"/>
              </a:lnSpc>
            </a:pPr>
            <a:r>
              <a:rPr lang="fr-FR" dirty="0"/>
              <a:t>une meilleure expérience </a:t>
            </a:r>
            <a:r>
              <a:rPr lang="fr-FR" dirty="0" smtClean="0"/>
              <a:t>développeur</a:t>
            </a:r>
          </a:p>
          <a:p>
            <a:pPr lvl="1" algn="just">
              <a:lnSpc>
                <a:spcPct val="150000"/>
              </a:lnSpc>
            </a:pPr>
            <a:r>
              <a:rPr lang="fr-FR" dirty="0"/>
              <a:t>un </a:t>
            </a:r>
            <a:r>
              <a:rPr lang="fr-FR" dirty="0" err="1"/>
              <a:t>Angular</a:t>
            </a:r>
            <a:r>
              <a:rPr lang="fr-FR" dirty="0"/>
              <a:t> prêt pour l’avenir sans Zone.js</a:t>
            </a:r>
          </a:p>
        </p:txBody>
      </p:sp>
    </p:spTree>
    <p:extLst>
      <p:ext uri="{BB962C8B-B14F-4D97-AF65-F5344CB8AC3E}">
        <p14:creationId xmlns:p14="http://schemas.microsoft.com/office/powerpoint/2010/main" val="140466710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975" y="176407"/>
            <a:ext cx="10058400" cy="1609344"/>
          </a:xfrm>
        </p:spPr>
        <p:txBody>
          <a:bodyPr/>
          <a:lstStyle/>
          <a:p>
            <a:pPr algn="ctr"/>
            <a:r>
              <a:rPr lang="fr-FR" dirty="0" smtClean="0"/>
              <a:t>Am</a:t>
            </a:r>
            <a:r>
              <a:rPr lang="fr-FR" dirty="0"/>
              <a:t>é</a:t>
            </a:r>
            <a:r>
              <a:rPr lang="fr-FR" dirty="0" smtClean="0"/>
              <a:t>liorations</a:t>
            </a:r>
            <a:endParaRPr lang="fr-FR" dirty="0"/>
          </a:p>
        </p:txBody>
      </p:sp>
      <p:pic>
        <p:nvPicPr>
          <p:cNvPr id="4" name="Espace réservé du contenu 3"/>
          <p:cNvPicPr>
            <a:picLocks noGrp="1" noChangeAspect="1"/>
          </p:cNvPicPr>
          <p:nvPr>
            <p:ph idx="1"/>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1069975" y="1910994"/>
            <a:ext cx="9810358" cy="447953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85792031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4400" dirty="0" err="1" smtClean="0"/>
              <a:t>Angular</a:t>
            </a:r>
            <a:r>
              <a:rPr lang="fr-FR" sz="4400" dirty="0" smtClean="0"/>
              <a:t> 21 : Le 19 Novembre 2025</a:t>
            </a:r>
            <a:endParaRPr lang="fr-FR" sz="4400" dirty="0"/>
          </a:p>
        </p:txBody>
      </p:sp>
      <p:sp>
        <p:nvSpPr>
          <p:cNvPr id="3" name="Espace réservé du contenu 2"/>
          <p:cNvSpPr>
            <a:spLocks noGrp="1"/>
          </p:cNvSpPr>
          <p:nvPr>
            <p:ph idx="1"/>
          </p:nvPr>
        </p:nvSpPr>
        <p:spPr/>
        <p:txBody>
          <a:bodyPr>
            <a:normAutofit/>
          </a:bodyPr>
          <a:lstStyle/>
          <a:p>
            <a:pPr algn="just">
              <a:lnSpc>
                <a:spcPct val="150000"/>
              </a:lnSpc>
            </a:pPr>
            <a:r>
              <a:rPr lang="fr-FR" sz="2800" dirty="0" err="1"/>
              <a:t>Angular</a:t>
            </a:r>
            <a:r>
              <a:rPr lang="fr-FR" sz="2800" dirty="0"/>
              <a:t> 21, sorti </a:t>
            </a:r>
            <a:r>
              <a:rPr lang="fr-FR" sz="2800" b="1" dirty="0"/>
              <a:t>le 19 novembre 2025</a:t>
            </a:r>
            <a:r>
              <a:rPr lang="fr-FR" sz="2800" dirty="0"/>
              <a:t>, marque une étape majeure dans l’évolution du </a:t>
            </a:r>
            <a:r>
              <a:rPr lang="fr-FR" sz="2800" dirty="0" err="1"/>
              <a:t>framework</a:t>
            </a:r>
            <a:r>
              <a:rPr lang="fr-FR" sz="2800" dirty="0"/>
              <a:t> : </a:t>
            </a:r>
            <a:r>
              <a:rPr lang="fr-FR" sz="2800" b="1" dirty="0"/>
              <a:t>réactivité plus fine</a:t>
            </a:r>
            <a:r>
              <a:rPr lang="fr-FR" sz="2800" dirty="0"/>
              <a:t>, </a:t>
            </a:r>
            <a:r>
              <a:rPr lang="fr-FR" sz="2800" b="1" dirty="0"/>
              <a:t>meilleur support des formulaires</a:t>
            </a:r>
            <a:r>
              <a:rPr lang="fr-FR" sz="2800" dirty="0"/>
              <a:t>, </a:t>
            </a:r>
            <a:r>
              <a:rPr lang="fr-FR" sz="2800" b="1" dirty="0"/>
              <a:t>tests modernes</a:t>
            </a:r>
            <a:r>
              <a:rPr lang="fr-FR" sz="2800" dirty="0"/>
              <a:t>, </a:t>
            </a:r>
            <a:r>
              <a:rPr lang="fr-FR" sz="2800" b="1" dirty="0"/>
              <a:t>IA intégrée</a:t>
            </a:r>
            <a:r>
              <a:rPr lang="fr-FR" sz="2800" dirty="0"/>
              <a:t>, et </a:t>
            </a:r>
            <a:r>
              <a:rPr lang="fr-FR" sz="2800" b="1" dirty="0"/>
              <a:t>performances accrues</a:t>
            </a:r>
            <a:r>
              <a:rPr lang="fr-FR" sz="2800" dirty="0"/>
              <a:t> pour les applications web.</a:t>
            </a:r>
          </a:p>
        </p:txBody>
      </p:sp>
    </p:spTree>
    <p:extLst>
      <p:ext uri="{BB962C8B-B14F-4D97-AF65-F5344CB8AC3E}">
        <p14:creationId xmlns:p14="http://schemas.microsoft.com/office/powerpoint/2010/main" val="62459221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162640"/>
            <a:ext cx="10058400" cy="1138685"/>
          </a:xfrm>
        </p:spPr>
        <p:txBody>
          <a:bodyPr/>
          <a:lstStyle/>
          <a:p>
            <a:pPr algn="ctr"/>
            <a:r>
              <a:rPr lang="fr-FR" dirty="0" smtClean="0"/>
              <a:t>Points forts</a:t>
            </a:r>
            <a:endParaRPr lang="fr-FR" dirty="0"/>
          </a:p>
        </p:txBody>
      </p:sp>
      <p:sp>
        <p:nvSpPr>
          <p:cNvPr id="3" name="Espace réservé du contenu 2"/>
          <p:cNvSpPr>
            <a:spLocks noGrp="1"/>
          </p:cNvSpPr>
          <p:nvPr>
            <p:ph idx="1"/>
          </p:nvPr>
        </p:nvSpPr>
        <p:spPr>
          <a:xfrm>
            <a:off x="1069848" y="821933"/>
            <a:ext cx="10058400" cy="4877656"/>
          </a:xfrm>
        </p:spPr>
        <p:txBody>
          <a:bodyPr>
            <a:noAutofit/>
          </a:bodyPr>
          <a:lstStyle/>
          <a:p>
            <a:pPr algn="just">
              <a:lnSpc>
                <a:spcPct val="150000"/>
              </a:lnSpc>
            </a:pPr>
            <a:r>
              <a:rPr lang="fr-FR" sz="2400" dirty="0" err="1"/>
              <a:t>Angular</a:t>
            </a:r>
            <a:r>
              <a:rPr lang="fr-FR" sz="2400" dirty="0"/>
              <a:t> 21 </a:t>
            </a:r>
            <a:r>
              <a:rPr lang="fr-FR" sz="2400" b="1" dirty="0"/>
              <a:t>pousse encore plus l’architecture réactive avec les </a:t>
            </a:r>
            <a:r>
              <a:rPr lang="fr-FR" sz="2400" b="1" dirty="0" err="1"/>
              <a:t>Signals</a:t>
            </a:r>
            <a:r>
              <a:rPr lang="fr-FR" sz="2400" dirty="0"/>
              <a:t> et rend </a:t>
            </a:r>
            <a:r>
              <a:rPr lang="fr-FR" sz="2400" dirty="0" err="1"/>
              <a:t>Angular</a:t>
            </a:r>
            <a:r>
              <a:rPr lang="fr-FR" sz="2400" dirty="0"/>
              <a:t> </a:t>
            </a:r>
            <a:r>
              <a:rPr lang="fr-FR" sz="2400" b="1" dirty="0"/>
              <a:t>plus léger et plus performant</a:t>
            </a:r>
            <a:r>
              <a:rPr lang="fr-FR" sz="2400" dirty="0"/>
              <a:t> en s’éloignant de Zone.js</a:t>
            </a:r>
            <a:r>
              <a:rPr lang="fr-FR" sz="2400" dirty="0" smtClean="0"/>
              <a:t>.</a:t>
            </a:r>
          </a:p>
          <a:p>
            <a:pPr algn="just">
              <a:lnSpc>
                <a:spcPct val="150000"/>
              </a:lnSpc>
            </a:pPr>
            <a:r>
              <a:rPr lang="fr-FR" sz="2400" dirty="0"/>
              <a:t>Le </a:t>
            </a:r>
            <a:r>
              <a:rPr lang="fr-FR" sz="2400" b="1" dirty="0"/>
              <a:t>support IA</a:t>
            </a:r>
            <a:r>
              <a:rPr lang="fr-FR" sz="2400" dirty="0"/>
              <a:t> est un axe fort, avec des outils CLI pensés pour les assistants intelligents</a:t>
            </a:r>
            <a:r>
              <a:rPr lang="fr-FR" sz="2400" dirty="0" smtClean="0"/>
              <a:t>.</a:t>
            </a:r>
          </a:p>
          <a:p>
            <a:pPr algn="just">
              <a:lnSpc>
                <a:spcPct val="150000"/>
              </a:lnSpc>
            </a:pPr>
            <a:r>
              <a:rPr lang="fr-FR" sz="2400" dirty="0" err="1"/>
              <a:t>Angular</a:t>
            </a:r>
            <a:r>
              <a:rPr lang="fr-FR" sz="2400" dirty="0"/>
              <a:t> 21 cherche à améliorer l’expérience développeur avec </a:t>
            </a:r>
            <a:r>
              <a:rPr lang="fr-FR" sz="2400" dirty="0" smtClean="0"/>
              <a:t>:</a:t>
            </a:r>
          </a:p>
          <a:p>
            <a:pPr lvl="1" algn="just">
              <a:lnSpc>
                <a:spcPct val="150000"/>
              </a:lnSpc>
            </a:pPr>
            <a:r>
              <a:rPr lang="fr-FR" sz="2000" dirty="0"/>
              <a:t>tests modernes</a:t>
            </a:r>
            <a:r>
              <a:rPr lang="fr-FR" sz="2000" dirty="0" smtClean="0"/>
              <a:t>,</a:t>
            </a:r>
          </a:p>
          <a:p>
            <a:pPr lvl="1" algn="just">
              <a:lnSpc>
                <a:spcPct val="150000"/>
              </a:lnSpc>
            </a:pPr>
            <a:r>
              <a:rPr lang="fr-FR" sz="2000" dirty="0"/>
              <a:t>documentation enrichie</a:t>
            </a:r>
            <a:r>
              <a:rPr lang="fr-FR" sz="2000" dirty="0" smtClean="0"/>
              <a:t>,</a:t>
            </a:r>
          </a:p>
          <a:p>
            <a:pPr lvl="1" algn="just">
              <a:lnSpc>
                <a:spcPct val="150000"/>
              </a:lnSpc>
            </a:pPr>
            <a:r>
              <a:rPr lang="it-IT" sz="2000" dirty="0"/>
              <a:t>accessibilité native via Angular Aria</a:t>
            </a:r>
            <a:r>
              <a:rPr lang="it-IT" sz="2000" dirty="0" smtClean="0"/>
              <a:t>,</a:t>
            </a:r>
          </a:p>
          <a:p>
            <a:pPr lvl="1" algn="just">
              <a:lnSpc>
                <a:spcPct val="150000"/>
              </a:lnSpc>
            </a:pPr>
            <a:r>
              <a:rPr lang="fr-FR" sz="2000" dirty="0"/>
              <a:t>et un </a:t>
            </a:r>
            <a:r>
              <a:rPr lang="fr-FR" sz="2000" dirty="0" err="1"/>
              <a:t>tooling</a:t>
            </a:r>
            <a:r>
              <a:rPr lang="fr-FR" sz="2000" dirty="0"/>
              <a:t> repensé. </a:t>
            </a:r>
          </a:p>
        </p:txBody>
      </p:sp>
    </p:spTree>
    <p:extLst>
      <p:ext uri="{BB962C8B-B14F-4D97-AF65-F5344CB8AC3E}">
        <p14:creationId xmlns:p14="http://schemas.microsoft.com/office/powerpoint/2010/main" val="73255911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ctrTitle"/>
          </p:nvPr>
        </p:nvSpPr>
        <p:spPr/>
        <p:txBody>
          <a:bodyPr/>
          <a:lstStyle/>
          <a:p>
            <a:pPr algn="ctr"/>
            <a:r>
              <a:rPr lang="fr-FR" sz="2800" dirty="0"/>
              <a:t>Comprendre les avantages de l'utilisation d'</a:t>
            </a:r>
            <a:r>
              <a:rPr lang="fr-FR" sz="2800" dirty="0" err="1"/>
              <a:t>Angular</a:t>
            </a:r>
            <a:r>
              <a:rPr lang="fr-FR" sz="2800" dirty="0"/>
              <a:t/>
            </a:r>
            <a:br>
              <a:rPr lang="fr-FR" sz="2800" dirty="0"/>
            </a:br>
            <a:endParaRPr lang="fr-FR" sz="2800" dirty="0"/>
          </a:p>
        </p:txBody>
      </p:sp>
      <p:pic>
        <p:nvPicPr>
          <p:cNvPr id="7" name="Image 6"/>
          <p:cNvPicPr>
            <a:picLocks noChangeAspect="1"/>
          </p:cNvPicPr>
          <p:nvPr/>
        </p:nvPicPr>
        <p:blipFill>
          <a:blip r:embed="rId2"/>
          <a:stretch>
            <a:fillRect/>
          </a:stretch>
        </p:blipFill>
        <p:spPr>
          <a:xfrm>
            <a:off x="898634" y="3358055"/>
            <a:ext cx="8371490" cy="3358055"/>
          </a:xfrm>
          <a:prstGeom prst="rect">
            <a:avLst/>
          </a:prstGeom>
        </p:spPr>
      </p:pic>
    </p:spTree>
    <p:extLst>
      <p:ext uri="{BB962C8B-B14F-4D97-AF65-F5344CB8AC3E}">
        <p14:creationId xmlns:p14="http://schemas.microsoft.com/office/powerpoint/2010/main" val="2737699130"/>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216618"/>
            <a:ext cx="10058400" cy="634720"/>
          </a:xfrm>
        </p:spPr>
        <p:txBody>
          <a:bodyPr>
            <a:normAutofit fontScale="90000"/>
          </a:bodyPr>
          <a:lstStyle/>
          <a:p>
            <a:pPr algn="ctr"/>
            <a:r>
              <a:rPr lang="fr-FR" dirty="0" smtClean="0"/>
              <a:t>Points Forts</a:t>
            </a:r>
            <a:endParaRPr lang="fr-FR" dirty="0"/>
          </a:p>
        </p:txBody>
      </p:sp>
      <p:sp>
        <p:nvSpPr>
          <p:cNvPr id="3" name="Espace réservé du contenu 2"/>
          <p:cNvSpPr>
            <a:spLocks noGrp="1"/>
          </p:cNvSpPr>
          <p:nvPr>
            <p:ph idx="1"/>
          </p:nvPr>
        </p:nvSpPr>
        <p:spPr>
          <a:xfrm>
            <a:off x="1069848" y="851338"/>
            <a:ext cx="10058400" cy="5084379"/>
          </a:xfrm>
        </p:spPr>
        <p:txBody>
          <a:bodyPr>
            <a:noAutofit/>
          </a:bodyPr>
          <a:lstStyle/>
          <a:p>
            <a:pPr algn="just">
              <a:lnSpc>
                <a:spcPct val="150000"/>
              </a:lnSpc>
            </a:pPr>
            <a:r>
              <a:rPr lang="fr-FR" dirty="0"/>
              <a:t>L'utilisation d'</a:t>
            </a:r>
            <a:r>
              <a:rPr lang="fr-FR" b="1" dirty="0" err="1"/>
              <a:t>Angular</a:t>
            </a:r>
            <a:r>
              <a:rPr lang="fr-FR" dirty="0"/>
              <a:t>, en particulier dans sa version </a:t>
            </a:r>
            <a:r>
              <a:rPr lang="fr-FR" dirty="0" smtClean="0"/>
              <a:t>offre </a:t>
            </a:r>
            <a:r>
              <a:rPr lang="fr-FR" dirty="0"/>
              <a:t>plusieurs avantages significatifs pour le développement d'applications web. Voici les principaux bénéfices </a:t>
            </a:r>
            <a:r>
              <a:rPr lang="fr-FR" dirty="0" smtClean="0"/>
              <a:t>:</a:t>
            </a:r>
          </a:p>
          <a:p>
            <a:pPr lvl="1" algn="just">
              <a:lnSpc>
                <a:spcPct val="150000"/>
              </a:lnSpc>
            </a:pPr>
            <a:r>
              <a:rPr lang="fr-FR" dirty="0"/>
              <a:t>Architecture Modulaire et Organisation du </a:t>
            </a:r>
            <a:r>
              <a:rPr lang="fr-FR" dirty="0" smtClean="0"/>
              <a:t>Code</a:t>
            </a:r>
          </a:p>
          <a:p>
            <a:pPr lvl="1" algn="just">
              <a:lnSpc>
                <a:spcPct val="150000"/>
              </a:lnSpc>
            </a:pPr>
            <a:r>
              <a:rPr lang="fr-FR" dirty="0"/>
              <a:t>Programmation Réactive avec </a:t>
            </a:r>
            <a:r>
              <a:rPr lang="fr-FR" dirty="0" err="1" smtClean="0"/>
              <a:t>RxJS</a:t>
            </a:r>
            <a:endParaRPr lang="fr-FR" dirty="0" smtClean="0"/>
          </a:p>
          <a:p>
            <a:pPr lvl="1" algn="just">
              <a:lnSpc>
                <a:spcPct val="150000"/>
              </a:lnSpc>
            </a:pPr>
            <a:r>
              <a:rPr lang="fr-FR" dirty="0"/>
              <a:t>Optimisation des </a:t>
            </a:r>
            <a:r>
              <a:rPr lang="fr-FR" dirty="0" smtClean="0"/>
              <a:t>Performances</a:t>
            </a:r>
          </a:p>
          <a:p>
            <a:pPr lvl="1" algn="just">
              <a:lnSpc>
                <a:spcPct val="150000"/>
              </a:lnSpc>
            </a:pPr>
            <a:r>
              <a:rPr lang="fr-FR" dirty="0"/>
              <a:t>Formulaires Puissants et </a:t>
            </a:r>
            <a:r>
              <a:rPr lang="fr-FR" dirty="0" smtClean="0"/>
              <a:t>Structurés</a:t>
            </a:r>
          </a:p>
          <a:p>
            <a:pPr lvl="1" algn="just">
              <a:lnSpc>
                <a:spcPct val="150000"/>
              </a:lnSpc>
            </a:pPr>
            <a:r>
              <a:rPr lang="fr-FR" dirty="0"/>
              <a:t>Tests et Qualité du </a:t>
            </a:r>
            <a:r>
              <a:rPr lang="fr-FR" dirty="0" smtClean="0"/>
              <a:t>Code</a:t>
            </a:r>
          </a:p>
          <a:p>
            <a:pPr lvl="1" algn="just">
              <a:lnSpc>
                <a:spcPct val="150000"/>
              </a:lnSpc>
            </a:pPr>
            <a:r>
              <a:rPr lang="fr-FR" dirty="0"/>
              <a:t>Écosystème Complet et </a:t>
            </a:r>
            <a:r>
              <a:rPr lang="fr-FR" dirty="0" smtClean="0"/>
              <a:t>Outillage</a:t>
            </a:r>
          </a:p>
          <a:p>
            <a:pPr lvl="1" algn="just">
              <a:lnSpc>
                <a:spcPct val="150000"/>
              </a:lnSpc>
            </a:pPr>
            <a:r>
              <a:rPr lang="fr-FR" dirty="0"/>
              <a:t>Support à Long Terme (LTS) et Mises à Jour </a:t>
            </a:r>
            <a:r>
              <a:rPr lang="fr-FR" dirty="0" smtClean="0"/>
              <a:t>Régulières</a:t>
            </a:r>
          </a:p>
          <a:p>
            <a:pPr lvl="1" algn="just">
              <a:lnSpc>
                <a:spcPct val="150000"/>
              </a:lnSpc>
            </a:pPr>
            <a:r>
              <a:rPr lang="fr-FR" dirty="0"/>
              <a:t>Sécurité </a:t>
            </a:r>
            <a:r>
              <a:rPr lang="fr-FR" dirty="0" smtClean="0"/>
              <a:t>Intégrée</a:t>
            </a:r>
          </a:p>
          <a:p>
            <a:pPr lvl="1" algn="just">
              <a:lnSpc>
                <a:spcPct val="150000"/>
              </a:lnSpc>
            </a:pPr>
            <a:r>
              <a:rPr lang="fr-FR" dirty="0"/>
              <a:t>Expérience Développeur Améliorée</a:t>
            </a:r>
          </a:p>
        </p:txBody>
      </p:sp>
    </p:spTree>
    <p:extLst>
      <p:ext uri="{BB962C8B-B14F-4D97-AF65-F5344CB8AC3E}">
        <p14:creationId xmlns:p14="http://schemas.microsoft.com/office/powerpoint/2010/main" val="1435487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down)">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down)">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wipe(down)">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wipe(down)">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wipe(down)">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wipe(down)">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wipe(down)">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wipe(down)">
                                      <p:cBhvr>
                                        <p:cTn id="42" dur="500"/>
                                        <p:tgtEl>
                                          <p:spTgt spid="3">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Effect transition="in" filter="wipe(down)">
                                      <p:cBhvr>
                                        <p:cTn id="47"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lvl="1" algn="ctr" rtl="0">
              <a:lnSpc>
                <a:spcPct val="90000"/>
              </a:lnSpc>
              <a:spcBef>
                <a:spcPct val="0"/>
              </a:spcBef>
            </a:pPr>
            <a:r>
              <a:rPr lang="fr-FR" sz="2800" b="1" dirty="0" smtClean="0"/>
              <a:t>Architecture Modulaire et Organisation du Code</a:t>
            </a:r>
            <a:endParaRPr lang="fr-FR" sz="2400" b="1" dirty="0"/>
          </a:p>
        </p:txBody>
      </p:sp>
      <p:sp>
        <p:nvSpPr>
          <p:cNvPr id="3" name="Espace réservé du contenu 2"/>
          <p:cNvSpPr>
            <a:spLocks noGrp="1"/>
          </p:cNvSpPr>
          <p:nvPr>
            <p:ph idx="1"/>
          </p:nvPr>
        </p:nvSpPr>
        <p:spPr/>
        <p:txBody>
          <a:bodyPr>
            <a:normAutofit lnSpcReduction="10000"/>
          </a:bodyPr>
          <a:lstStyle/>
          <a:p>
            <a:pPr algn="just">
              <a:lnSpc>
                <a:spcPct val="150000"/>
              </a:lnSpc>
            </a:pPr>
            <a:r>
              <a:rPr lang="fr-FR" sz="2800" b="1" dirty="0" err="1"/>
              <a:t>Angular</a:t>
            </a:r>
            <a:r>
              <a:rPr lang="fr-FR" sz="2800" dirty="0"/>
              <a:t> repose sur une architecture modulaire qui facilite la réutilisation et la maintenance du code</a:t>
            </a:r>
            <a:r>
              <a:rPr lang="fr-FR" sz="2800" dirty="0" smtClean="0"/>
              <a:t>.</a:t>
            </a:r>
          </a:p>
          <a:p>
            <a:pPr algn="just">
              <a:lnSpc>
                <a:spcPct val="150000"/>
              </a:lnSpc>
            </a:pPr>
            <a:r>
              <a:rPr lang="fr-FR" sz="2800" dirty="0"/>
              <a:t>Les applications sont organisées en modules (</a:t>
            </a:r>
            <a:r>
              <a:rPr lang="fr-FR" sz="2800" b="1" dirty="0" err="1"/>
              <a:t>NgModules</a:t>
            </a:r>
            <a:r>
              <a:rPr lang="fr-FR" sz="2800" dirty="0"/>
              <a:t>), ce qui permet de mieux structurer le projet et de charger uniquement les parties nécessaires (</a:t>
            </a:r>
            <a:r>
              <a:rPr lang="fr-FR" sz="2800" b="1" dirty="0" err="1"/>
              <a:t>lazy</a:t>
            </a:r>
            <a:r>
              <a:rPr lang="fr-FR" sz="2800" b="1" dirty="0"/>
              <a:t> </a:t>
            </a:r>
            <a:r>
              <a:rPr lang="fr-FR" sz="2800" b="1" dirty="0" err="1"/>
              <a:t>loading</a:t>
            </a:r>
            <a:r>
              <a:rPr lang="fr-FR" sz="2800" dirty="0"/>
              <a:t>).</a:t>
            </a:r>
          </a:p>
        </p:txBody>
      </p:sp>
    </p:spTree>
    <p:extLst>
      <p:ext uri="{BB962C8B-B14F-4D97-AF65-F5344CB8AC3E}">
        <p14:creationId xmlns:p14="http://schemas.microsoft.com/office/powerpoint/2010/main" val="3038641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4000" dirty="0"/>
              <a:t>Programmation Réactive avec </a:t>
            </a:r>
            <a:r>
              <a:rPr lang="fr-FR" sz="4000" dirty="0" err="1"/>
              <a:t>RxJS</a:t>
            </a:r>
            <a:endParaRPr lang="fr-FR" sz="4000" dirty="0"/>
          </a:p>
        </p:txBody>
      </p:sp>
      <p:sp>
        <p:nvSpPr>
          <p:cNvPr id="3" name="Espace réservé du contenu 2"/>
          <p:cNvSpPr>
            <a:spLocks noGrp="1"/>
          </p:cNvSpPr>
          <p:nvPr>
            <p:ph idx="1"/>
          </p:nvPr>
        </p:nvSpPr>
        <p:spPr/>
        <p:txBody>
          <a:bodyPr>
            <a:normAutofit lnSpcReduction="10000"/>
          </a:bodyPr>
          <a:lstStyle/>
          <a:p>
            <a:pPr algn="just">
              <a:lnSpc>
                <a:spcPct val="150000"/>
              </a:lnSpc>
            </a:pPr>
            <a:r>
              <a:rPr lang="fr-FR" sz="2800" b="1" dirty="0" err="1"/>
              <a:t>Angular</a:t>
            </a:r>
            <a:r>
              <a:rPr lang="fr-FR" sz="2800" dirty="0"/>
              <a:t> intègre </a:t>
            </a:r>
            <a:r>
              <a:rPr lang="fr-FR" sz="2800" b="1" dirty="0" err="1"/>
              <a:t>RxJS</a:t>
            </a:r>
            <a:r>
              <a:rPr lang="fr-FR" sz="2800" dirty="0"/>
              <a:t>, une bibliothèque puissante pour la gestion des flux de données et des événements asynchrones</a:t>
            </a:r>
            <a:r>
              <a:rPr lang="fr-FR" sz="2800" dirty="0" smtClean="0"/>
              <a:t>.</a:t>
            </a:r>
          </a:p>
          <a:p>
            <a:pPr algn="just">
              <a:lnSpc>
                <a:spcPct val="150000"/>
              </a:lnSpc>
            </a:pPr>
            <a:r>
              <a:rPr lang="fr-FR" sz="2800" dirty="0"/>
              <a:t>Cela permet de mieux gérer les appels </a:t>
            </a:r>
            <a:r>
              <a:rPr lang="fr-FR" sz="2800" b="1" dirty="0"/>
              <a:t>HTTP</a:t>
            </a:r>
            <a:r>
              <a:rPr lang="fr-FR" sz="2800" dirty="0"/>
              <a:t>, les événements utilisateur et les flux de données complexes.</a:t>
            </a:r>
          </a:p>
        </p:txBody>
      </p:sp>
    </p:spTree>
    <p:extLst>
      <p:ext uri="{BB962C8B-B14F-4D97-AF65-F5344CB8AC3E}">
        <p14:creationId xmlns:p14="http://schemas.microsoft.com/office/powerpoint/2010/main" val="2897506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4400" dirty="0"/>
              <a:t>Optimisation des Performances</a:t>
            </a:r>
          </a:p>
        </p:txBody>
      </p:sp>
      <p:sp>
        <p:nvSpPr>
          <p:cNvPr id="3" name="Espace réservé du contenu 2"/>
          <p:cNvSpPr>
            <a:spLocks noGrp="1"/>
          </p:cNvSpPr>
          <p:nvPr>
            <p:ph idx="1"/>
          </p:nvPr>
        </p:nvSpPr>
        <p:spPr/>
        <p:txBody>
          <a:bodyPr>
            <a:normAutofit/>
          </a:bodyPr>
          <a:lstStyle/>
          <a:p>
            <a:pPr algn="just">
              <a:lnSpc>
                <a:spcPct val="150000"/>
              </a:lnSpc>
            </a:pPr>
            <a:r>
              <a:rPr lang="fr-FR" sz="2400" dirty="0"/>
              <a:t>Change </a:t>
            </a:r>
            <a:r>
              <a:rPr lang="fr-FR" sz="2400" dirty="0" err="1"/>
              <a:t>Detection</a:t>
            </a:r>
            <a:r>
              <a:rPr lang="fr-FR" sz="2400" dirty="0"/>
              <a:t> amélioré : </a:t>
            </a:r>
            <a:r>
              <a:rPr lang="fr-FR" sz="2400" dirty="0" err="1"/>
              <a:t>Angular</a:t>
            </a:r>
            <a:r>
              <a:rPr lang="fr-FR" sz="2400" dirty="0"/>
              <a:t> utilise un moteur de détection des changements optimisé grâce à Zone.js et </a:t>
            </a:r>
            <a:r>
              <a:rPr lang="fr-FR" sz="2400" dirty="0" err="1"/>
              <a:t>OnPush</a:t>
            </a:r>
            <a:r>
              <a:rPr lang="fr-FR" sz="2400" dirty="0" smtClean="0"/>
              <a:t>.</a:t>
            </a:r>
          </a:p>
          <a:p>
            <a:pPr algn="just">
              <a:lnSpc>
                <a:spcPct val="150000"/>
              </a:lnSpc>
            </a:pPr>
            <a:r>
              <a:rPr lang="fr-FR" sz="2400" dirty="0" err="1"/>
              <a:t>Ivy</a:t>
            </a:r>
            <a:r>
              <a:rPr lang="fr-FR" sz="2400" dirty="0"/>
              <a:t> </a:t>
            </a:r>
            <a:r>
              <a:rPr lang="fr-FR" sz="2400" dirty="0" err="1"/>
              <a:t>Renderer</a:t>
            </a:r>
            <a:r>
              <a:rPr lang="fr-FR" sz="2400" dirty="0"/>
              <a:t> : Depuis </a:t>
            </a:r>
            <a:r>
              <a:rPr lang="fr-FR" sz="2400" dirty="0" err="1"/>
              <a:t>Angular</a:t>
            </a:r>
            <a:r>
              <a:rPr lang="fr-FR" sz="2400" dirty="0"/>
              <a:t> 9, </a:t>
            </a:r>
            <a:r>
              <a:rPr lang="fr-FR" sz="2400" dirty="0" err="1"/>
              <a:t>Ivy</a:t>
            </a:r>
            <a:r>
              <a:rPr lang="fr-FR" sz="2400" dirty="0"/>
              <a:t> permet un rendu plus rapide et une réduction de la taille des bundles</a:t>
            </a:r>
            <a:r>
              <a:rPr lang="fr-FR" sz="2400" dirty="0" smtClean="0"/>
              <a:t>.</a:t>
            </a:r>
          </a:p>
          <a:p>
            <a:pPr algn="just">
              <a:lnSpc>
                <a:spcPct val="150000"/>
              </a:lnSpc>
            </a:pPr>
            <a:r>
              <a:rPr lang="fr-FR" sz="2400" dirty="0" err="1"/>
              <a:t>Lazy</a:t>
            </a:r>
            <a:r>
              <a:rPr lang="fr-FR" sz="2400" dirty="0"/>
              <a:t> </a:t>
            </a:r>
            <a:r>
              <a:rPr lang="fr-FR" sz="2400" dirty="0" err="1"/>
              <a:t>Loading</a:t>
            </a:r>
            <a:r>
              <a:rPr lang="fr-FR" sz="2400" dirty="0"/>
              <a:t> : Charge uniquement les parties nécessaires de l'application, améliorant ainsi les performances.</a:t>
            </a:r>
          </a:p>
          <a:p>
            <a:pPr algn="just">
              <a:lnSpc>
                <a:spcPct val="150000"/>
              </a:lnSpc>
            </a:pPr>
            <a:endParaRPr lang="fr-FR" sz="2400" dirty="0"/>
          </a:p>
        </p:txBody>
      </p:sp>
    </p:spTree>
    <p:extLst>
      <p:ext uri="{BB962C8B-B14F-4D97-AF65-F5344CB8AC3E}">
        <p14:creationId xmlns:p14="http://schemas.microsoft.com/office/powerpoint/2010/main" val="3957083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4000" dirty="0"/>
              <a:t>Formulaires Puissants et Structurés</a:t>
            </a:r>
          </a:p>
        </p:txBody>
      </p:sp>
      <p:sp>
        <p:nvSpPr>
          <p:cNvPr id="3" name="Espace réservé du contenu 2"/>
          <p:cNvSpPr>
            <a:spLocks noGrp="1"/>
          </p:cNvSpPr>
          <p:nvPr>
            <p:ph idx="1"/>
          </p:nvPr>
        </p:nvSpPr>
        <p:spPr/>
        <p:txBody>
          <a:bodyPr>
            <a:normAutofit/>
          </a:bodyPr>
          <a:lstStyle/>
          <a:p>
            <a:pPr algn="just">
              <a:lnSpc>
                <a:spcPct val="150000"/>
              </a:lnSpc>
            </a:pPr>
            <a:r>
              <a:rPr lang="fr-FR" sz="2800" b="1" dirty="0"/>
              <a:t>Template-</a:t>
            </a:r>
            <a:r>
              <a:rPr lang="fr-FR" sz="2800" b="1" dirty="0" err="1"/>
              <a:t>driven</a:t>
            </a:r>
            <a:r>
              <a:rPr lang="fr-FR" sz="2800" b="1" dirty="0"/>
              <a:t> </a:t>
            </a:r>
            <a:r>
              <a:rPr lang="fr-FR" sz="2800" b="1" dirty="0" err="1"/>
              <a:t>Forms</a:t>
            </a:r>
            <a:r>
              <a:rPr lang="fr-FR" sz="2800" dirty="0"/>
              <a:t> : Faciles à utiliser pour des formulaires simples</a:t>
            </a:r>
            <a:r>
              <a:rPr lang="fr-FR" sz="2800" dirty="0" smtClean="0"/>
              <a:t>.</a:t>
            </a:r>
          </a:p>
          <a:p>
            <a:pPr algn="just">
              <a:lnSpc>
                <a:spcPct val="150000"/>
              </a:lnSpc>
            </a:pPr>
            <a:r>
              <a:rPr lang="fr-FR" sz="2800" b="1" dirty="0" err="1"/>
              <a:t>Reactive</a:t>
            </a:r>
            <a:r>
              <a:rPr lang="fr-FR" sz="2800" b="1" dirty="0"/>
              <a:t> </a:t>
            </a:r>
            <a:r>
              <a:rPr lang="fr-FR" sz="2800" b="1" dirty="0" err="1"/>
              <a:t>Forms</a:t>
            </a:r>
            <a:r>
              <a:rPr lang="fr-FR" sz="2800" dirty="0"/>
              <a:t> : Idéals pour des formulaires dynamiques et complexes, avec validation avancée et gestion des états.</a:t>
            </a:r>
          </a:p>
        </p:txBody>
      </p:sp>
    </p:spTree>
    <p:extLst>
      <p:ext uri="{BB962C8B-B14F-4D97-AF65-F5344CB8AC3E}">
        <p14:creationId xmlns:p14="http://schemas.microsoft.com/office/powerpoint/2010/main" val="3315523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a:t>Tests et Qualité du Code</a:t>
            </a:r>
          </a:p>
        </p:txBody>
      </p:sp>
      <p:sp>
        <p:nvSpPr>
          <p:cNvPr id="3" name="Espace réservé du contenu 2"/>
          <p:cNvSpPr>
            <a:spLocks noGrp="1"/>
          </p:cNvSpPr>
          <p:nvPr>
            <p:ph idx="1"/>
          </p:nvPr>
        </p:nvSpPr>
        <p:spPr/>
        <p:txBody>
          <a:bodyPr>
            <a:normAutofit/>
          </a:bodyPr>
          <a:lstStyle/>
          <a:p>
            <a:pPr algn="just">
              <a:lnSpc>
                <a:spcPct val="150000"/>
              </a:lnSpc>
            </a:pPr>
            <a:r>
              <a:rPr lang="fr-FR" sz="2800" dirty="0" err="1"/>
              <a:t>Angular</a:t>
            </a:r>
            <a:r>
              <a:rPr lang="fr-FR" sz="2800" dirty="0"/>
              <a:t> encourage les tests unitaires avec </a:t>
            </a:r>
            <a:r>
              <a:rPr lang="fr-FR" sz="2800" b="1" dirty="0"/>
              <a:t>Jasmine et Karma</a:t>
            </a:r>
            <a:r>
              <a:rPr lang="fr-FR" sz="2800" dirty="0"/>
              <a:t>, ainsi que les </a:t>
            </a:r>
            <a:r>
              <a:rPr lang="fr-FR" sz="2800" b="1" dirty="0"/>
              <a:t>tests end-to-end (E2E)</a:t>
            </a:r>
            <a:r>
              <a:rPr lang="fr-FR" sz="2800" dirty="0"/>
              <a:t> avec </a:t>
            </a:r>
            <a:r>
              <a:rPr lang="fr-FR" sz="2800" dirty="0" err="1"/>
              <a:t>Protractor</a:t>
            </a:r>
            <a:r>
              <a:rPr lang="fr-FR" sz="2800" dirty="0"/>
              <a:t> (ou </a:t>
            </a:r>
            <a:r>
              <a:rPr lang="fr-FR" sz="2800" dirty="0" err="1"/>
              <a:t>Cypress</a:t>
            </a:r>
            <a:r>
              <a:rPr lang="fr-FR" sz="2800" dirty="0" smtClean="0"/>
              <a:t>).</a:t>
            </a:r>
          </a:p>
          <a:p>
            <a:pPr algn="just">
              <a:lnSpc>
                <a:spcPct val="150000"/>
              </a:lnSpc>
            </a:pPr>
            <a:r>
              <a:rPr lang="fr-FR" sz="2800" dirty="0"/>
              <a:t>Les tests sont intégrés directement dans l'écosystème </a:t>
            </a:r>
            <a:r>
              <a:rPr lang="fr-FR" sz="2800" dirty="0" err="1"/>
              <a:t>Angular</a:t>
            </a:r>
            <a:r>
              <a:rPr lang="fr-FR" sz="2800" dirty="0"/>
              <a:t>, garantissant une meilleure robustesse.</a:t>
            </a:r>
          </a:p>
        </p:txBody>
      </p:sp>
    </p:spTree>
    <p:extLst>
      <p:ext uri="{BB962C8B-B14F-4D97-AF65-F5344CB8AC3E}">
        <p14:creationId xmlns:p14="http://schemas.microsoft.com/office/powerpoint/2010/main" val="4184680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4400" dirty="0"/>
              <a:t>Écosystème Complet et Outillage</a:t>
            </a:r>
          </a:p>
        </p:txBody>
      </p:sp>
      <p:sp>
        <p:nvSpPr>
          <p:cNvPr id="3" name="Espace réservé du contenu 2"/>
          <p:cNvSpPr>
            <a:spLocks noGrp="1"/>
          </p:cNvSpPr>
          <p:nvPr>
            <p:ph idx="1"/>
          </p:nvPr>
        </p:nvSpPr>
        <p:spPr/>
        <p:txBody>
          <a:bodyPr>
            <a:normAutofit/>
          </a:bodyPr>
          <a:lstStyle/>
          <a:p>
            <a:pPr algn="just">
              <a:lnSpc>
                <a:spcPct val="150000"/>
              </a:lnSpc>
            </a:pPr>
            <a:r>
              <a:rPr lang="fr-FR" sz="2400" b="1" dirty="0" err="1"/>
              <a:t>Angular</a:t>
            </a:r>
            <a:r>
              <a:rPr lang="fr-FR" sz="2400" b="1" dirty="0"/>
              <a:t> CLI</a:t>
            </a:r>
            <a:r>
              <a:rPr lang="fr-FR" sz="2400" dirty="0"/>
              <a:t> : Génération de composants, modules, services, et optimisation du </a:t>
            </a:r>
            <a:r>
              <a:rPr lang="fr-FR" sz="2400" dirty="0" err="1"/>
              <a:t>build</a:t>
            </a:r>
            <a:r>
              <a:rPr lang="fr-FR" sz="2400" dirty="0" smtClean="0"/>
              <a:t>.</a:t>
            </a:r>
          </a:p>
          <a:p>
            <a:pPr algn="just">
              <a:lnSpc>
                <a:spcPct val="150000"/>
              </a:lnSpc>
            </a:pPr>
            <a:r>
              <a:rPr lang="fr-FR" sz="2400" b="1" dirty="0" err="1"/>
              <a:t>Angular</a:t>
            </a:r>
            <a:r>
              <a:rPr lang="fr-FR" sz="2400" b="1" dirty="0"/>
              <a:t> </a:t>
            </a:r>
            <a:r>
              <a:rPr lang="fr-FR" sz="2400" b="1" dirty="0" err="1"/>
              <a:t>Material</a:t>
            </a:r>
            <a:r>
              <a:rPr lang="fr-FR" sz="2400" dirty="0"/>
              <a:t> : Bibliothèque de composants UI préconçus et accessibles</a:t>
            </a:r>
            <a:r>
              <a:rPr lang="fr-FR" sz="2400" dirty="0" smtClean="0"/>
              <a:t>.</a:t>
            </a:r>
          </a:p>
          <a:p>
            <a:pPr algn="just">
              <a:lnSpc>
                <a:spcPct val="150000"/>
              </a:lnSpc>
            </a:pPr>
            <a:r>
              <a:rPr lang="fr-FR" sz="2400" b="1" dirty="0"/>
              <a:t>Outils de développement</a:t>
            </a:r>
            <a:r>
              <a:rPr lang="fr-FR" sz="2400" dirty="0"/>
              <a:t> : Intégration avec </a:t>
            </a:r>
            <a:r>
              <a:rPr lang="fr-FR" sz="2400" dirty="0" err="1"/>
              <a:t>TypeScript</a:t>
            </a:r>
            <a:r>
              <a:rPr lang="fr-FR" sz="2400" dirty="0"/>
              <a:t>, </a:t>
            </a:r>
            <a:r>
              <a:rPr lang="fr-FR" sz="2400" dirty="0" err="1"/>
              <a:t>Webpack</a:t>
            </a:r>
            <a:r>
              <a:rPr lang="fr-FR" sz="2400" dirty="0"/>
              <a:t>, et </a:t>
            </a:r>
            <a:r>
              <a:rPr lang="fr-FR" sz="2400" dirty="0" err="1"/>
              <a:t>DevTools</a:t>
            </a:r>
            <a:r>
              <a:rPr lang="fr-FR" sz="2400" dirty="0"/>
              <a:t>.</a:t>
            </a:r>
          </a:p>
        </p:txBody>
      </p:sp>
    </p:spTree>
    <p:extLst>
      <p:ext uri="{BB962C8B-B14F-4D97-AF65-F5344CB8AC3E}">
        <p14:creationId xmlns:p14="http://schemas.microsoft.com/office/powerpoint/2010/main" val="2617342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2400" dirty="0"/>
              <a:t>Support à Long Terme (LTS) et Mises à Jour Régulières</a:t>
            </a:r>
          </a:p>
        </p:txBody>
      </p:sp>
      <p:sp>
        <p:nvSpPr>
          <p:cNvPr id="3" name="Espace réservé du contenu 2"/>
          <p:cNvSpPr>
            <a:spLocks noGrp="1"/>
          </p:cNvSpPr>
          <p:nvPr>
            <p:ph idx="1"/>
          </p:nvPr>
        </p:nvSpPr>
        <p:spPr/>
        <p:txBody>
          <a:bodyPr>
            <a:normAutofit/>
          </a:bodyPr>
          <a:lstStyle/>
          <a:p>
            <a:pPr algn="just">
              <a:lnSpc>
                <a:spcPct val="150000"/>
              </a:lnSpc>
            </a:pPr>
            <a:r>
              <a:rPr lang="fr-FR" sz="2800" b="1" dirty="0" err="1"/>
              <a:t>Angular</a:t>
            </a:r>
            <a:r>
              <a:rPr lang="fr-FR" sz="2800" dirty="0"/>
              <a:t> suit un cycle de mises à jour bien défini, garantissant stabilité et évolutivité</a:t>
            </a:r>
            <a:r>
              <a:rPr lang="fr-FR" sz="2800" dirty="0" smtClean="0"/>
              <a:t>.</a:t>
            </a:r>
          </a:p>
          <a:p>
            <a:pPr algn="just">
              <a:lnSpc>
                <a:spcPct val="150000"/>
              </a:lnSpc>
            </a:pPr>
            <a:r>
              <a:rPr lang="fr-FR" sz="2800" dirty="0"/>
              <a:t>La communauté active et le support de Google assurent la pérennité du </a:t>
            </a:r>
            <a:r>
              <a:rPr lang="fr-FR" sz="2800" dirty="0" smtClean="0"/>
              <a:t>Framework.</a:t>
            </a:r>
            <a:endParaRPr lang="fr-FR" sz="2800" dirty="0"/>
          </a:p>
        </p:txBody>
      </p:sp>
    </p:spTree>
    <p:extLst>
      <p:ext uri="{BB962C8B-B14F-4D97-AF65-F5344CB8AC3E}">
        <p14:creationId xmlns:p14="http://schemas.microsoft.com/office/powerpoint/2010/main" val="1905635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484632"/>
            <a:ext cx="10058400" cy="760844"/>
          </a:xfrm>
        </p:spPr>
        <p:txBody>
          <a:bodyPr/>
          <a:lstStyle/>
          <a:p>
            <a:pPr algn="ctr"/>
            <a:r>
              <a:rPr lang="fr-FR" dirty="0"/>
              <a:t>Support à Long Terme (LTS)</a:t>
            </a:r>
          </a:p>
        </p:txBody>
      </p:sp>
      <p:sp>
        <p:nvSpPr>
          <p:cNvPr id="3" name="Espace réservé du contenu 2"/>
          <p:cNvSpPr>
            <a:spLocks noGrp="1"/>
          </p:cNvSpPr>
          <p:nvPr>
            <p:ph idx="1"/>
          </p:nvPr>
        </p:nvSpPr>
        <p:spPr>
          <a:xfrm>
            <a:off x="614855" y="1371600"/>
            <a:ext cx="10513393" cy="4800600"/>
          </a:xfrm>
        </p:spPr>
        <p:txBody>
          <a:bodyPr>
            <a:normAutofit/>
          </a:bodyPr>
          <a:lstStyle/>
          <a:p>
            <a:pPr algn="just">
              <a:lnSpc>
                <a:spcPct val="150000"/>
              </a:lnSpc>
            </a:pPr>
            <a:r>
              <a:rPr lang="fr-FR" dirty="0"/>
              <a:t>Le LTS (Long-</a:t>
            </a:r>
            <a:r>
              <a:rPr lang="fr-FR" dirty="0" err="1"/>
              <a:t>Term</a:t>
            </a:r>
            <a:r>
              <a:rPr lang="fr-FR" dirty="0"/>
              <a:t> Support) signifie que certaines versions d’</a:t>
            </a:r>
            <a:r>
              <a:rPr lang="fr-FR" dirty="0" err="1"/>
              <a:t>Angular</a:t>
            </a:r>
            <a:r>
              <a:rPr lang="fr-FR" dirty="0"/>
              <a:t> reçoivent un support prolongé avec des correctifs de sécurité et des mises à jour critiques pendant une durée plus longue. Cela permet aux entreprises d’avoir une stabilité et d’éviter des mises à jour trop fréquentes</a:t>
            </a:r>
            <a:r>
              <a:rPr lang="fr-FR" dirty="0" smtClean="0"/>
              <a:t>.</a:t>
            </a:r>
          </a:p>
          <a:p>
            <a:pPr algn="just">
              <a:lnSpc>
                <a:spcPct val="150000"/>
              </a:lnSpc>
            </a:pPr>
            <a:r>
              <a:rPr lang="fr-FR" dirty="0"/>
              <a:t>Une version </a:t>
            </a:r>
            <a:r>
              <a:rPr lang="fr-FR" dirty="0" err="1"/>
              <a:t>Angular</a:t>
            </a:r>
            <a:r>
              <a:rPr lang="fr-FR" dirty="0"/>
              <a:t> passe en </a:t>
            </a:r>
            <a:r>
              <a:rPr lang="fr-FR" b="1" dirty="0"/>
              <a:t>LTS</a:t>
            </a:r>
            <a:r>
              <a:rPr lang="fr-FR" dirty="0"/>
              <a:t> environ </a:t>
            </a:r>
            <a:r>
              <a:rPr lang="fr-FR" b="1" dirty="0"/>
              <a:t>6 mois après sa sortie</a:t>
            </a:r>
            <a:r>
              <a:rPr lang="fr-FR" dirty="0"/>
              <a:t> et reste sous ce support </a:t>
            </a:r>
            <a:r>
              <a:rPr lang="fr-FR" b="1" dirty="0"/>
              <a:t>pendant 12 mois</a:t>
            </a:r>
            <a:r>
              <a:rPr lang="fr-FR" dirty="0" smtClean="0"/>
              <a:t>.</a:t>
            </a:r>
          </a:p>
          <a:p>
            <a:pPr algn="just">
              <a:lnSpc>
                <a:spcPct val="150000"/>
              </a:lnSpc>
            </a:pPr>
            <a:r>
              <a:rPr lang="fr-FR" dirty="0"/>
              <a:t>Pendant cette période, seules </a:t>
            </a:r>
            <a:r>
              <a:rPr lang="fr-FR" b="1" dirty="0"/>
              <a:t>les corrections de bugs critiques et les mises à jour de sécurité</a:t>
            </a:r>
            <a:r>
              <a:rPr lang="fr-FR" dirty="0"/>
              <a:t> sont appliquées, sans nouvelles fonctionnalités.</a:t>
            </a:r>
          </a:p>
        </p:txBody>
      </p:sp>
    </p:spTree>
    <p:extLst>
      <p:ext uri="{BB962C8B-B14F-4D97-AF65-F5344CB8AC3E}">
        <p14:creationId xmlns:p14="http://schemas.microsoft.com/office/powerpoint/2010/main" val="3665328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a:t>Mises à Jour Régulières</a:t>
            </a:r>
          </a:p>
        </p:txBody>
      </p:sp>
      <p:sp>
        <p:nvSpPr>
          <p:cNvPr id="3" name="Espace réservé du contenu 2"/>
          <p:cNvSpPr>
            <a:spLocks noGrp="1"/>
          </p:cNvSpPr>
          <p:nvPr>
            <p:ph idx="1"/>
          </p:nvPr>
        </p:nvSpPr>
        <p:spPr>
          <a:xfrm>
            <a:off x="536028" y="2121408"/>
            <a:ext cx="10592220" cy="4050792"/>
          </a:xfrm>
        </p:spPr>
        <p:txBody>
          <a:bodyPr>
            <a:normAutofit/>
          </a:bodyPr>
          <a:lstStyle/>
          <a:p>
            <a:pPr>
              <a:lnSpc>
                <a:spcPct val="150000"/>
              </a:lnSpc>
            </a:pPr>
            <a:r>
              <a:rPr lang="fr-FR" sz="2400" dirty="0" err="1"/>
              <a:t>Angular</a:t>
            </a:r>
            <a:r>
              <a:rPr lang="fr-FR" sz="2400" dirty="0"/>
              <a:t> suit un </a:t>
            </a:r>
            <a:r>
              <a:rPr lang="fr-FR" sz="2400" b="1" dirty="0"/>
              <a:t>cycle de mise à jour semestriel</a:t>
            </a:r>
            <a:r>
              <a:rPr lang="fr-FR" sz="2400" dirty="0"/>
              <a:t> avec une </a:t>
            </a:r>
            <a:r>
              <a:rPr lang="fr-FR" sz="2400" b="1" dirty="0"/>
              <a:t>nouvelle version majeure</a:t>
            </a:r>
            <a:r>
              <a:rPr lang="fr-FR" sz="2400" dirty="0"/>
              <a:t> tous les </a:t>
            </a:r>
            <a:r>
              <a:rPr lang="fr-FR" sz="2400" b="1" dirty="0"/>
              <a:t>6 mois</a:t>
            </a:r>
            <a:r>
              <a:rPr lang="fr-FR" sz="2400" dirty="0" smtClean="0"/>
              <a:t>.</a:t>
            </a:r>
          </a:p>
          <a:p>
            <a:pPr>
              <a:lnSpc>
                <a:spcPct val="150000"/>
              </a:lnSpc>
            </a:pPr>
            <a:r>
              <a:rPr lang="fr-FR" sz="2400" b="1" dirty="0"/>
              <a:t>Organisation des mises à jour</a:t>
            </a:r>
            <a:r>
              <a:rPr lang="fr-FR" sz="2400" dirty="0"/>
              <a:t> </a:t>
            </a:r>
            <a:r>
              <a:rPr lang="fr-FR" sz="2400" dirty="0" smtClean="0"/>
              <a:t>:</a:t>
            </a:r>
          </a:p>
          <a:p>
            <a:pPr lvl="1">
              <a:lnSpc>
                <a:spcPct val="150000"/>
              </a:lnSpc>
            </a:pPr>
            <a:r>
              <a:rPr lang="fr-FR" sz="2000" b="1" dirty="0"/>
              <a:t>Patch (x.x.1, x.x.2…)</a:t>
            </a:r>
            <a:r>
              <a:rPr lang="fr-FR" sz="2000" dirty="0"/>
              <a:t> → Corrections de bugs et failles de sécurité</a:t>
            </a:r>
            <a:r>
              <a:rPr lang="fr-FR" sz="2000" dirty="0" smtClean="0"/>
              <a:t>.</a:t>
            </a:r>
          </a:p>
          <a:p>
            <a:pPr lvl="1">
              <a:lnSpc>
                <a:spcPct val="150000"/>
              </a:lnSpc>
            </a:pPr>
            <a:r>
              <a:rPr lang="fr-FR" sz="2000" b="1" dirty="0"/>
              <a:t>Mineure (x.1.x, x.2.x…)</a:t>
            </a:r>
            <a:r>
              <a:rPr lang="fr-FR" sz="2000" dirty="0"/>
              <a:t> → Ajout de fonctionnalités compatibles sans rupture</a:t>
            </a:r>
            <a:r>
              <a:rPr lang="fr-FR" sz="2000" dirty="0" smtClean="0"/>
              <a:t>.</a:t>
            </a:r>
          </a:p>
          <a:p>
            <a:pPr lvl="1">
              <a:lnSpc>
                <a:spcPct val="150000"/>
              </a:lnSpc>
            </a:pPr>
            <a:r>
              <a:rPr lang="fr-FR" sz="2000" b="1" dirty="0"/>
              <a:t>Majeure (x+1.0.0)</a:t>
            </a:r>
            <a:r>
              <a:rPr lang="fr-FR" sz="2000" dirty="0"/>
              <a:t> → Changements importants, nécessitant souvent des ajustements dans le code.</a:t>
            </a:r>
          </a:p>
        </p:txBody>
      </p:sp>
    </p:spTree>
    <p:extLst>
      <p:ext uri="{BB962C8B-B14F-4D97-AF65-F5344CB8AC3E}">
        <p14:creationId xmlns:p14="http://schemas.microsoft.com/office/powerpoint/2010/main" val="1654469555"/>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a:t>Sécurité Intégrée</a:t>
            </a:r>
          </a:p>
        </p:txBody>
      </p:sp>
      <p:sp>
        <p:nvSpPr>
          <p:cNvPr id="3" name="Espace réservé du contenu 2"/>
          <p:cNvSpPr>
            <a:spLocks noGrp="1"/>
          </p:cNvSpPr>
          <p:nvPr>
            <p:ph idx="1"/>
          </p:nvPr>
        </p:nvSpPr>
        <p:spPr/>
        <p:txBody>
          <a:bodyPr>
            <a:normAutofit/>
          </a:bodyPr>
          <a:lstStyle/>
          <a:p>
            <a:pPr algn="just">
              <a:lnSpc>
                <a:spcPct val="150000"/>
              </a:lnSpc>
            </a:pPr>
            <a:r>
              <a:rPr lang="fr-FR" sz="2800" dirty="0"/>
              <a:t>Protection contre </a:t>
            </a:r>
            <a:r>
              <a:rPr lang="fr-FR" sz="2800" b="1" dirty="0"/>
              <a:t>les attaques XSS</a:t>
            </a:r>
            <a:r>
              <a:rPr lang="fr-FR" sz="2800" dirty="0"/>
              <a:t> (Cross-Site Scripting) et </a:t>
            </a:r>
            <a:r>
              <a:rPr lang="fr-FR" sz="2800" b="1" dirty="0"/>
              <a:t>CSRF</a:t>
            </a:r>
            <a:r>
              <a:rPr lang="fr-FR" sz="2800" dirty="0"/>
              <a:t> (Cross-Site </a:t>
            </a:r>
            <a:r>
              <a:rPr lang="fr-FR" sz="2800" dirty="0" err="1"/>
              <a:t>Request</a:t>
            </a:r>
            <a:r>
              <a:rPr lang="fr-FR" sz="2800" dirty="0"/>
              <a:t> </a:t>
            </a:r>
            <a:r>
              <a:rPr lang="fr-FR" sz="2800" dirty="0" err="1"/>
              <a:t>Forgery</a:t>
            </a:r>
            <a:r>
              <a:rPr lang="fr-FR" sz="2800" dirty="0" smtClean="0"/>
              <a:t>).</a:t>
            </a:r>
          </a:p>
          <a:p>
            <a:pPr algn="just">
              <a:lnSpc>
                <a:spcPct val="150000"/>
              </a:lnSpc>
            </a:pPr>
            <a:r>
              <a:rPr lang="fr-FR" sz="2800" b="1" dirty="0" err="1"/>
              <a:t>Sanitization</a:t>
            </a:r>
            <a:r>
              <a:rPr lang="fr-FR" sz="2800" b="1" dirty="0"/>
              <a:t> automatique</a:t>
            </a:r>
            <a:r>
              <a:rPr lang="fr-FR" sz="2800" dirty="0"/>
              <a:t> des entrées utilisateur.</a:t>
            </a:r>
          </a:p>
        </p:txBody>
      </p:sp>
    </p:spTree>
    <p:extLst>
      <p:ext uri="{BB962C8B-B14F-4D97-AF65-F5344CB8AC3E}">
        <p14:creationId xmlns:p14="http://schemas.microsoft.com/office/powerpoint/2010/main" val="29232191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Solutions </a:t>
            </a:r>
            <a:r>
              <a:rPr lang="fr-FR" dirty="0" err="1" smtClean="0"/>
              <a:t>Angular</a:t>
            </a:r>
            <a:endParaRPr lang="fr-FR" dirty="0"/>
          </a:p>
        </p:txBody>
      </p:sp>
      <p:pic>
        <p:nvPicPr>
          <p:cNvPr id="4" name="Espace réservé du contenu 3"/>
          <p:cNvPicPr>
            <a:picLocks noGrp="1" noChangeAspect="1"/>
          </p:cNvPicPr>
          <p:nvPr>
            <p:ph idx="1"/>
          </p:nvPr>
        </p:nvPicPr>
        <p:blipFill>
          <a:blip r:embed="rId2"/>
          <a:stretch>
            <a:fillRect/>
          </a:stretch>
        </p:blipFill>
        <p:spPr>
          <a:xfrm>
            <a:off x="1069847" y="2506716"/>
            <a:ext cx="10058401" cy="324769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380299297"/>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3200" dirty="0"/>
              <a:t>Meilleures pratiques pour sécuriser </a:t>
            </a:r>
            <a:r>
              <a:rPr lang="fr-FR" sz="3200" dirty="0" err="1"/>
              <a:t>Angular</a:t>
            </a:r>
            <a:endParaRPr lang="fr-FR" sz="3200" dirty="0"/>
          </a:p>
        </p:txBody>
      </p:sp>
      <p:sp>
        <p:nvSpPr>
          <p:cNvPr id="3" name="Espace réservé du contenu 2"/>
          <p:cNvSpPr>
            <a:spLocks noGrp="1"/>
          </p:cNvSpPr>
          <p:nvPr>
            <p:ph idx="1"/>
          </p:nvPr>
        </p:nvSpPr>
        <p:spPr/>
        <p:txBody>
          <a:bodyPr>
            <a:normAutofit/>
          </a:bodyPr>
          <a:lstStyle/>
          <a:p>
            <a:pPr algn="just">
              <a:lnSpc>
                <a:spcPct val="200000"/>
              </a:lnSpc>
            </a:pPr>
            <a:r>
              <a:rPr lang="fr-FR" sz="2800" dirty="0"/>
              <a:t>Ne jamais utiliser [</a:t>
            </a:r>
            <a:r>
              <a:rPr lang="fr-FR" sz="2800" dirty="0" err="1"/>
              <a:t>innerHTML</a:t>
            </a:r>
            <a:r>
              <a:rPr lang="fr-FR" sz="2800" dirty="0"/>
              <a:t>] sans le </a:t>
            </a:r>
            <a:r>
              <a:rPr lang="fr-FR" sz="2800" dirty="0" err="1"/>
              <a:t>DomSanitizer</a:t>
            </a:r>
            <a:r>
              <a:rPr lang="fr-FR" sz="2800" dirty="0" smtClean="0"/>
              <a:t>.</a:t>
            </a:r>
          </a:p>
          <a:p>
            <a:pPr algn="just">
              <a:lnSpc>
                <a:spcPct val="200000"/>
              </a:lnSpc>
            </a:pPr>
            <a:r>
              <a:rPr lang="fr-FR" sz="2800" dirty="0"/>
              <a:t>Désactiver le "</a:t>
            </a:r>
            <a:r>
              <a:rPr lang="fr-FR" sz="2800" dirty="0" err="1"/>
              <a:t>template</a:t>
            </a:r>
            <a:r>
              <a:rPr lang="fr-FR" sz="2800" dirty="0"/>
              <a:t> injection" en interdisant le code non sécurisé</a:t>
            </a:r>
            <a:r>
              <a:rPr lang="fr-FR" sz="2800" dirty="0" smtClean="0"/>
              <a:t>.</a:t>
            </a:r>
          </a:p>
          <a:p>
            <a:pPr algn="just">
              <a:lnSpc>
                <a:spcPct val="200000"/>
              </a:lnSpc>
            </a:pPr>
            <a:r>
              <a:rPr lang="fr-FR" sz="2800" dirty="0"/>
              <a:t>S’assurer que le </a:t>
            </a:r>
            <a:r>
              <a:rPr lang="fr-FR" sz="2800" dirty="0" err="1"/>
              <a:t>backend</a:t>
            </a:r>
            <a:r>
              <a:rPr lang="fr-FR" sz="2800" dirty="0"/>
              <a:t> gère bien les </a:t>
            </a:r>
            <a:r>
              <a:rPr lang="fr-FR" sz="2800" dirty="0" err="1"/>
              <a:t>tokens</a:t>
            </a:r>
            <a:r>
              <a:rPr lang="fr-FR" sz="2800" dirty="0"/>
              <a:t> CSRF.</a:t>
            </a:r>
          </a:p>
        </p:txBody>
      </p:sp>
    </p:spTree>
    <p:extLst>
      <p:ext uri="{BB962C8B-B14F-4D97-AF65-F5344CB8AC3E}">
        <p14:creationId xmlns:p14="http://schemas.microsoft.com/office/powerpoint/2010/main" val="905144570"/>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2800" dirty="0"/>
              <a:t>Ne jamais utiliser [</a:t>
            </a:r>
            <a:r>
              <a:rPr lang="fr-FR" sz="2800" dirty="0" err="1"/>
              <a:t>innerHTML</a:t>
            </a:r>
            <a:r>
              <a:rPr lang="fr-FR" sz="2800" dirty="0"/>
              <a:t>] sans </a:t>
            </a:r>
            <a:r>
              <a:rPr lang="fr-FR" sz="2800" dirty="0" err="1"/>
              <a:t>DomSanitizer</a:t>
            </a:r>
            <a:endParaRPr lang="fr-FR" sz="2800" dirty="0"/>
          </a:p>
        </p:txBody>
      </p:sp>
      <p:sp>
        <p:nvSpPr>
          <p:cNvPr id="3" name="Espace réservé du contenu 2"/>
          <p:cNvSpPr>
            <a:spLocks noGrp="1"/>
          </p:cNvSpPr>
          <p:nvPr>
            <p:ph idx="1"/>
          </p:nvPr>
        </p:nvSpPr>
        <p:spPr/>
        <p:txBody>
          <a:bodyPr>
            <a:normAutofit/>
          </a:bodyPr>
          <a:lstStyle/>
          <a:p>
            <a:pPr algn="just">
              <a:lnSpc>
                <a:spcPct val="150000"/>
              </a:lnSpc>
            </a:pPr>
            <a:r>
              <a:rPr lang="fr-FR" sz="2400" dirty="0"/>
              <a:t>Mauvaise pratique (Vulnérable à XSS) </a:t>
            </a:r>
            <a:r>
              <a:rPr lang="fr-FR" sz="2400" dirty="0" smtClean="0"/>
              <a:t>:</a:t>
            </a:r>
          </a:p>
          <a:p>
            <a:pPr lvl="1" algn="just">
              <a:lnSpc>
                <a:spcPct val="150000"/>
              </a:lnSpc>
            </a:pPr>
            <a:r>
              <a:rPr lang="fr-FR" sz="2000" dirty="0"/>
              <a:t>Si on assigne une valeur directement à [</a:t>
            </a:r>
            <a:r>
              <a:rPr lang="fr-FR" sz="2000" dirty="0" err="1"/>
              <a:t>innerHTML</a:t>
            </a:r>
            <a:r>
              <a:rPr lang="fr-FR" sz="2000" dirty="0"/>
              <a:t>], un attaquant peut injecter du JavaScript malveillant</a:t>
            </a:r>
            <a:r>
              <a:rPr lang="fr-FR" sz="2000" dirty="0" smtClean="0"/>
              <a:t>.</a:t>
            </a:r>
          </a:p>
          <a:p>
            <a:pPr lvl="1" algn="just">
              <a:lnSpc>
                <a:spcPct val="150000"/>
              </a:lnSpc>
            </a:pPr>
            <a:endParaRPr lang="fr-FR" sz="2000" dirty="0" smtClean="0"/>
          </a:p>
          <a:p>
            <a:pPr lvl="1" algn="just">
              <a:lnSpc>
                <a:spcPct val="150000"/>
              </a:lnSpc>
            </a:pPr>
            <a:r>
              <a:rPr lang="fr-FR" sz="2000" dirty="0"/>
              <a:t>Si </a:t>
            </a:r>
            <a:r>
              <a:rPr lang="fr-FR" sz="2000" dirty="0" err="1"/>
              <a:t>userInput</a:t>
            </a:r>
            <a:r>
              <a:rPr lang="fr-FR" sz="2000" dirty="0"/>
              <a:t> contient </a:t>
            </a:r>
            <a:r>
              <a:rPr lang="fr-FR" sz="2000" dirty="0" smtClean="0"/>
              <a:t>:</a:t>
            </a:r>
          </a:p>
          <a:p>
            <a:pPr lvl="1" algn="just">
              <a:lnSpc>
                <a:spcPct val="150000"/>
              </a:lnSpc>
            </a:pPr>
            <a:endParaRPr lang="fr-FR" sz="2000" dirty="0"/>
          </a:p>
          <a:p>
            <a:pPr lvl="1" algn="just">
              <a:lnSpc>
                <a:spcPct val="150000"/>
              </a:lnSpc>
            </a:pPr>
            <a:r>
              <a:rPr lang="fr-FR" sz="2000" dirty="0"/>
              <a:t>Alors ce script s’exécutera dans le navigateur ! </a:t>
            </a:r>
          </a:p>
        </p:txBody>
      </p:sp>
      <p:pic>
        <p:nvPicPr>
          <p:cNvPr id="6" name="Image 5"/>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4959076" y="3317328"/>
            <a:ext cx="4058800" cy="59252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8" name="Image 7"/>
          <p:cNvPicPr>
            <a:picLocks noChangeAspect="1"/>
          </p:cNvPicPr>
          <p:nvPr/>
        </p:nvPicPr>
        <p:blipFill>
          <a:blip r:embed="rId4">
            <a:extLst>
              <a:ext uri="{BEBA8EAE-BF5A-486C-A8C5-ECC9F3942E4B}">
                <a14:imgProps xmlns:a14="http://schemas.microsoft.com/office/drawing/2010/main">
                  <a14:imgLayer r:embed="rId5">
                    <a14:imgEffect>
                      <a14:colorTemperature colorTemp="4700"/>
                    </a14:imgEffect>
                  </a14:imgLayer>
                </a14:imgProps>
              </a:ext>
            </a:extLst>
          </a:blip>
          <a:stretch>
            <a:fillRect/>
          </a:stretch>
        </p:blipFill>
        <p:spPr>
          <a:xfrm>
            <a:off x="4959076" y="4351447"/>
            <a:ext cx="4058800" cy="75432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451944222"/>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484632"/>
            <a:ext cx="10058400" cy="634720"/>
          </a:xfrm>
        </p:spPr>
        <p:txBody>
          <a:bodyPr>
            <a:normAutofit fontScale="90000"/>
          </a:bodyPr>
          <a:lstStyle/>
          <a:p>
            <a:pPr algn="ctr"/>
            <a:r>
              <a:rPr lang="fr-FR" dirty="0"/>
              <a:t>Solution avec </a:t>
            </a:r>
            <a:r>
              <a:rPr lang="fr-FR" dirty="0" err="1"/>
              <a:t>DomSanitizer</a:t>
            </a:r>
            <a:endParaRPr lang="fr-FR" dirty="0"/>
          </a:p>
        </p:txBody>
      </p:sp>
      <p:pic>
        <p:nvPicPr>
          <p:cNvPr id="7" name="Espace réservé du contenu 6"/>
          <p:cNvPicPr>
            <a:picLocks noGrp="1" noChangeAspect="1"/>
          </p:cNvPicPr>
          <p:nvPr>
            <p:ph sz="half" idx="1"/>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1069975" y="1576552"/>
            <a:ext cx="5819556" cy="459564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6" name="Espace réservé du contenu 5"/>
          <p:cNvSpPr>
            <a:spLocks noGrp="1"/>
          </p:cNvSpPr>
          <p:nvPr>
            <p:ph sz="half" idx="2"/>
          </p:nvPr>
        </p:nvSpPr>
        <p:spPr>
          <a:xfrm>
            <a:off x="7520152" y="1576552"/>
            <a:ext cx="3598952" cy="4595648"/>
          </a:xfrm>
        </p:spPr>
        <p:txBody>
          <a:bodyPr/>
          <a:lstStyle/>
          <a:p>
            <a:pPr algn="just">
              <a:lnSpc>
                <a:spcPct val="200000"/>
              </a:lnSpc>
            </a:pPr>
            <a:r>
              <a:rPr lang="fr-FR" b="1" dirty="0" err="1"/>
              <a:t>bypassSecurityTrustHtml</a:t>
            </a:r>
            <a:r>
              <a:rPr lang="fr-FR" dirty="0"/>
              <a:t>() valide l’entrée et permet seulement du HTML sûr</a:t>
            </a:r>
            <a:r>
              <a:rPr lang="fr-FR" dirty="0" smtClean="0"/>
              <a:t>.</a:t>
            </a:r>
          </a:p>
          <a:p>
            <a:pPr algn="just">
              <a:lnSpc>
                <a:spcPct val="200000"/>
              </a:lnSpc>
            </a:pPr>
            <a:r>
              <a:rPr lang="fr-FR" dirty="0"/>
              <a:t>Cela empêche l'exécution des scripts injectés.</a:t>
            </a:r>
          </a:p>
        </p:txBody>
      </p:sp>
    </p:spTree>
    <p:extLst>
      <p:ext uri="{BB962C8B-B14F-4D97-AF65-F5344CB8AC3E}">
        <p14:creationId xmlns:p14="http://schemas.microsoft.com/office/powerpoint/2010/main" val="3116190091"/>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2000" dirty="0"/>
              <a:t>Désactiver le "</a:t>
            </a:r>
            <a:r>
              <a:rPr lang="fr-FR" sz="2000" dirty="0" err="1"/>
              <a:t>template</a:t>
            </a:r>
            <a:r>
              <a:rPr lang="fr-FR" sz="2000" dirty="0"/>
              <a:t> injection" en interdisant le code non sécurisé</a:t>
            </a:r>
          </a:p>
        </p:txBody>
      </p:sp>
      <p:sp>
        <p:nvSpPr>
          <p:cNvPr id="5" name="Espace réservé du contenu 4"/>
          <p:cNvSpPr>
            <a:spLocks noGrp="1"/>
          </p:cNvSpPr>
          <p:nvPr>
            <p:ph idx="1"/>
          </p:nvPr>
        </p:nvSpPr>
        <p:spPr>
          <a:xfrm>
            <a:off x="268014" y="2121408"/>
            <a:ext cx="10860234" cy="4050792"/>
          </a:xfrm>
        </p:spPr>
        <p:txBody>
          <a:bodyPr>
            <a:normAutofit/>
          </a:bodyPr>
          <a:lstStyle/>
          <a:p>
            <a:pPr algn="just">
              <a:lnSpc>
                <a:spcPct val="150000"/>
              </a:lnSpc>
            </a:pPr>
            <a:r>
              <a:rPr lang="fr-FR" sz="2400" b="1" dirty="0"/>
              <a:t>Le problème du "Template </a:t>
            </a:r>
            <a:r>
              <a:rPr lang="fr-FR" sz="2400" b="1" dirty="0" smtClean="0"/>
              <a:t>Injection« </a:t>
            </a:r>
          </a:p>
          <a:p>
            <a:pPr lvl="1" algn="just">
              <a:lnSpc>
                <a:spcPct val="150000"/>
              </a:lnSpc>
            </a:pPr>
            <a:r>
              <a:rPr lang="fr-FR" sz="2000" dirty="0"/>
              <a:t>Si une application </a:t>
            </a:r>
            <a:r>
              <a:rPr lang="fr-FR" sz="2000" dirty="0" err="1"/>
              <a:t>Angular</a:t>
            </a:r>
            <a:r>
              <a:rPr lang="fr-FR" sz="2000" dirty="0"/>
              <a:t> permet à un utilisateur d’injecter du </a:t>
            </a:r>
            <a:r>
              <a:rPr lang="fr-FR" sz="2000" b="1" dirty="0"/>
              <a:t>code </a:t>
            </a:r>
            <a:r>
              <a:rPr lang="fr-FR" sz="2000" b="1" dirty="0" err="1"/>
              <a:t>Angular</a:t>
            </a:r>
            <a:r>
              <a:rPr lang="fr-FR" sz="2000" dirty="0"/>
              <a:t> dans un </a:t>
            </a:r>
            <a:r>
              <a:rPr lang="fr-FR" sz="2000" dirty="0" smtClean="0"/>
              <a:t>Template, </a:t>
            </a:r>
            <a:r>
              <a:rPr lang="fr-FR" sz="2000" dirty="0"/>
              <a:t>il peut exécuter des actions malveillantes</a:t>
            </a:r>
            <a:r>
              <a:rPr lang="fr-FR" sz="2000" dirty="0" smtClean="0"/>
              <a:t>.</a:t>
            </a:r>
          </a:p>
          <a:p>
            <a:pPr lvl="1" algn="just">
              <a:lnSpc>
                <a:spcPct val="150000"/>
              </a:lnSpc>
            </a:pPr>
            <a:r>
              <a:rPr lang="fr-FR" sz="2000" dirty="0"/>
              <a:t>Exemple d'attaque </a:t>
            </a:r>
            <a:r>
              <a:rPr lang="fr-FR" sz="2000" dirty="0" smtClean="0"/>
              <a:t>"Template </a:t>
            </a:r>
            <a:r>
              <a:rPr lang="fr-FR" sz="2000" dirty="0"/>
              <a:t>injection" :Si un champ utilisateur contient </a:t>
            </a:r>
            <a:r>
              <a:rPr lang="fr-FR" sz="2000" dirty="0" smtClean="0"/>
              <a:t>:</a:t>
            </a:r>
          </a:p>
          <a:p>
            <a:pPr lvl="1" algn="just">
              <a:lnSpc>
                <a:spcPct val="150000"/>
              </a:lnSpc>
            </a:pPr>
            <a:r>
              <a:rPr lang="fr-FR" sz="2000" dirty="0"/>
              <a:t>Et qu’il est affiché sans protection </a:t>
            </a:r>
            <a:r>
              <a:rPr lang="fr-FR" sz="2000" dirty="0" smtClean="0"/>
              <a:t>:</a:t>
            </a:r>
          </a:p>
          <a:p>
            <a:pPr lvl="1" algn="just">
              <a:lnSpc>
                <a:spcPct val="150000"/>
              </a:lnSpc>
            </a:pPr>
            <a:r>
              <a:rPr lang="fr-FR" sz="2000" dirty="0"/>
              <a:t>Alors </a:t>
            </a:r>
            <a:r>
              <a:rPr lang="fr-FR" sz="2000" b="1" dirty="0"/>
              <a:t>le navigateur exécutera l’alerte</a:t>
            </a:r>
            <a:r>
              <a:rPr lang="fr-FR" sz="2000" dirty="0"/>
              <a:t> car </a:t>
            </a:r>
            <a:r>
              <a:rPr lang="fr-FR" sz="2000" dirty="0" err="1"/>
              <a:t>Angular</a:t>
            </a:r>
            <a:r>
              <a:rPr lang="fr-FR" sz="2000" dirty="0"/>
              <a:t> va l'interpréter comme une expression.</a:t>
            </a:r>
          </a:p>
        </p:txBody>
      </p:sp>
      <p:pic>
        <p:nvPicPr>
          <p:cNvPr id="6" name="Image 5"/>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10111372" y="3820469"/>
            <a:ext cx="1971037" cy="51360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7" name="Image 6"/>
          <p:cNvPicPr>
            <a:picLocks noChangeAspect="1"/>
          </p:cNvPicPr>
          <p:nvPr/>
        </p:nvPicPr>
        <p:blipFill>
          <a:blip r:embed="rId4">
            <a:extLst>
              <a:ext uri="{BEBA8EAE-BF5A-486C-A8C5-ECC9F3942E4B}">
                <a14:imgProps xmlns:a14="http://schemas.microsoft.com/office/drawing/2010/main">
                  <a14:imgLayer r:embed="rId5">
                    <a14:imgEffect>
                      <a14:colorTemperature colorTemp="4700"/>
                    </a14:imgEffect>
                  </a14:imgLayer>
                </a14:imgProps>
              </a:ext>
            </a:extLst>
          </a:blip>
          <a:stretch>
            <a:fillRect/>
          </a:stretch>
        </p:blipFill>
        <p:spPr>
          <a:xfrm>
            <a:off x="5698131" y="4334076"/>
            <a:ext cx="2249520" cy="52141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441359110"/>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2800" dirty="0"/>
              <a:t>Bonne pratique : Désactiver l'évaluation dynamique</a:t>
            </a:r>
          </a:p>
        </p:txBody>
      </p:sp>
      <p:sp>
        <p:nvSpPr>
          <p:cNvPr id="3" name="Espace réservé du contenu 2"/>
          <p:cNvSpPr>
            <a:spLocks noGrp="1"/>
          </p:cNvSpPr>
          <p:nvPr>
            <p:ph idx="1"/>
          </p:nvPr>
        </p:nvSpPr>
        <p:spPr/>
        <p:txBody>
          <a:bodyPr>
            <a:normAutofit fontScale="77500" lnSpcReduction="20000"/>
          </a:bodyPr>
          <a:lstStyle/>
          <a:p>
            <a:pPr algn="just">
              <a:lnSpc>
                <a:spcPct val="200000"/>
              </a:lnSpc>
            </a:pPr>
            <a:r>
              <a:rPr lang="fr-FR" sz="2400" dirty="0"/>
              <a:t>Dans </a:t>
            </a:r>
            <a:r>
              <a:rPr lang="fr-FR" sz="2400" b="1" dirty="0" err="1"/>
              <a:t>Angular</a:t>
            </a:r>
            <a:r>
              <a:rPr lang="fr-FR" sz="2400" b="1" dirty="0"/>
              <a:t> 17+</a:t>
            </a:r>
            <a:r>
              <a:rPr lang="fr-FR" sz="2400" dirty="0"/>
              <a:t>, il existe une option pour désactiver ce type de vulnérabilité </a:t>
            </a:r>
            <a:r>
              <a:rPr lang="fr-FR" sz="2400" dirty="0" smtClean="0"/>
              <a:t>:</a:t>
            </a:r>
          </a:p>
          <a:p>
            <a:pPr lvl="1" algn="just">
              <a:lnSpc>
                <a:spcPct val="200000"/>
              </a:lnSpc>
            </a:pPr>
            <a:r>
              <a:rPr lang="fr-FR" sz="2000" dirty="0"/>
              <a:t>Ajoutez dans </a:t>
            </a:r>
            <a:r>
              <a:rPr lang="fr-FR" sz="2000" dirty="0" err="1"/>
              <a:t>angular.json</a:t>
            </a:r>
            <a:r>
              <a:rPr lang="fr-FR" sz="2000" dirty="0"/>
              <a:t> </a:t>
            </a:r>
            <a:r>
              <a:rPr lang="fr-FR" sz="2000" dirty="0" smtClean="0"/>
              <a:t>:</a:t>
            </a:r>
          </a:p>
          <a:p>
            <a:pPr lvl="1" algn="just">
              <a:lnSpc>
                <a:spcPct val="200000"/>
              </a:lnSpc>
            </a:pPr>
            <a:endParaRPr lang="fr-FR" sz="2000" dirty="0" smtClean="0"/>
          </a:p>
          <a:p>
            <a:pPr lvl="1" algn="just">
              <a:lnSpc>
                <a:spcPct val="200000"/>
              </a:lnSpc>
            </a:pPr>
            <a:endParaRPr lang="fr-FR" sz="2000" dirty="0"/>
          </a:p>
          <a:p>
            <a:pPr lvl="1" algn="just">
              <a:lnSpc>
                <a:spcPct val="200000"/>
              </a:lnSpc>
            </a:pPr>
            <a:r>
              <a:rPr lang="fr-FR" sz="2000" dirty="0"/>
              <a:t>Cela empêche </a:t>
            </a:r>
            <a:r>
              <a:rPr lang="fr-FR" sz="2000" b="1" dirty="0" err="1"/>
              <a:t>Angular</a:t>
            </a:r>
            <a:r>
              <a:rPr lang="fr-FR" sz="2000" dirty="0"/>
              <a:t> d’interpréter dynamiquement du contenu utilisateur comme une expression</a:t>
            </a:r>
            <a:r>
              <a:rPr lang="fr-FR" sz="2000" dirty="0" smtClean="0"/>
              <a:t>.</a:t>
            </a:r>
          </a:p>
          <a:p>
            <a:pPr lvl="1" algn="just">
              <a:lnSpc>
                <a:spcPct val="200000"/>
              </a:lnSpc>
            </a:pPr>
            <a:r>
              <a:rPr lang="fr-FR" sz="2000" dirty="0"/>
              <a:t>Autre méthode : Toujours utiliser le </a:t>
            </a:r>
            <a:r>
              <a:rPr lang="fr-FR" sz="2000" b="1" dirty="0" err="1"/>
              <a:t>DomSanitizer</a:t>
            </a:r>
            <a:r>
              <a:rPr lang="fr-FR" sz="2000" dirty="0"/>
              <a:t> (comme vu précédemment) pour désactiver toute interprétation non sécurisée.</a:t>
            </a:r>
          </a:p>
        </p:txBody>
      </p:sp>
      <p:pic>
        <p:nvPicPr>
          <p:cNvPr id="5" name="Image 4"/>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4841912" y="2837116"/>
            <a:ext cx="2514272" cy="94926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26830650"/>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3600" dirty="0"/>
              <a:t>Expérience Développeur Améliorée</a:t>
            </a:r>
          </a:p>
        </p:txBody>
      </p:sp>
      <p:sp>
        <p:nvSpPr>
          <p:cNvPr id="3" name="Espace réservé du contenu 2"/>
          <p:cNvSpPr>
            <a:spLocks noGrp="1"/>
          </p:cNvSpPr>
          <p:nvPr>
            <p:ph idx="1"/>
          </p:nvPr>
        </p:nvSpPr>
        <p:spPr/>
        <p:txBody>
          <a:bodyPr>
            <a:normAutofit/>
          </a:bodyPr>
          <a:lstStyle/>
          <a:p>
            <a:pPr algn="just">
              <a:lnSpc>
                <a:spcPct val="150000"/>
              </a:lnSpc>
            </a:pPr>
            <a:r>
              <a:rPr lang="fr-FR" sz="2800" b="1" dirty="0" err="1"/>
              <a:t>TypeScript</a:t>
            </a:r>
            <a:r>
              <a:rPr lang="fr-FR" sz="2800" dirty="0"/>
              <a:t> offre une meilleure gestion des types, réduisant ainsi les erreurs</a:t>
            </a:r>
            <a:r>
              <a:rPr lang="fr-FR" sz="2800" dirty="0" smtClean="0"/>
              <a:t>.</a:t>
            </a:r>
          </a:p>
          <a:p>
            <a:pPr algn="just">
              <a:lnSpc>
                <a:spcPct val="150000"/>
              </a:lnSpc>
            </a:pPr>
            <a:r>
              <a:rPr lang="fr-FR" sz="2800" b="1" dirty="0"/>
              <a:t>Architecture </a:t>
            </a:r>
            <a:r>
              <a:rPr lang="fr-FR" sz="2800" b="1" dirty="0" err="1"/>
              <a:t>opinionated</a:t>
            </a:r>
            <a:r>
              <a:rPr lang="fr-FR" sz="2800" dirty="0"/>
              <a:t> qui impose de bonnes pratiques et facilite le travail en équipe.</a:t>
            </a:r>
          </a:p>
        </p:txBody>
      </p:sp>
    </p:spTree>
    <p:extLst>
      <p:ext uri="{BB962C8B-B14F-4D97-AF65-F5344CB8AC3E}">
        <p14:creationId xmlns:p14="http://schemas.microsoft.com/office/powerpoint/2010/main" val="3165032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Conclusion</a:t>
            </a:r>
            <a:endParaRPr lang="fr-FR" dirty="0"/>
          </a:p>
        </p:txBody>
      </p:sp>
      <p:sp>
        <p:nvSpPr>
          <p:cNvPr id="3" name="Espace réservé du contenu 2"/>
          <p:cNvSpPr>
            <a:spLocks noGrp="1"/>
          </p:cNvSpPr>
          <p:nvPr>
            <p:ph idx="1"/>
          </p:nvPr>
        </p:nvSpPr>
        <p:spPr/>
        <p:txBody>
          <a:bodyPr>
            <a:normAutofit/>
          </a:bodyPr>
          <a:lstStyle/>
          <a:p>
            <a:pPr algn="just">
              <a:lnSpc>
                <a:spcPct val="200000"/>
              </a:lnSpc>
            </a:pPr>
            <a:r>
              <a:rPr lang="fr-FR" sz="3200" dirty="0" smtClean="0"/>
              <a:t>Pour développer une </a:t>
            </a:r>
            <a:r>
              <a:rPr lang="fr-FR" sz="3200" b="1" dirty="0" smtClean="0"/>
              <a:t>application </a:t>
            </a:r>
            <a:r>
              <a:rPr lang="fr-FR" sz="3200" b="1" dirty="0"/>
              <a:t>d'entreprise </a:t>
            </a:r>
            <a:r>
              <a:rPr lang="fr-FR" sz="3200" b="1" dirty="0" err="1"/>
              <a:t>scalable</a:t>
            </a:r>
            <a:r>
              <a:rPr lang="fr-FR" sz="3200" dirty="0"/>
              <a:t>, </a:t>
            </a:r>
            <a:r>
              <a:rPr lang="fr-FR" sz="3200" dirty="0" err="1"/>
              <a:t>Angular</a:t>
            </a:r>
            <a:r>
              <a:rPr lang="fr-FR" sz="3200" dirty="0"/>
              <a:t> est un excellent choix grâce à sa </a:t>
            </a:r>
            <a:r>
              <a:rPr lang="fr-FR" sz="3200" b="1" dirty="0"/>
              <a:t>modularité</a:t>
            </a:r>
            <a:r>
              <a:rPr lang="fr-FR" sz="3200" dirty="0"/>
              <a:t>, ses </a:t>
            </a:r>
            <a:r>
              <a:rPr lang="fr-FR" sz="3200" b="1" dirty="0"/>
              <a:t>performances optimisées</a:t>
            </a:r>
            <a:r>
              <a:rPr lang="fr-FR" sz="3200" dirty="0"/>
              <a:t> et son </a:t>
            </a:r>
            <a:r>
              <a:rPr lang="fr-FR" sz="3200" b="1" dirty="0"/>
              <a:t>écosystème complet</a:t>
            </a:r>
            <a:r>
              <a:rPr lang="fr-FR" sz="3200" dirty="0"/>
              <a:t>. </a:t>
            </a:r>
          </a:p>
        </p:txBody>
      </p:sp>
    </p:spTree>
    <p:extLst>
      <p:ext uri="{BB962C8B-B14F-4D97-AF65-F5344CB8AC3E}">
        <p14:creationId xmlns:p14="http://schemas.microsoft.com/office/powerpoint/2010/main" val="1516963507"/>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4000" cap="all" dirty="0"/>
              <a:t>INCONVÉNIENTS </a:t>
            </a:r>
            <a:r>
              <a:rPr lang="fr-FR" sz="4000" cap="all" dirty="0" smtClean="0"/>
              <a:t>du Framework</a:t>
            </a:r>
            <a:r>
              <a:rPr lang="fr-FR" sz="4000" cap="all" dirty="0"/>
              <a:t/>
            </a:r>
            <a:br>
              <a:rPr lang="fr-FR" sz="4000" cap="all" dirty="0"/>
            </a:br>
            <a:endParaRPr lang="fr-FR" sz="4000" dirty="0"/>
          </a:p>
        </p:txBody>
      </p:sp>
      <p:sp>
        <p:nvSpPr>
          <p:cNvPr id="3" name="Espace réservé du contenu 2"/>
          <p:cNvSpPr>
            <a:spLocks noGrp="1"/>
          </p:cNvSpPr>
          <p:nvPr>
            <p:ph idx="1"/>
          </p:nvPr>
        </p:nvSpPr>
        <p:spPr>
          <a:xfrm>
            <a:off x="583324" y="1695635"/>
            <a:ext cx="10694275" cy="4518733"/>
          </a:xfrm>
        </p:spPr>
        <p:txBody>
          <a:bodyPr>
            <a:normAutofit/>
          </a:bodyPr>
          <a:lstStyle/>
          <a:p>
            <a:pPr algn="just" fontAlgn="base">
              <a:lnSpc>
                <a:spcPct val="200000"/>
              </a:lnSpc>
              <a:buFont typeface="Wingdings" panose="05000000000000000000" pitchFamily="2" charset="2"/>
              <a:buChar char="Ø"/>
            </a:pPr>
            <a:r>
              <a:rPr lang="fr-FR" sz="2400" dirty="0" smtClean="0"/>
              <a:t>L’impossibilité </a:t>
            </a:r>
            <a:r>
              <a:rPr lang="fr-FR" sz="2400" dirty="0"/>
              <a:t>de changer de </a:t>
            </a:r>
            <a:r>
              <a:rPr lang="fr-FR" sz="2400" dirty="0" smtClean="0"/>
              <a:t>Framework </a:t>
            </a:r>
            <a:r>
              <a:rPr lang="fr-FR" sz="2400" dirty="0"/>
              <a:t>en cours de route : une application doit être développée en Angular du début à la fin</a:t>
            </a:r>
          </a:p>
          <a:p>
            <a:pPr algn="just" fontAlgn="base">
              <a:lnSpc>
                <a:spcPct val="200000"/>
              </a:lnSpc>
              <a:buFont typeface="Wingdings" panose="05000000000000000000" pitchFamily="2" charset="2"/>
              <a:buChar char="Ø"/>
            </a:pPr>
            <a:r>
              <a:rPr lang="fr-FR" sz="2400" dirty="0"/>
              <a:t>Problèmes de migration d’une version à une autre. Les montées en version sont particulièrement difficiles (bien que Angular 4, 5 et 6 soient désormais rétro-compatibles)</a:t>
            </a:r>
          </a:p>
          <a:p>
            <a:pPr algn="just">
              <a:lnSpc>
                <a:spcPct val="200000"/>
              </a:lnSpc>
              <a:buFont typeface="Wingdings" panose="05000000000000000000" pitchFamily="2" charset="2"/>
              <a:buChar char="Ø"/>
            </a:pPr>
            <a:endParaRPr lang="fr-FR" sz="2400" dirty="0"/>
          </a:p>
        </p:txBody>
      </p:sp>
    </p:spTree>
    <p:extLst>
      <p:ext uri="{BB962C8B-B14F-4D97-AF65-F5344CB8AC3E}">
        <p14:creationId xmlns:p14="http://schemas.microsoft.com/office/powerpoint/2010/main" val="2356121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ctrTitle"/>
          </p:nvPr>
        </p:nvSpPr>
        <p:spPr/>
        <p:txBody>
          <a:bodyPr/>
          <a:lstStyle/>
          <a:p>
            <a:pPr algn="ctr"/>
            <a:r>
              <a:rPr lang="fr-FR" sz="2800" dirty="0"/>
              <a:t>Comprendre le cadre et l'architecture d'</a:t>
            </a:r>
            <a:r>
              <a:rPr lang="fr-FR" sz="2800" dirty="0" err="1"/>
              <a:t>Angular</a:t>
            </a:r>
            <a:r>
              <a:rPr lang="fr-FR" sz="2800" dirty="0"/>
              <a:t/>
            </a:r>
            <a:br>
              <a:rPr lang="fr-FR" sz="2800" dirty="0"/>
            </a:br>
            <a:endParaRPr lang="fr-FR" sz="2800" dirty="0"/>
          </a:p>
        </p:txBody>
      </p:sp>
      <p:pic>
        <p:nvPicPr>
          <p:cNvPr id="6" name="Image 5"/>
          <p:cNvPicPr>
            <a:picLocks noChangeAspect="1"/>
          </p:cNvPicPr>
          <p:nvPr/>
        </p:nvPicPr>
        <p:blipFill>
          <a:blip r:embed="rId2"/>
          <a:stretch>
            <a:fillRect/>
          </a:stretch>
        </p:blipFill>
        <p:spPr>
          <a:xfrm>
            <a:off x="1180771" y="4468030"/>
            <a:ext cx="8073588" cy="224807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70497648"/>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Cadre général</a:t>
            </a:r>
            <a:endParaRPr lang="fr-FR" dirty="0"/>
          </a:p>
        </p:txBody>
      </p:sp>
      <p:sp>
        <p:nvSpPr>
          <p:cNvPr id="3" name="Espace réservé du contenu 2"/>
          <p:cNvSpPr>
            <a:spLocks noGrp="1"/>
          </p:cNvSpPr>
          <p:nvPr>
            <p:ph idx="1"/>
          </p:nvPr>
        </p:nvSpPr>
        <p:spPr/>
        <p:txBody>
          <a:bodyPr>
            <a:normAutofit/>
          </a:bodyPr>
          <a:lstStyle/>
          <a:p>
            <a:pPr algn="just">
              <a:lnSpc>
                <a:spcPct val="150000"/>
              </a:lnSpc>
            </a:pPr>
            <a:r>
              <a:rPr lang="fr-FR" sz="2400" dirty="0" err="1"/>
              <a:t>Angular</a:t>
            </a:r>
            <a:r>
              <a:rPr lang="fr-FR" sz="2400" dirty="0"/>
              <a:t> repose sur une architecture modulaire </a:t>
            </a:r>
            <a:r>
              <a:rPr lang="fr-FR" sz="2400" dirty="0" smtClean="0"/>
              <a:t>: </a:t>
            </a:r>
          </a:p>
          <a:p>
            <a:pPr lvl="1" algn="just">
              <a:lnSpc>
                <a:spcPct val="150000"/>
              </a:lnSpc>
            </a:pPr>
            <a:r>
              <a:rPr lang="fr-FR" sz="2000" b="1" dirty="0"/>
              <a:t>Modules</a:t>
            </a:r>
            <a:r>
              <a:rPr lang="fr-FR" sz="2000" dirty="0"/>
              <a:t> pour organiser le </a:t>
            </a:r>
            <a:r>
              <a:rPr lang="fr-FR" sz="2000" dirty="0" smtClean="0"/>
              <a:t>code</a:t>
            </a:r>
          </a:p>
          <a:p>
            <a:pPr lvl="1" algn="just">
              <a:lnSpc>
                <a:spcPct val="150000"/>
              </a:lnSpc>
            </a:pPr>
            <a:r>
              <a:rPr lang="fr-FR" sz="2000" b="1" dirty="0"/>
              <a:t>Composants</a:t>
            </a:r>
            <a:r>
              <a:rPr lang="fr-FR" sz="2000" dirty="0"/>
              <a:t> pour structurer </a:t>
            </a:r>
            <a:r>
              <a:rPr lang="fr-FR" sz="2000" dirty="0" smtClean="0"/>
              <a:t>l'UI</a:t>
            </a:r>
          </a:p>
          <a:p>
            <a:pPr lvl="1" algn="just">
              <a:lnSpc>
                <a:spcPct val="150000"/>
              </a:lnSpc>
            </a:pPr>
            <a:r>
              <a:rPr lang="fr-FR" sz="2000" b="1" dirty="0"/>
              <a:t>Data Binding et Directives</a:t>
            </a:r>
            <a:r>
              <a:rPr lang="fr-FR" sz="2000" dirty="0"/>
              <a:t> pour manipuler le </a:t>
            </a:r>
            <a:r>
              <a:rPr lang="fr-FR" sz="2000" dirty="0" smtClean="0"/>
              <a:t>DOM</a:t>
            </a:r>
          </a:p>
          <a:p>
            <a:pPr lvl="1" algn="just">
              <a:lnSpc>
                <a:spcPct val="150000"/>
              </a:lnSpc>
            </a:pPr>
            <a:r>
              <a:rPr lang="fr-FR" sz="2000" b="1" dirty="0"/>
              <a:t>Services et DI</a:t>
            </a:r>
            <a:r>
              <a:rPr lang="fr-FR" sz="2000" dirty="0"/>
              <a:t> pour la logique </a:t>
            </a:r>
            <a:r>
              <a:rPr lang="fr-FR" sz="2000" dirty="0" smtClean="0"/>
              <a:t>métier</a:t>
            </a:r>
          </a:p>
          <a:p>
            <a:pPr lvl="1" algn="just">
              <a:lnSpc>
                <a:spcPct val="150000"/>
              </a:lnSpc>
            </a:pPr>
            <a:r>
              <a:rPr lang="fr-FR" sz="2000" b="1" dirty="0" err="1"/>
              <a:t>Routing</a:t>
            </a:r>
            <a:r>
              <a:rPr lang="fr-FR" sz="2000" dirty="0"/>
              <a:t> pour la </a:t>
            </a:r>
            <a:r>
              <a:rPr lang="fr-FR" sz="2000" dirty="0" smtClean="0"/>
              <a:t>navigation</a:t>
            </a:r>
          </a:p>
          <a:p>
            <a:pPr lvl="1" algn="just">
              <a:lnSpc>
                <a:spcPct val="150000"/>
              </a:lnSpc>
            </a:pPr>
            <a:r>
              <a:rPr lang="fr-FR" sz="2000" b="1" dirty="0" err="1"/>
              <a:t>RxJS</a:t>
            </a:r>
            <a:r>
              <a:rPr lang="fr-FR" sz="2000" dirty="0"/>
              <a:t> pour la gestion des événements et des requêtes asynchrones</a:t>
            </a:r>
          </a:p>
        </p:txBody>
      </p:sp>
    </p:spTree>
    <p:extLst>
      <p:ext uri="{BB962C8B-B14F-4D97-AF65-F5344CB8AC3E}">
        <p14:creationId xmlns:p14="http://schemas.microsoft.com/office/powerpoint/2010/main" val="4058239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1000"/>
                                        <p:tgtEl>
                                          <p:spTgt spid="3">
                                            <p:txEl>
                                              <p:pRg st="3" end="3"/>
                                            </p:txEl>
                                          </p:spTgt>
                                        </p:tgtEl>
                                      </p:cBhvr>
                                    </p:animEffect>
                                    <p:anim calcmode="lin" valueType="num">
                                      <p:cBhvr>
                                        <p:cTn id="22"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1000"/>
                                        <p:tgtEl>
                                          <p:spTgt spid="3">
                                            <p:txEl>
                                              <p:pRg st="4" end="4"/>
                                            </p:txEl>
                                          </p:spTgt>
                                        </p:tgtEl>
                                      </p:cBhvr>
                                    </p:animEffect>
                                    <p:anim calcmode="lin" valueType="num">
                                      <p:cBhvr>
                                        <p:cTn id="29"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Effect transition="in" filter="fade">
                                      <p:cBhvr>
                                        <p:cTn id="35" dur="1000"/>
                                        <p:tgtEl>
                                          <p:spTgt spid="3">
                                            <p:txEl>
                                              <p:pRg st="5" end="5"/>
                                            </p:txEl>
                                          </p:spTgt>
                                        </p:tgtEl>
                                      </p:cBhvr>
                                    </p:animEffect>
                                    <p:anim calcmode="lin" valueType="num">
                                      <p:cBhvr>
                                        <p:cTn id="36"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fade">
                                      <p:cBhvr>
                                        <p:cTn id="42" dur="1000"/>
                                        <p:tgtEl>
                                          <p:spTgt spid="3">
                                            <p:txEl>
                                              <p:pRg st="6" end="6"/>
                                            </p:txEl>
                                          </p:spTgt>
                                        </p:tgtEl>
                                      </p:cBhvr>
                                    </p:animEffect>
                                    <p:anim calcmode="lin" valueType="num">
                                      <p:cBhvr>
                                        <p:cTn id="43"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342742"/>
            <a:ext cx="10058400" cy="729313"/>
          </a:xfrm>
        </p:spPr>
        <p:txBody>
          <a:bodyPr>
            <a:normAutofit fontScale="90000"/>
          </a:bodyPr>
          <a:lstStyle/>
          <a:p>
            <a:pPr algn="ctr"/>
            <a:r>
              <a:rPr lang="fr-FR" dirty="0" smtClean="0"/>
              <a:t>Fonctionnalités</a:t>
            </a:r>
            <a:endParaRPr lang="fr-FR" dirty="0"/>
          </a:p>
        </p:txBody>
      </p:sp>
      <p:sp>
        <p:nvSpPr>
          <p:cNvPr id="3" name="Espace réservé du contenu 2"/>
          <p:cNvSpPr>
            <a:spLocks noGrp="1"/>
          </p:cNvSpPr>
          <p:nvPr>
            <p:ph idx="1"/>
          </p:nvPr>
        </p:nvSpPr>
        <p:spPr>
          <a:xfrm>
            <a:off x="1069848" y="1182414"/>
            <a:ext cx="10058400" cy="4989786"/>
          </a:xfrm>
        </p:spPr>
        <p:txBody>
          <a:bodyPr>
            <a:normAutofit fontScale="85000" lnSpcReduction="10000"/>
          </a:bodyPr>
          <a:lstStyle/>
          <a:p>
            <a:pPr algn="just">
              <a:lnSpc>
                <a:spcPct val="150000"/>
              </a:lnSpc>
            </a:pPr>
            <a:r>
              <a:rPr lang="fr-FR" dirty="0" err="1"/>
              <a:t>Angular</a:t>
            </a:r>
            <a:r>
              <a:rPr lang="fr-FR" dirty="0"/>
              <a:t> offre un ensemble de fonctionnalités clés </a:t>
            </a:r>
            <a:r>
              <a:rPr lang="fr-FR" dirty="0" smtClean="0"/>
              <a:t>:</a:t>
            </a:r>
          </a:p>
          <a:p>
            <a:pPr lvl="1" algn="just">
              <a:lnSpc>
                <a:spcPct val="150000"/>
              </a:lnSpc>
            </a:pPr>
            <a:r>
              <a:rPr lang="fr-FR" b="1" dirty="0" smtClean="0"/>
              <a:t>Composants</a:t>
            </a:r>
            <a:r>
              <a:rPr lang="fr-FR" dirty="0" smtClean="0"/>
              <a:t> </a:t>
            </a:r>
            <a:r>
              <a:rPr lang="fr-FR" dirty="0"/>
              <a:t>: Unités de base de l'interface utilisateur, chaque composant étant une combinaison de HTML, CSS et </a:t>
            </a:r>
            <a:r>
              <a:rPr lang="fr-FR" dirty="0" err="1"/>
              <a:t>TypeScript</a:t>
            </a:r>
            <a:r>
              <a:rPr lang="fr-FR" dirty="0" smtClean="0"/>
              <a:t>.</a:t>
            </a:r>
          </a:p>
          <a:p>
            <a:pPr lvl="1" algn="just">
              <a:lnSpc>
                <a:spcPct val="150000"/>
              </a:lnSpc>
            </a:pPr>
            <a:r>
              <a:rPr lang="fr-FR" b="1" dirty="0"/>
              <a:t>Modules (</a:t>
            </a:r>
            <a:r>
              <a:rPr lang="fr-FR" b="1" dirty="0" err="1"/>
              <a:t>NgModules</a:t>
            </a:r>
            <a:r>
              <a:rPr lang="fr-FR" b="1" dirty="0"/>
              <a:t>)</a:t>
            </a:r>
            <a:r>
              <a:rPr lang="fr-FR" dirty="0"/>
              <a:t> : Permettent l'organisation et la gestion du code en regroupant des composants, des services et d'autres fonctionnalités</a:t>
            </a:r>
            <a:r>
              <a:rPr lang="fr-FR" dirty="0" smtClean="0"/>
              <a:t>.</a:t>
            </a:r>
          </a:p>
          <a:p>
            <a:pPr lvl="1" algn="just">
              <a:lnSpc>
                <a:spcPct val="150000"/>
              </a:lnSpc>
            </a:pPr>
            <a:r>
              <a:rPr lang="fr-FR" b="1" dirty="0" err="1"/>
              <a:t>Templates</a:t>
            </a:r>
            <a:r>
              <a:rPr lang="fr-FR" dirty="0"/>
              <a:t> : Utilisent une syntaxe déclarative pour décrire le rendu de la vue</a:t>
            </a:r>
            <a:r>
              <a:rPr lang="fr-FR" dirty="0" smtClean="0"/>
              <a:t>.</a:t>
            </a:r>
          </a:p>
          <a:p>
            <a:pPr lvl="1" algn="just">
              <a:lnSpc>
                <a:spcPct val="150000"/>
              </a:lnSpc>
            </a:pPr>
            <a:r>
              <a:rPr lang="fr-FR" b="1" dirty="0"/>
              <a:t>Data Binding</a:t>
            </a:r>
            <a:r>
              <a:rPr lang="fr-FR" dirty="0"/>
              <a:t> : Synchronisation entre la logique applicative et l'interface utilisateur (interpolation, </a:t>
            </a:r>
            <a:r>
              <a:rPr lang="fr-FR" dirty="0" err="1"/>
              <a:t>property</a:t>
            </a:r>
            <a:r>
              <a:rPr lang="fr-FR" dirty="0"/>
              <a:t> binding, </a:t>
            </a:r>
            <a:r>
              <a:rPr lang="fr-FR" dirty="0" err="1"/>
              <a:t>event</a:t>
            </a:r>
            <a:r>
              <a:rPr lang="fr-FR" dirty="0"/>
              <a:t> binding, </a:t>
            </a:r>
            <a:r>
              <a:rPr lang="fr-FR" dirty="0" err="1"/>
              <a:t>two-way</a:t>
            </a:r>
            <a:r>
              <a:rPr lang="fr-FR" dirty="0"/>
              <a:t> binding</a:t>
            </a:r>
            <a:r>
              <a:rPr lang="fr-FR" dirty="0" smtClean="0"/>
              <a:t>).</a:t>
            </a:r>
          </a:p>
          <a:p>
            <a:pPr lvl="1" algn="just">
              <a:lnSpc>
                <a:spcPct val="150000"/>
              </a:lnSpc>
            </a:pPr>
            <a:r>
              <a:rPr lang="fr-FR" dirty="0"/>
              <a:t>Directives : Extensions du HTML permettant un comportement dynamique (ex : *</a:t>
            </a:r>
            <a:r>
              <a:rPr lang="fr-FR" dirty="0" err="1"/>
              <a:t>ngIf</a:t>
            </a:r>
            <a:r>
              <a:rPr lang="fr-FR" dirty="0"/>
              <a:t>, *</a:t>
            </a:r>
            <a:r>
              <a:rPr lang="fr-FR" dirty="0" err="1"/>
              <a:t>ngFor</a:t>
            </a:r>
            <a:r>
              <a:rPr lang="fr-FR" dirty="0"/>
              <a:t>, directives personnalisées</a:t>
            </a:r>
            <a:r>
              <a:rPr lang="fr-FR" dirty="0" smtClean="0"/>
              <a:t>).</a:t>
            </a:r>
          </a:p>
          <a:p>
            <a:pPr lvl="1" algn="just">
              <a:lnSpc>
                <a:spcPct val="150000"/>
              </a:lnSpc>
            </a:pPr>
            <a:r>
              <a:rPr lang="fr-FR" b="1" dirty="0"/>
              <a:t>Services et Injection de dépendances</a:t>
            </a:r>
            <a:r>
              <a:rPr lang="fr-FR" dirty="0"/>
              <a:t> : Encouragent la réutilisation du code et la séparation des préoccupations</a:t>
            </a:r>
            <a:r>
              <a:rPr lang="fr-FR" dirty="0" smtClean="0"/>
              <a:t>.</a:t>
            </a:r>
          </a:p>
          <a:p>
            <a:pPr lvl="1" algn="just">
              <a:lnSpc>
                <a:spcPct val="150000"/>
              </a:lnSpc>
            </a:pPr>
            <a:r>
              <a:rPr lang="fr-FR" b="1" dirty="0" err="1"/>
              <a:t>Routing</a:t>
            </a:r>
            <a:r>
              <a:rPr lang="fr-FR" dirty="0"/>
              <a:t> : Gestion de la navigation entre différentes vues.</a:t>
            </a:r>
            <a:endParaRPr lang="fr-FR" dirty="0" smtClean="0"/>
          </a:p>
          <a:p>
            <a:pPr algn="just">
              <a:lnSpc>
                <a:spcPct val="150000"/>
              </a:lnSpc>
            </a:pPr>
            <a:endParaRPr lang="fr-FR" dirty="0"/>
          </a:p>
        </p:txBody>
      </p:sp>
    </p:spTree>
    <p:extLst>
      <p:ext uri="{BB962C8B-B14F-4D97-AF65-F5344CB8AC3E}">
        <p14:creationId xmlns:p14="http://schemas.microsoft.com/office/powerpoint/2010/main" val="2880852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down)">
                                      <p:cBhvr>
                                        <p:cTn id="7" dur="580">
                                          <p:stCondLst>
                                            <p:cond delay="0"/>
                                          </p:stCondLst>
                                        </p:cTn>
                                        <p:tgtEl>
                                          <p:spTgt spid="3">
                                            <p:txEl>
                                              <p:pRg st="1" end="1"/>
                                            </p:txEl>
                                          </p:spTgt>
                                        </p:tgtEl>
                                      </p:cBhvr>
                                    </p:animEffect>
                                    <p:anim calcmode="lin" valueType="num">
                                      <p:cBhvr>
                                        <p:cTn id="8" dur="1822" tmFilter="0,0; 0.14,0.36; 0.43,0.73; 0.71,0.91; 1.0,1.0">
                                          <p:stCondLst>
                                            <p:cond delay="0"/>
                                          </p:stCondLst>
                                        </p:cTn>
                                        <p:tgtEl>
                                          <p:spTgt spid="3">
                                            <p:txEl>
                                              <p:pRg st="1" end="1"/>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1" end="1"/>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1" end="1"/>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1" end="1"/>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1" end="1"/>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1" end="1"/>
                                            </p:txEl>
                                          </p:spTgt>
                                        </p:tgtEl>
                                      </p:cBhvr>
                                      <p:to x="100000" y="60000"/>
                                    </p:animScale>
                                    <p:animScale>
                                      <p:cBhvr>
                                        <p:cTn id="14" dur="166" decel="50000">
                                          <p:stCondLst>
                                            <p:cond delay="676"/>
                                          </p:stCondLst>
                                        </p:cTn>
                                        <p:tgtEl>
                                          <p:spTgt spid="3">
                                            <p:txEl>
                                              <p:pRg st="1" end="1"/>
                                            </p:txEl>
                                          </p:spTgt>
                                        </p:tgtEl>
                                      </p:cBhvr>
                                      <p:to x="100000" y="100000"/>
                                    </p:animScale>
                                    <p:animScale>
                                      <p:cBhvr>
                                        <p:cTn id="15" dur="26">
                                          <p:stCondLst>
                                            <p:cond delay="1312"/>
                                          </p:stCondLst>
                                        </p:cTn>
                                        <p:tgtEl>
                                          <p:spTgt spid="3">
                                            <p:txEl>
                                              <p:pRg st="1" end="1"/>
                                            </p:txEl>
                                          </p:spTgt>
                                        </p:tgtEl>
                                      </p:cBhvr>
                                      <p:to x="100000" y="80000"/>
                                    </p:animScale>
                                    <p:animScale>
                                      <p:cBhvr>
                                        <p:cTn id="16" dur="166" decel="50000">
                                          <p:stCondLst>
                                            <p:cond delay="1338"/>
                                          </p:stCondLst>
                                        </p:cTn>
                                        <p:tgtEl>
                                          <p:spTgt spid="3">
                                            <p:txEl>
                                              <p:pRg st="1" end="1"/>
                                            </p:txEl>
                                          </p:spTgt>
                                        </p:tgtEl>
                                      </p:cBhvr>
                                      <p:to x="100000" y="100000"/>
                                    </p:animScale>
                                    <p:animScale>
                                      <p:cBhvr>
                                        <p:cTn id="17" dur="26">
                                          <p:stCondLst>
                                            <p:cond delay="1642"/>
                                          </p:stCondLst>
                                        </p:cTn>
                                        <p:tgtEl>
                                          <p:spTgt spid="3">
                                            <p:txEl>
                                              <p:pRg st="1" end="1"/>
                                            </p:txEl>
                                          </p:spTgt>
                                        </p:tgtEl>
                                      </p:cBhvr>
                                      <p:to x="100000" y="90000"/>
                                    </p:animScale>
                                    <p:animScale>
                                      <p:cBhvr>
                                        <p:cTn id="18" dur="166" decel="50000">
                                          <p:stCondLst>
                                            <p:cond delay="1668"/>
                                          </p:stCondLst>
                                        </p:cTn>
                                        <p:tgtEl>
                                          <p:spTgt spid="3">
                                            <p:txEl>
                                              <p:pRg st="1" end="1"/>
                                            </p:txEl>
                                          </p:spTgt>
                                        </p:tgtEl>
                                      </p:cBhvr>
                                      <p:to x="100000" y="100000"/>
                                    </p:animScale>
                                    <p:animScale>
                                      <p:cBhvr>
                                        <p:cTn id="19" dur="26">
                                          <p:stCondLst>
                                            <p:cond delay="1808"/>
                                          </p:stCondLst>
                                        </p:cTn>
                                        <p:tgtEl>
                                          <p:spTgt spid="3">
                                            <p:txEl>
                                              <p:pRg st="1" end="1"/>
                                            </p:txEl>
                                          </p:spTgt>
                                        </p:tgtEl>
                                      </p:cBhvr>
                                      <p:to x="100000" y="95000"/>
                                    </p:animScale>
                                    <p:animScale>
                                      <p:cBhvr>
                                        <p:cTn id="20" dur="166" decel="50000">
                                          <p:stCondLst>
                                            <p:cond delay="1834"/>
                                          </p:stCondLst>
                                        </p:cTn>
                                        <p:tgtEl>
                                          <p:spTgt spid="3">
                                            <p:txEl>
                                              <p:pRg st="1" end="1"/>
                                            </p:txEl>
                                          </p:spTgt>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Effect transition="in" filter="wipe(down)">
                                      <p:cBhvr>
                                        <p:cTn id="25" dur="580">
                                          <p:stCondLst>
                                            <p:cond delay="0"/>
                                          </p:stCondLst>
                                        </p:cTn>
                                        <p:tgtEl>
                                          <p:spTgt spid="3">
                                            <p:txEl>
                                              <p:pRg st="2" end="2"/>
                                            </p:txEl>
                                          </p:spTgt>
                                        </p:tgtEl>
                                      </p:cBhvr>
                                    </p:animEffect>
                                    <p:anim calcmode="lin" valueType="num">
                                      <p:cBhvr>
                                        <p:cTn id="26" dur="1822" tmFilter="0,0; 0.14,0.36; 0.43,0.73; 0.71,0.91; 1.0,1.0">
                                          <p:stCondLst>
                                            <p:cond delay="0"/>
                                          </p:stCondLst>
                                        </p:cTn>
                                        <p:tgtEl>
                                          <p:spTgt spid="3">
                                            <p:txEl>
                                              <p:pRg st="2" end="2"/>
                                            </p:txEl>
                                          </p:spTgt>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3">
                                            <p:txEl>
                                              <p:pRg st="2" end="2"/>
                                            </p:txEl>
                                          </p:spTgt>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3">
                                            <p:txEl>
                                              <p:pRg st="2" end="2"/>
                                            </p:txEl>
                                          </p:spTgt>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3">
                                            <p:txEl>
                                              <p:pRg st="2" end="2"/>
                                            </p:txEl>
                                          </p:spTgt>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3">
                                            <p:txEl>
                                              <p:pRg st="2" end="2"/>
                                            </p:txEl>
                                          </p:spTgt>
                                        </p:tgtEl>
                                        <p:attrNameLst>
                                          <p:attrName>ppt_y</p:attrName>
                                        </p:attrNameLst>
                                      </p:cBhvr>
                                      <p:tavLst>
                                        <p:tav tm="0" fmla="#ppt_y-sin(pi*$)/81">
                                          <p:val>
                                            <p:fltVal val="0"/>
                                          </p:val>
                                        </p:tav>
                                        <p:tav tm="100000">
                                          <p:val>
                                            <p:fltVal val="1"/>
                                          </p:val>
                                        </p:tav>
                                      </p:tavLst>
                                    </p:anim>
                                    <p:animScale>
                                      <p:cBhvr>
                                        <p:cTn id="31" dur="26">
                                          <p:stCondLst>
                                            <p:cond delay="650"/>
                                          </p:stCondLst>
                                        </p:cTn>
                                        <p:tgtEl>
                                          <p:spTgt spid="3">
                                            <p:txEl>
                                              <p:pRg st="2" end="2"/>
                                            </p:txEl>
                                          </p:spTgt>
                                        </p:tgtEl>
                                      </p:cBhvr>
                                      <p:to x="100000" y="60000"/>
                                    </p:animScale>
                                    <p:animScale>
                                      <p:cBhvr>
                                        <p:cTn id="32" dur="166" decel="50000">
                                          <p:stCondLst>
                                            <p:cond delay="676"/>
                                          </p:stCondLst>
                                        </p:cTn>
                                        <p:tgtEl>
                                          <p:spTgt spid="3">
                                            <p:txEl>
                                              <p:pRg st="2" end="2"/>
                                            </p:txEl>
                                          </p:spTgt>
                                        </p:tgtEl>
                                      </p:cBhvr>
                                      <p:to x="100000" y="100000"/>
                                    </p:animScale>
                                    <p:animScale>
                                      <p:cBhvr>
                                        <p:cTn id="33" dur="26">
                                          <p:stCondLst>
                                            <p:cond delay="1312"/>
                                          </p:stCondLst>
                                        </p:cTn>
                                        <p:tgtEl>
                                          <p:spTgt spid="3">
                                            <p:txEl>
                                              <p:pRg st="2" end="2"/>
                                            </p:txEl>
                                          </p:spTgt>
                                        </p:tgtEl>
                                      </p:cBhvr>
                                      <p:to x="100000" y="80000"/>
                                    </p:animScale>
                                    <p:animScale>
                                      <p:cBhvr>
                                        <p:cTn id="34" dur="166" decel="50000">
                                          <p:stCondLst>
                                            <p:cond delay="1338"/>
                                          </p:stCondLst>
                                        </p:cTn>
                                        <p:tgtEl>
                                          <p:spTgt spid="3">
                                            <p:txEl>
                                              <p:pRg st="2" end="2"/>
                                            </p:txEl>
                                          </p:spTgt>
                                        </p:tgtEl>
                                      </p:cBhvr>
                                      <p:to x="100000" y="100000"/>
                                    </p:animScale>
                                    <p:animScale>
                                      <p:cBhvr>
                                        <p:cTn id="35" dur="26">
                                          <p:stCondLst>
                                            <p:cond delay="1642"/>
                                          </p:stCondLst>
                                        </p:cTn>
                                        <p:tgtEl>
                                          <p:spTgt spid="3">
                                            <p:txEl>
                                              <p:pRg st="2" end="2"/>
                                            </p:txEl>
                                          </p:spTgt>
                                        </p:tgtEl>
                                      </p:cBhvr>
                                      <p:to x="100000" y="90000"/>
                                    </p:animScale>
                                    <p:animScale>
                                      <p:cBhvr>
                                        <p:cTn id="36" dur="166" decel="50000">
                                          <p:stCondLst>
                                            <p:cond delay="1668"/>
                                          </p:stCondLst>
                                        </p:cTn>
                                        <p:tgtEl>
                                          <p:spTgt spid="3">
                                            <p:txEl>
                                              <p:pRg st="2" end="2"/>
                                            </p:txEl>
                                          </p:spTgt>
                                        </p:tgtEl>
                                      </p:cBhvr>
                                      <p:to x="100000" y="100000"/>
                                    </p:animScale>
                                    <p:animScale>
                                      <p:cBhvr>
                                        <p:cTn id="37" dur="26">
                                          <p:stCondLst>
                                            <p:cond delay="1808"/>
                                          </p:stCondLst>
                                        </p:cTn>
                                        <p:tgtEl>
                                          <p:spTgt spid="3">
                                            <p:txEl>
                                              <p:pRg st="2" end="2"/>
                                            </p:txEl>
                                          </p:spTgt>
                                        </p:tgtEl>
                                      </p:cBhvr>
                                      <p:to x="100000" y="95000"/>
                                    </p:animScale>
                                    <p:animScale>
                                      <p:cBhvr>
                                        <p:cTn id="38" dur="166" decel="50000">
                                          <p:stCondLst>
                                            <p:cond delay="1834"/>
                                          </p:stCondLst>
                                        </p:cTn>
                                        <p:tgtEl>
                                          <p:spTgt spid="3">
                                            <p:txEl>
                                              <p:pRg st="2" end="2"/>
                                            </p:txEl>
                                          </p:spTgt>
                                        </p:tgtEl>
                                      </p:cBhvr>
                                      <p:to x="100000" y="100000"/>
                                    </p:animScale>
                                  </p:childTnLst>
                                </p:cTn>
                              </p:par>
                            </p:childTnLst>
                          </p:cTn>
                        </p:par>
                      </p:childTnLst>
                    </p:cTn>
                  </p:par>
                  <p:par>
                    <p:cTn id="39" fill="hold">
                      <p:stCondLst>
                        <p:cond delay="indefinite"/>
                      </p:stCondLst>
                      <p:childTnLst>
                        <p:par>
                          <p:cTn id="40" fill="hold">
                            <p:stCondLst>
                              <p:cond delay="0"/>
                            </p:stCondLst>
                            <p:childTnLst>
                              <p:par>
                                <p:cTn id="41" presetID="26" presetClass="entr" presetSubtype="0" fill="hold" nodeType="clickEffect">
                                  <p:stCondLst>
                                    <p:cond delay="0"/>
                                  </p:stCondLst>
                                  <p:childTnLst>
                                    <p:set>
                                      <p:cBhvr>
                                        <p:cTn id="42" dur="1" fill="hold">
                                          <p:stCondLst>
                                            <p:cond delay="0"/>
                                          </p:stCondLst>
                                        </p:cTn>
                                        <p:tgtEl>
                                          <p:spTgt spid="3">
                                            <p:txEl>
                                              <p:pRg st="3" end="3"/>
                                            </p:txEl>
                                          </p:spTgt>
                                        </p:tgtEl>
                                        <p:attrNameLst>
                                          <p:attrName>style.visibility</p:attrName>
                                        </p:attrNameLst>
                                      </p:cBhvr>
                                      <p:to>
                                        <p:strVal val="visible"/>
                                      </p:to>
                                    </p:set>
                                    <p:animEffect transition="in" filter="wipe(down)">
                                      <p:cBhvr>
                                        <p:cTn id="43" dur="580">
                                          <p:stCondLst>
                                            <p:cond delay="0"/>
                                          </p:stCondLst>
                                        </p:cTn>
                                        <p:tgtEl>
                                          <p:spTgt spid="3">
                                            <p:txEl>
                                              <p:pRg st="3" end="3"/>
                                            </p:txEl>
                                          </p:spTgt>
                                        </p:tgtEl>
                                      </p:cBhvr>
                                    </p:animEffect>
                                    <p:anim calcmode="lin" valueType="num">
                                      <p:cBhvr>
                                        <p:cTn id="44" dur="1822" tmFilter="0,0; 0.14,0.36; 0.43,0.73; 0.71,0.91; 1.0,1.0">
                                          <p:stCondLst>
                                            <p:cond delay="0"/>
                                          </p:stCondLst>
                                        </p:cTn>
                                        <p:tgtEl>
                                          <p:spTgt spid="3">
                                            <p:txEl>
                                              <p:pRg st="3" end="3"/>
                                            </p:txEl>
                                          </p:spTgt>
                                        </p:tgtEl>
                                        <p:attrNameLst>
                                          <p:attrName>ppt_x</p:attrName>
                                        </p:attrNameLst>
                                      </p:cBhvr>
                                      <p:tavLst>
                                        <p:tav tm="0">
                                          <p:val>
                                            <p:strVal val="#ppt_x-0.25"/>
                                          </p:val>
                                        </p:tav>
                                        <p:tav tm="100000">
                                          <p:val>
                                            <p:strVal val="#ppt_x"/>
                                          </p:val>
                                        </p:tav>
                                      </p:tavLst>
                                    </p:anim>
                                    <p:anim calcmode="lin" valueType="num">
                                      <p:cBhvr>
                                        <p:cTn id="45" dur="664" tmFilter="0.0,0.0; 0.25,0.07; 0.50,0.2; 0.75,0.467; 1.0,1.0">
                                          <p:stCondLst>
                                            <p:cond delay="0"/>
                                          </p:stCondLst>
                                        </p:cTn>
                                        <p:tgtEl>
                                          <p:spTgt spid="3">
                                            <p:txEl>
                                              <p:pRg st="3" end="3"/>
                                            </p:txEl>
                                          </p:spTgt>
                                        </p:tgtEl>
                                        <p:attrNameLst>
                                          <p:attrName>ppt_y</p:attrName>
                                        </p:attrNameLst>
                                      </p:cBhvr>
                                      <p:tavLst>
                                        <p:tav tm="0" fmla="#ppt_y-sin(pi*$)/3">
                                          <p:val>
                                            <p:fltVal val="0.5"/>
                                          </p:val>
                                        </p:tav>
                                        <p:tav tm="100000">
                                          <p:val>
                                            <p:fltVal val="1"/>
                                          </p:val>
                                        </p:tav>
                                      </p:tavLst>
                                    </p:anim>
                                    <p:anim calcmode="lin" valueType="num">
                                      <p:cBhvr>
                                        <p:cTn id="46" dur="664" tmFilter="0, 0; 0.125,0.2665; 0.25,0.4; 0.375,0.465; 0.5,0.5;  0.625,0.535; 0.75,0.6; 0.875,0.7335; 1,1">
                                          <p:stCondLst>
                                            <p:cond delay="664"/>
                                          </p:stCondLst>
                                        </p:cTn>
                                        <p:tgtEl>
                                          <p:spTgt spid="3">
                                            <p:txEl>
                                              <p:pRg st="3" end="3"/>
                                            </p:txEl>
                                          </p:spTgt>
                                        </p:tgtEl>
                                        <p:attrNameLst>
                                          <p:attrName>ppt_y</p:attrName>
                                        </p:attrNameLst>
                                      </p:cBhvr>
                                      <p:tavLst>
                                        <p:tav tm="0" fmla="#ppt_y-sin(pi*$)/9">
                                          <p:val>
                                            <p:fltVal val="0"/>
                                          </p:val>
                                        </p:tav>
                                        <p:tav tm="100000">
                                          <p:val>
                                            <p:fltVal val="1"/>
                                          </p:val>
                                        </p:tav>
                                      </p:tavLst>
                                    </p:anim>
                                    <p:anim calcmode="lin" valueType="num">
                                      <p:cBhvr>
                                        <p:cTn id="47" dur="332" tmFilter="0, 0; 0.125,0.2665; 0.25,0.4; 0.375,0.465; 0.5,0.5;  0.625,0.535; 0.75,0.6; 0.875,0.7335; 1,1">
                                          <p:stCondLst>
                                            <p:cond delay="1324"/>
                                          </p:stCondLst>
                                        </p:cTn>
                                        <p:tgtEl>
                                          <p:spTgt spid="3">
                                            <p:txEl>
                                              <p:pRg st="3" end="3"/>
                                            </p:txEl>
                                          </p:spTgt>
                                        </p:tgtEl>
                                        <p:attrNameLst>
                                          <p:attrName>ppt_y</p:attrName>
                                        </p:attrNameLst>
                                      </p:cBhvr>
                                      <p:tavLst>
                                        <p:tav tm="0" fmla="#ppt_y-sin(pi*$)/27">
                                          <p:val>
                                            <p:fltVal val="0"/>
                                          </p:val>
                                        </p:tav>
                                        <p:tav tm="100000">
                                          <p:val>
                                            <p:fltVal val="1"/>
                                          </p:val>
                                        </p:tav>
                                      </p:tavLst>
                                    </p:anim>
                                    <p:anim calcmode="lin" valueType="num">
                                      <p:cBhvr>
                                        <p:cTn id="48" dur="164" tmFilter="0, 0; 0.125,0.2665; 0.25,0.4; 0.375,0.465; 0.5,0.5;  0.625,0.535; 0.75,0.6; 0.875,0.7335; 1,1">
                                          <p:stCondLst>
                                            <p:cond delay="1656"/>
                                          </p:stCondLst>
                                        </p:cTn>
                                        <p:tgtEl>
                                          <p:spTgt spid="3">
                                            <p:txEl>
                                              <p:pRg st="3" end="3"/>
                                            </p:txEl>
                                          </p:spTgt>
                                        </p:tgtEl>
                                        <p:attrNameLst>
                                          <p:attrName>ppt_y</p:attrName>
                                        </p:attrNameLst>
                                      </p:cBhvr>
                                      <p:tavLst>
                                        <p:tav tm="0" fmla="#ppt_y-sin(pi*$)/81">
                                          <p:val>
                                            <p:fltVal val="0"/>
                                          </p:val>
                                        </p:tav>
                                        <p:tav tm="100000">
                                          <p:val>
                                            <p:fltVal val="1"/>
                                          </p:val>
                                        </p:tav>
                                      </p:tavLst>
                                    </p:anim>
                                    <p:animScale>
                                      <p:cBhvr>
                                        <p:cTn id="49" dur="26">
                                          <p:stCondLst>
                                            <p:cond delay="650"/>
                                          </p:stCondLst>
                                        </p:cTn>
                                        <p:tgtEl>
                                          <p:spTgt spid="3">
                                            <p:txEl>
                                              <p:pRg st="3" end="3"/>
                                            </p:txEl>
                                          </p:spTgt>
                                        </p:tgtEl>
                                      </p:cBhvr>
                                      <p:to x="100000" y="60000"/>
                                    </p:animScale>
                                    <p:animScale>
                                      <p:cBhvr>
                                        <p:cTn id="50" dur="166" decel="50000">
                                          <p:stCondLst>
                                            <p:cond delay="676"/>
                                          </p:stCondLst>
                                        </p:cTn>
                                        <p:tgtEl>
                                          <p:spTgt spid="3">
                                            <p:txEl>
                                              <p:pRg st="3" end="3"/>
                                            </p:txEl>
                                          </p:spTgt>
                                        </p:tgtEl>
                                      </p:cBhvr>
                                      <p:to x="100000" y="100000"/>
                                    </p:animScale>
                                    <p:animScale>
                                      <p:cBhvr>
                                        <p:cTn id="51" dur="26">
                                          <p:stCondLst>
                                            <p:cond delay="1312"/>
                                          </p:stCondLst>
                                        </p:cTn>
                                        <p:tgtEl>
                                          <p:spTgt spid="3">
                                            <p:txEl>
                                              <p:pRg st="3" end="3"/>
                                            </p:txEl>
                                          </p:spTgt>
                                        </p:tgtEl>
                                      </p:cBhvr>
                                      <p:to x="100000" y="80000"/>
                                    </p:animScale>
                                    <p:animScale>
                                      <p:cBhvr>
                                        <p:cTn id="52" dur="166" decel="50000">
                                          <p:stCondLst>
                                            <p:cond delay="1338"/>
                                          </p:stCondLst>
                                        </p:cTn>
                                        <p:tgtEl>
                                          <p:spTgt spid="3">
                                            <p:txEl>
                                              <p:pRg st="3" end="3"/>
                                            </p:txEl>
                                          </p:spTgt>
                                        </p:tgtEl>
                                      </p:cBhvr>
                                      <p:to x="100000" y="100000"/>
                                    </p:animScale>
                                    <p:animScale>
                                      <p:cBhvr>
                                        <p:cTn id="53" dur="26">
                                          <p:stCondLst>
                                            <p:cond delay="1642"/>
                                          </p:stCondLst>
                                        </p:cTn>
                                        <p:tgtEl>
                                          <p:spTgt spid="3">
                                            <p:txEl>
                                              <p:pRg st="3" end="3"/>
                                            </p:txEl>
                                          </p:spTgt>
                                        </p:tgtEl>
                                      </p:cBhvr>
                                      <p:to x="100000" y="90000"/>
                                    </p:animScale>
                                    <p:animScale>
                                      <p:cBhvr>
                                        <p:cTn id="54" dur="166" decel="50000">
                                          <p:stCondLst>
                                            <p:cond delay="1668"/>
                                          </p:stCondLst>
                                        </p:cTn>
                                        <p:tgtEl>
                                          <p:spTgt spid="3">
                                            <p:txEl>
                                              <p:pRg st="3" end="3"/>
                                            </p:txEl>
                                          </p:spTgt>
                                        </p:tgtEl>
                                      </p:cBhvr>
                                      <p:to x="100000" y="100000"/>
                                    </p:animScale>
                                    <p:animScale>
                                      <p:cBhvr>
                                        <p:cTn id="55" dur="26">
                                          <p:stCondLst>
                                            <p:cond delay="1808"/>
                                          </p:stCondLst>
                                        </p:cTn>
                                        <p:tgtEl>
                                          <p:spTgt spid="3">
                                            <p:txEl>
                                              <p:pRg st="3" end="3"/>
                                            </p:txEl>
                                          </p:spTgt>
                                        </p:tgtEl>
                                      </p:cBhvr>
                                      <p:to x="100000" y="95000"/>
                                    </p:animScale>
                                    <p:animScale>
                                      <p:cBhvr>
                                        <p:cTn id="56" dur="166" decel="50000">
                                          <p:stCondLst>
                                            <p:cond delay="1834"/>
                                          </p:stCondLst>
                                        </p:cTn>
                                        <p:tgtEl>
                                          <p:spTgt spid="3">
                                            <p:txEl>
                                              <p:pRg st="3" end="3"/>
                                            </p:txEl>
                                          </p:spTgt>
                                        </p:tgtEl>
                                      </p:cBhvr>
                                      <p:to x="100000" y="100000"/>
                                    </p:animScale>
                                  </p:childTnLst>
                                </p:cTn>
                              </p:par>
                            </p:childTnLst>
                          </p:cTn>
                        </p:par>
                      </p:childTnLst>
                    </p:cTn>
                  </p:par>
                  <p:par>
                    <p:cTn id="57" fill="hold">
                      <p:stCondLst>
                        <p:cond delay="indefinite"/>
                      </p:stCondLst>
                      <p:childTnLst>
                        <p:par>
                          <p:cTn id="58" fill="hold">
                            <p:stCondLst>
                              <p:cond delay="0"/>
                            </p:stCondLst>
                            <p:childTnLst>
                              <p:par>
                                <p:cTn id="59" presetID="26" presetClass="entr" presetSubtype="0" fill="hold" nodeType="clickEffect">
                                  <p:stCondLst>
                                    <p:cond delay="0"/>
                                  </p:stCondLst>
                                  <p:childTnLst>
                                    <p:set>
                                      <p:cBhvr>
                                        <p:cTn id="60" dur="1" fill="hold">
                                          <p:stCondLst>
                                            <p:cond delay="0"/>
                                          </p:stCondLst>
                                        </p:cTn>
                                        <p:tgtEl>
                                          <p:spTgt spid="3">
                                            <p:txEl>
                                              <p:pRg st="4" end="4"/>
                                            </p:txEl>
                                          </p:spTgt>
                                        </p:tgtEl>
                                        <p:attrNameLst>
                                          <p:attrName>style.visibility</p:attrName>
                                        </p:attrNameLst>
                                      </p:cBhvr>
                                      <p:to>
                                        <p:strVal val="visible"/>
                                      </p:to>
                                    </p:set>
                                    <p:animEffect transition="in" filter="wipe(down)">
                                      <p:cBhvr>
                                        <p:cTn id="61" dur="580">
                                          <p:stCondLst>
                                            <p:cond delay="0"/>
                                          </p:stCondLst>
                                        </p:cTn>
                                        <p:tgtEl>
                                          <p:spTgt spid="3">
                                            <p:txEl>
                                              <p:pRg st="4" end="4"/>
                                            </p:txEl>
                                          </p:spTgt>
                                        </p:tgtEl>
                                      </p:cBhvr>
                                    </p:animEffect>
                                    <p:anim calcmode="lin" valueType="num">
                                      <p:cBhvr>
                                        <p:cTn id="62" dur="1822" tmFilter="0,0; 0.14,0.36; 0.43,0.73; 0.71,0.91; 1.0,1.0">
                                          <p:stCondLst>
                                            <p:cond delay="0"/>
                                          </p:stCondLst>
                                        </p:cTn>
                                        <p:tgtEl>
                                          <p:spTgt spid="3">
                                            <p:txEl>
                                              <p:pRg st="4" end="4"/>
                                            </p:txEl>
                                          </p:spTgt>
                                        </p:tgtEl>
                                        <p:attrNameLst>
                                          <p:attrName>ppt_x</p:attrName>
                                        </p:attrNameLst>
                                      </p:cBhvr>
                                      <p:tavLst>
                                        <p:tav tm="0">
                                          <p:val>
                                            <p:strVal val="#ppt_x-0.25"/>
                                          </p:val>
                                        </p:tav>
                                        <p:tav tm="100000">
                                          <p:val>
                                            <p:strVal val="#ppt_x"/>
                                          </p:val>
                                        </p:tav>
                                      </p:tavLst>
                                    </p:anim>
                                    <p:anim calcmode="lin" valueType="num">
                                      <p:cBhvr>
                                        <p:cTn id="63" dur="664" tmFilter="0.0,0.0; 0.25,0.07; 0.50,0.2; 0.75,0.467; 1.0,1.0">
                                          <p:stCondLst>
                                            <p:cond delay="0"/>
                                          </p:stCondLst>
                                        </p:cTn>
                                        <p:tgtEl>
                                          <p:spTgt spid="3">
                                            <p:txEl>
                                              <p:pRg st="4" end="4"/>
                                            </p:txEl>
                                          </p:spTgt>
                                        </p:tgtEl>
                                        <p:attrNameLst>
                                          <p:attrName>ppt_y</p:attrName>
                                        </p:attrNameLst>
                                      </p:cBhvr>
                                      <p:tavLst>
                                        <p:tav tm="0" fmla="#ppt_y-sin(pi*$)/3">
                                          <p:val>
                                            <p:fltVal val="0.5"/>
                                          </p:val>
                                        </p:tav>
                                        <p:tav tm="100000">
                                          <p:val>
                                            <p:fltVal val="1"/>
                                          </p:val>
                                        </p:tav>
                                      </p:tavLst>
                                    </p:anim>
                                    <p:anim calcmode="lin" valueType="num">
                                      <p:cBhvr>
                                        <p:cTn id="64" dur="664" tmFilter="0, 0; 0.125,0.2665; 0.25,0.4; 0.375,0.465; 0.5,0.5;  0.625,0.535; 0.75,0.6; 0.875,0.7335; 1,1">
                                          <p:stCondLst>
                                            <p:cond delay="664"/>
                                          </p:stCondLst>
                                        </p:cTn>
                                        <p:tgtEl>
                                          <p:spTgt spid="3">
                                            <p:txEl>
                                              <p:pRg st="4" end="4"/>
                                            </p:txEl>
                                          </p:spTgt>
                                        </p:tgtEl>
                                        <p:attrNameLst>
                                          <p:attrName>ppt_y</p:attrName>
                                        </p:attrNameLst>
                                      </p:cBhvr>
                                      <p:tavLst>
                                        <p:tav tm="0" fmla="#ppt_y-sin(pi*$)/9">
                                          <p:val>
                                            <p:fltVal val="0"/>
                                          </p:val>
                                        </p:tav>
                                        <p:tav tm="100000">
                                          <p:val>
                                            <p:fltVal val="1"/>
                                          </p:val>
                                        </p:tav>
                                      </p:tavLst>
                                    </p:anim>
                                    <p:anim calcmode="lin" valueType="num">
                                      <p:cBhvr>
                                        <p:cTn id="65" dur="332" tmFilter="0, 0; 0.125,0.2665; 0.25,0.4; 0.375,0.465; 0.5,0.5;  0.625,0.535; 0.75,0.6; 0.875,0.7335; 1,1">
                                          <p:stCondLst>
                                            <p:cond delay="1324"/>
                                          </p:stCondLst>
                                        </p:cTn>
                                        <p:tgtEl>
                                          <p:spTgt spid="3">
                                            <p:txEl>
                                              <p:pRg st="4" end="4"/>
                                            </p:txEl>
                                          </p:spTgt>
                                        </p:tgtEl>
                                        <p:attrNameLst>
                                          <p:attrName>ppt_y</p:attrName>
                                        </p:attrNameLst>
                                      </p:cBhvr>
                                      <p:tavLst>
                                        <p:tav tm="0" fmla="#ppt_y-sin(pi*$)/27">
                                          <p:val>
                                            <p:fltVal val="0"/>
                                          </p:val>
                                        </p:tav>
                                        <p:tav tm="100000">
                                          <p:val>
                                            <p:fltVal val="1"/>
                                          </p:val>
                                        </p:tav>
                                      </p:tavLst>
                                    </p:anim>
                                    <p:anim calcmode="lin" valueType="num">
                                      <p:cBhvr>
                                        <p:cTn id="66" dur="164" tmFilter="0, 0; 0.125,0.2665; 0.25,0.4; 0.375,0.465; 0.5,0.5;  0.625,0.535; 0.75,0.6; 0.875,0.7335; 1,1">
                                          <p:stCondLst>
                                            <p:cond delay="1656"/>
                                          </p:stCondLst>
                                        </p:cTn>
                                        <p:tgtEl>
                                          <p:spTgt spid="3">
                                            <p:txEl>
                                              <p:pRg st="4" end="4"/>
                                            </p:txEl>
                                          </p:spTgt>
                                        </p:tgtEl>
                                        <p:attrNameLst>
                                          <p:attrName>ppt_y</p:attrName>
                                        </p:attrNameLst>
                                      </p:cBhvr>
                                      <p:tavLst>
                                        <p:tav tm="0" fmla="#ppt_y-sin(pi*$)/81">
                                          <p:val>
                                            <p:fltVal val="0"/>
                                          </p:val>
                                        </p:tav>
                                        <p:tav tm="100000">
                                          <p:val>
                                            <p:fltVal val="1"/>
                                          </p:val>
                                        </p:tav>
                                      </p:tavLst>
                                    </p:anim>
                                    <p:animScale>
                                      <p:cBhvr>
                                        <p:cTn id="67" dur="26">
                                          <p:stCondLst>
                                            <p:cond delay="650"/>
                                          </p:stCondLst>
                                        </p:cTn>
                                        <p:tgtEl>
                                          <p:spTgt spid="3">
                                            <p:txEl>
                                              <p:pRg st="4" end="4"/>
                                            </p:txEl>
                                          </p:spTgt>
                                        </p:tgtEl>
                                      </p:cBhvr>
                                      <p:to x="100000" y="60000"/>
                                    </p:animScale>
                                    <p:animScale>
                                      <p:cBhvr>
                                        <p:cTn id="68" dur="166" decel="50000">
                                          <p:stCondLst>
                                            <p:cond delay="676"/>
                                          </p:stCondLst>
                                        </p:cTn>
                                        <p:tgtEl>
                                          <p:spTgt spid="3">
                                            <p:txEl>
                                              <p:pRg st="4" end="4"/>
                                            </p:txEl>
                                          </p:spTgt>
                                        </p:tgtEl>
                                      </p:cBhvr>
                                      <p:to x="100000" y="100000"/>
                                    </p:animScale>
                                    <p:animScale>
                                      <p:cBhvr>
                                        <p:cTn id="69" dur="26">
                                          <p:stCondLst>
                                            <p:cond delay="1312"/>
                                          </p:stCondLst>
                                        </p:cTn>
                                        <p:tgtEl>
                                          <p:spTgt spid="3">
                                            <p:txEl>
                                              <p:pRg st="4" end="4"/>
                                            </p:txEl>
                                          </p:spTgt>
                                        </p:tgtEl>
                                      </p:cBhvr>
                                      <p:to x="100000" y="80000"/>
                                    </p:animScale>
                                    <p:animScale>
                                      <p:cBhvr>
                                        <p:cTn id="70" dur="166" decel="50000">
                                          <p:stCondLst>
                                            <p:cond delay="1338"/>
                                          </p:stCondLst>
                                        </p:cTn>
                                        <p:tgtEl>
                                          <p:spTgt spid="3">
                                            <p:txEl>
                                              <p:pRg st="4" end="4"/>
                                            </p:txEl>
                                          </p:spTgt>
                                        </p:tgtEl>
                                      </p:cBhvr>
                                      <p:to x="100000" y="100000"/>
                                    </p:animScale>
                                    <p:animScale>
                                      <p:cBhvr>
                                        <p:cTn id="71" dur="26">
                                          <p:stCondLst>
                                            <p:cond delay="1642"/>
                                          </p:stCondLst>
                                        </p:cTn>
                                        <p:tgtEl>
                                          <p:spTgt spid="3">
                                            <p:txEl>
                                              <p:pRg st="4" end="4"/>
                                            </p:txEl>
                                          </p:spTgt>
                                        </p:tgtEl>
                                      </p:cBhvr>
                                      <p:to x="100000" y="90000"/>
                                    </p:animScale>
                                    <p:animScale>
                                      <p:cBhvr>
                                        <p:cTn id="72" dur="166" decel="50000">
                                          <p:stCondLst>
                                            <p:cond delay="1668"/>
                                          </p:stCondLst>
                                        </p:cTn>
                                        <p:tgtEl>
                                          <p:spTgt spid="3">
                                            <p:txEl>
                                              <p:pRg st="4" end="4"/>
                                            </p:txEl>
                                          </p:spTgt>
                                        </p:tgtEl>
                                      </p:cBhvr>
                                      <p:to x="100000" y="100000"/>
                                    </p:animScale>
                                    <p:animScale>
                                      <p:cBhvr>
                                        <p:cTn id="73" dur="26">
                                          <p:stCondLst>
                                            <p:cond delay="1808"/>
                                          </p:stCondLst>
                                        </p:cTn>
                                        <p:tgtEl>
                                          <p:spTgt spid="3">
                                            <p:txEl>
                                              <p:pRg st="4" end="4"/>
                                            </p:txEl>
                                          </p:spTgt>
                                        </p:tgtEl>
                                      </p:cBhvr>
                                      <p:to x="100000" y="95000"/>
                                    </p:animScale>
                                    <p:animScale>
                                      <p:cBhvr>
                                        <p:cTn id="74" dur="166" decel="50000">
                                          <p:stCondLst>
                                            <p:cond delay="1834"/>
                                          </p:stCondLst>
                                        </p:cTn>
                                        <p:tgtEl>
                                          <p:spTgt spid="3">
                                            <p:txEl>
                                              <p:pRg st="4" end="4"/>
                                            </p:txEl>
                                          </p:spTgt>
                                        </p:tgtEl>
                                      </p:cBhvr>
                                      <p:to x="100000" y="100000"/>
                                    </p:animScale>
                                  </p:childTnLst>
                                </p:cTn>
                              </p:par>
                            </p:childTnLst>
                          </p:cTn>
                        </p:par>
                      </p:childTnLst>
                    </p:cTn>
                  </p:par>
                  <p:par>
                    <p:cTn id="75" fill="hold">
                      <p:stCondLst>
                        <p:cond delay="indefinite"/>
                      </p:stCondLst>
                      <p:childTnLst>
                        <p:par>
                          <p:cTn id="76" fill="hold">
                            <p:stCondLst>
                              <p:cond delay="0"/>
                            </p:stCondLst>
                            <p:childTnLst>
                              <p:par>
                                <p:cTn id="77" presetID="26" presetClass="entr" presetSubtype="0" fill="hold" nodeType="clickEffect">
                                  <p:stCondLst>
                                    <p:cond delay="0"/>
                                  </p:stCondLst>
                                  <p:childTnLst>
                                    <p:set>
                                      <p:cBhvr>
                                        <p:cTn id="78" dur="1" fill="hold">
                                          <p:stCondLst>
                                            <p:cond delay="0"/>
                                          </p:stCondLst>
                                        </p:cTn>
                                        <p:tgtEl>
                                          <p:spTgt spid="3">
                                            <p:txEl>
                                              <p:pRg st="5" end="5"/>
                                            </p:txEl>
                                          </p:spTgt>
                                        </p:tgtEl>
                                        <p:attrNameLst>
                                          <p:attrName>style.visibility</p:attrName>
                                        </p:attrNameLst>
                                      </p:cBhvr>
                                      <p:to>
                                        <p:strVal val="visible"/>
                                      </p:to>
                                    </p:set>
                                    <p:animEffect transition="in" filter="wipe(down)">
                                      <p:cBhvr>
                                        <p:cTn id="79" dur="580">
                                          <p:stCondLst>
                                            <p:cond delay="0"/>
                                          </p:stCondLst>
                                        </p:cTn>
                                        <p:tgtEl>
                                          <p:spTgt spid="3">
                                            <p:txEl>
                                              <p:pRg st="5" end="5"/>
                                            </p:txEl>
                                          </p:spTgt>
                                        </p:tgtEl>
                                      </p:cBhvr>
                                    </p:animEffect>
                                    <p:anim calcmode="lin" valueType="num">
                                      <p:cBhvr>
                                        <p:cTn id="80" dur="1822" tmFilter="0,0; 0.14,0.36; 0.43,0.73; 0.71,0.91; 1.0,1.0">
                                          <p:stCondLst>
                                            <p:cond delay="0"/>
                                          </p:stCondLst>
                                        </p:cTn>
                                        <p:tgtEl>
                                          <p:spTgt spid="3">
                                            <p:txEl>
                                              <p:pRg st="5" end="5"/>
                                            </p:txEl>
                                          </p:spTgt>
                                        </p:tgtEl>
                                        <p:attrNameLst>
                                          <p:attrName>ppt_x</p:attrName>
                                        </p:attrNameLst>
                                      </p:cBhvr>
                                      <p:tavLst>
                                        <p:tav tm="0">
                                          <p:val>
                                            <p:strVal val="#ppt_x-0.25"/>
                                          </p:val>
                                        </p:tav>
                                        <p:tav tm="100000">
                                          <p:val>
                                            <p:strVal val="#ppt_x"/>
                                          </p:val>
                                        </p:tav>
                                      </p:tavLst>
                                    </p:anim>
                                    <p:anim calcmode="lin" valueType="num">
                                      <p:cBhvr>
                                        <p:cTn id="81" dur="664" tmFilter="0.0,0.0; 0.25,0.07; 0.50,0.2; 0.75,0.467; 1.0,1.0">
                                          <p:stCondLst>
                                            <p:cond delay="0"/>
                                          </p:stCondLst>
                                        </p:cTn>
                                        <p:tgtEl>
                                          <p:spTgt spid="3">
                                            <p:txEl>
                                              <p:pRg st="5" end="5"/>
                                            </p:txEl>
                                          </p:spTgt>
                                        </p:tgtEl>
                                        <p:attrNameLst>
                                          <p:attrName>ppt_y</p:attrName>
                                        </p:attrNameLst>
                                      </p:cBhvr>
                                      <p:tavLst>
                                        <p:tav tm="0" fmla="#ppt_y-sin(pi*$)/3">
                                          <p:val>
                                            <p:fltVal val="0.5"/>
                                          </p:val>
                                        </p:tav>
                                        <p:tav tm="100000">
                                          <p:val>
                                            <p:fltVal val="1"/>
                                          </p:val>
                                        </p:tav>
                                      </p:tavLst>
                                    </p:anim>
                                    <p:anim calcmode="lin" valueType="num">
                                      <p:cBhvr>
                                        <p:cTn id="82" dur="664" tmFilter="0, 0; 0.125,0.2665; 0.25,0.4; 0.375,0.465; 0.5,0.5;  0.625,0.535; 0.75,0.6; 0.875,0.7335; 1,1">
                                          <p:stCondLst>
                                            <p:cond delay="664"/>
                                          </p:stCondLst>
                                        </p:cTn>
                                        <p:tgtEl>
                                          <p:spTgt spid="3">
                                            <p:txEl>
                                              <p:pRg st="5" end="5"/>
                                            </p:txEl>
                                          </p:spTgt>
                                        </p:tgtEl>
                                        <p:attrNameLst>
                                          <p:attrName>ppt_y</p:attrName>
                                        </p:attrNameLst>
                                      </p:cBhvr>
                                      <p:tavLst>
                                        <p:tav tm="0" fmla="#ppt_y-sin(pi*$)/9">
                                          <p:val>
                                            <p:fltVal val="0"/>
                                          </p:val>
                                        </p:tav>
                                        <p:tav tm="100000">
                                          <p:val>
                                            <p:fltVal val="1"/>
                                          </p:val>
                                        </p:tav>
                                      </p:tavLst>
                                    </p:anim>
                                    <p:anim calcmode="lin" valueType="num">
                                      <p:cBhvr>
                                        <p:cTn id="83" dur="332" tmFilter="0, 0; 0.125,0.2665; 0.25,0.4; 0.375,0.465; 0.5,0.5;  0.625,0.535; 0.75,0.6; 0.875,0.7335; 1,1">
                                          <p:stCondLst>
                                            <p:cond delay="1324"/>
                                          </p:stCondLst>
                                        </p:cTn>
                                        <p:tgtEl>
                                          <p:spTgt spid="3">
                                            <p:txEl>
                                              <p:pRg st="5" end="5"/>
                                            </p:txEl>
                                          </p:spTgt>
                                        </p:tgtEl>
                                        <p:attrNameLst>
                                          <p:attrName>ppt_y</p:attrName>
                                        </p:attrNameLst>
                                      </p:cBhvr>
                                      <p:tavLst>
                                        <p:tav tm="0" fmla="#ppt_y-sin(pi*$)/27">
                                          <p:val>
                                            <p:fltVal val="0"/>
                                          </p:val>
                                        </p:tav>
                                        <p:tav tm="100000">
                                          <p:val>
                                            <p:fltVal val="1"/>
                                          </p:val>
                                        </p:tav>
                                      </p:tavLst>
                                    </p:anim>
                                    <p:anim calcmode="lin" valueType="num">
                                      <p:cBhvr>
                                        <p:cTn id="84" dur="164" tmFilter="0, 0; 0.125,0.2665; 0.25,0.4; 0.375,0.465; 0.5,0.5;  0.625,0.535; 0.75,0.6; 0.875,0.7335; 1,1">
                                          <p:stCondLst>
                                            <p:cond delay="1656"/>
                                          </p:stCondLst>
                                        </p:cTn>
                                        <p:tgtEl>
                                          <p:spTgt spid="3">
                                            <p:txEl>
                                              <p:pRg st="5" end="5"/>
                                            </p:txEl>
                                          </p:spTgt>
                                        </p:tgtEl>
                                        <p:attrNameLst>
                                          <p:attrName>ppt_y</p:attrName>
                                        </p:attrNameLst>
                                      </p:cBhvr>
                                      <p:tavLst>
                                        <p:tav tm="0" fmla="#ppt_y-sin(pi*$)/81">
                                          <p:val>
                                            <p:fltVal val="0"/>
                                          </p:val>
                                        </p:tav>
                                        <p:tav tm="100000">
                                          <p:val>
                                            <p:fltVal val="1"/>
                                          </p:val>
                                        </p:tav>
                                      </p:tavLst>
                                    </p:anim>
                                    <p:animScale>
                                      <p:cBhvr>
                                        <p:cTn id="85" dur="26">
                                          <p:stCondLst>
                                            <p:cond delay="650"/>
                                          </p:stCondLst>
                                        </p:cTn>
                                        <p:tgtEl>
                                          <p:spTgt spid="3">
                                            <p:txEl>
                                              <p:pRg st="5" end="5"/>
                                            </p:txEl>
                                          </p:spTgt>
                                        </p:tgtEl>
                                      </p:cBhvr>
                                      <p:to x="100000" y="60000"/>
                                    </p:animScale>
                                    <p:animScale>
                                      <p:cBhvr>
                                        <p:cTn id="86" dur="166" decel="50000">
                                          <p:stCondLst>
                                            <p:cond delay="676"/>
                                          </p:stCondLst>
                                        </p:cTn>
                                        <p:tgtEl>
                                          <p:spTgt spid="3">
                                            <p:txEl>
                                              <p:pRg st="5" end="5"/>
                                            </p:txEl>
                                          </p:spTgt>
                                        </p:tgtEl>
                                      </p:cBhvr>
                                      <p:to x="100000" y="100000"/>
                                    </p:animScale>
                                    <p:animScale>
                                      <p:cBhvr>
                                        <p:cTn id="87" dur="26">
                                          <p:stCondLst>
                                            <p:cond delay="1312"/>
                                          </p:stCondLst>
                                        </p:cTn>
                                        <p:tgtEl>
                                          <p:spTgt spid="3">
                                            <p:txEl>
                                              <p:pRg st="5" end="5"/>
                                            </p:txEl>
                                          </p:spTgt>
                                        </p:tgtEl>
                                      </p:cBhvr>
                                      <p:to x="100000" y="80000"/>
                                    </p:animScale>
                                    <p:animScale>
                                      <p:cBhvr>
                                        <p:cTn id="88" dur="166" decel="50000">
                                          <p:stCondLst>
                                            <p:cond delay="1338"/>
                                          </p:stCondLst>
                                        </p:cTn>
                                        <p:tgtEl>
                                          <p:spTgt spid="3">
                                            <p:txEl>
                                              <p:pRg st="5" end="5"/>
                                            </p:txEl>
                                          </p:spTgt>
                                        </p:tgtEl>
                                      </p:cBhvr>
                                      <p:to x="100000" y="100000"/>
                                    </p:animScale>
                                    <p:animScale>
                                      <p:cBhvr>
                                        <p:cTn id="89" dur="26">
                                          <p:stCondLst>
                                            <p:cond delay="1642"/>
                                          </p:stCondLst>
                                        </p:cTn>
                                        <p:tgtEl>
                                          <p:spTgt spid="3">
                                            <p:txEl>
                                              <p:pRg st="5" end="5"/>
                                            </p:txEl>
                                          </p:spTgt>
                                        </p:tgtEl>
                                      </p:cBhvr>
                                      <p:to x="100000" y="90000"/>
                                    </p:animScale>
                                    <p:animScale>
                                      <p:cBhvr>
                                        <p:cTn id="90" dur="166" decel="50000">
                                          <p:stCondLst>
                                            <p:cond delay="1668"/>
                                          </p:stCondLst>
                                        </p:cTn>
                                        <p:tgtEl>
                                          <p:spTgt spid="3">
                                            <p:txEl>
                                              <p:pRg st="5" end="5"/>
                                            </p:txEl>
                                          </p:spTgt>
                                        </p:tgtEl>
                                      </p:cBhvr>
                                      <p:to x="100000" y="100000"/>
                                    </p:animScale>
                                    <p:animScale>
                                      <p:cBhvr>
                                        <p:cTn id="91" dur="26">
                                          <p:stCondLst>
                                            <p:cond delay="1808"/>
                                          </p:stCondLst>
                                        </p:cTn>
                                        <p:tgtEl>
                                          <p:spTgt spid="3">
                                            <p:txEl>
                                              <p:pRg st="5" end="5"/>
                                            </p:txEl>
                                          </p:spTgt>
                                        </p:tgtEl>
                                      </p:cBhvr>
                                      <p:to x="100000" y="95000"/>
                                    </p:animScale>
                                    <p:animScale>
                                      <p:cBhvr>
                                        <p:cTn id="92" dur="166" decel="50000">
                                          <p:stCondLst>
                                            <p:cond delay="1834"/>
                                          </p:stCondLst>
                                        </p:cTn>
                                        <p:tgtEl>
                                          <p:spTgt spid="3">
                                            <p:txEl>
                                              <p:pRg st="5" end="5"/>
                                            </p:txEl>
                                          </p:spTgt>
                                        </p:tgtEl>
                                      </p:cBhvr>
                                      <p:to x="100000" y="100000"/>
                                    </p:animScale>
                                  </p:childTnLst>
                                </p:cTn>
                              </p:par>
                            </p:childTnLst>
                          </p:cTn>
                        </p:par>
                      </p:childTnLst>
                    </p:cTn>
                  </p:par>
                  <p:par>
                    <p:cTn id="93" fill="hold">
                      <p:stCondLst>
                        <p:cond delay="indefinite"/>
                      </p:stCondLst>
                      <p:childTnLst>
                        <p:par>
                          <p:cTn id="94" fill="hold">
                            <p:stCondLst>
                              <p:cond delay="0"/>
                            </p:stCondLst>
                            <p:childTnLst>
                              <p:par>
                                <p:cTn id="95" presetID="26" presetClass="entr" presetSubtype="0" fill="hold" nodeType="clickEffect">
                                  <p:stCondLst>
                                    <p:cond delay="0"/>
                                  </p:stCondLst>
                                  <p:childTnLst>
                                    <p:set>
                                      <p:cBhvr>
                                        <p:cTn id="96" dur="1" fill="hold">
                                          <p:stCondLst>
                                            <p:cond delay="0"/>
                                          </p:stCondLst>
                                        </p:cTn>
                                        <p:tgtEl>
                                          <p:spTgt spid="3">
                                            <p:txEl>
                                              <p:pRg st="6" end="6"/>
                                            </p:txEl>
                                          </p:spTgt>
                                        </p:tgtEl>
                                        <p:attrNameLst>
                                          <p:attrName>style.visibility</p:attrName>
                                        </p:attrNameLst>
                                      </p:cBhvr>
                                      <p:to>
                                        <p:strVal val="visible"/>
                                      </p:to>
                                    </p:set>
                                    <p:animEffect transition="in" filter="wipe(down)">
                                      <p:cBhvr>
                                        <p:cTn id="97" dur="580">
                                          <p:stCondLst>
                                            <p:cond delay="0"/>
                                          </p:stCondLst>
                                        </p:cTn>
                                        <p:tgtEl>
                                          <p:spTgt spid="3">
                                            <p:txEl>
                                              <p:pRg st="6" end="6"/>
                                            </p:txEl>
                                          </p:spTgt>
                                        </p:tgtEl>
                                      </p:cBhvr>
                                    </p:animEffect>
                                    <p:anim calcmode="lin" valueType="num">
                                      <p:cBhvr>
                                        <p:cTn id="98" dur="1822" tmFilter="0,0; 0.14,0.36; 0.43,0.73; 0.71,0.91; 1.0,1.0">
                                          <p:stCondLst>
                                            <p:cond delay="0"/>
                                          </p:stCondLst>
                                        </p:cTn>
                                        <p:tgtEl>
                                          <p:spTgt spid="3">
                                            <p:txEl>
                                              <p:pRg st="6" end="6"/>
                                            </p:txEl>
                                          </p:spTgt>
                                        </p:tgtEl>
                                        <p:attrNameLst>
                                          <p:attrName>ppt_x</p:attrName>
                                        </p:attrNameLst>
                                      </p:cBhvr>
                                      <p:tavLst>
                                        <p:tav tm="0">
                                          <p:val>
                                            <p:strVal val="#ppt_x-0.25"/>
                                          </p:val>
                                        </p:tav>
                                        <p:tav tm="100000">
                                          <p:val>
                                            <p:strVal val="#ppt_x"/>
                                          </p:val>
                                        </p:tav>
                                      </p:tavLst>
                                    </p:anim>
                                    <p:anim calcmode="lin" valueType="num">
                                      <p:cBhvr>
                                        <p:cTn id="99" dur="664" tmFilter="0.0,0.0; 0.25,0.07; 0.50,0.2; 0.75,0.467; 1.0,1.0">
                                          <p:stCondLst>
                                            <p:cond delay="0"/>
                                          </p:stCondLst>
                                        </p:cTn>
                                        <p:tgtEl>
                                          <p:spTgt spid="3">
                                            <p:txEl>
                                              <p:pRg st="6" end="6"/>
                                            </p:txEl>
                                          </p:spTgt>
                                        </p:tgtEl>
                                        <p:attrNameLst>
                                          <p:attrName>ppt_y</p:attrName>
                                        </p:attrNameLst>
                                      </p:cBhvr>
                                      <p:tavLst>
                                        <p:tav tm="0" fmla="#ppt_y-sin(pi*$)/3">
                                          <p:val>
                                            <p:fltVal val="0.5"/>
                                          </p:val>
                                        </p:tav>
                                        <p:tav tm="100000">
                                          <p:val>
                                            <p:fltVal val="1"/>
                                          </p:val>
                                        </p:tav>
                                      </p:tavLst>
                                    </p:anim>
                                    <p:anim calcmode="lin" valueType="num">
                                      <p:cBhvr>
                                        <p:cTn id="100" dur="664" tmFilter="0, 0; 0.125,0.2665; 0.25,0.4; 0.375,0.465; 0.5,0.5;  0.625,0.535; 0.75,0.6; 0.875,0.7335; 1,1">
                                          <p:stCondLst>
                                            <p:cond delay="664"/>
                                          </p:stCondLst>
                                        </p:cTn>
                                        <p:tgtEl>
                                          <p:spTgt spid="3">
                                            <p:txEl>
                                              <p:pRg st="6" end="6"/>
                                            </p:txEl>
                                          </p:spTgt>
                                        </p:tgtEl>
                                        <p:attrNameLst>
                                          <p:attrName>ppt_y</p:attrName>
                                        </p:attrNameLst>
                                      </p:cBhvr>
                                      <p:tavLst>
                                        <p:tav tm="0" fmla="#ppt_y-sin(pi*$)/9">
                                          <p:val>
                                            <p:fltVal val="0"/>
                                          </p:val>
                                        </p:tav>
                                        <p:tav tm="100000">
                                          <p:val>
                                            <p:fltVal val="1"/>
                                          </p:val>
                                        </p:tav>
                                      </p:tavLst>
                                    </p:anim>
                                    <p:anim calcmode="lin" valueType="num">
                                      <p:cBhvr>
                                        <p:cTn id="101" dur="332" tmFilter="0, 0; 0.125,0.2665; 0.25,0.4; 0.375,0.465; 0.5,0.5;  0.625,0.535; 0.75,0.6; 0.875,0.7335; 1,1">
                                          <p:stCondLst>
                                            <p:cond delay="1324"/>
                                          </p:stCondLst>
                                        </p:cTn>
                                        <p:tgtEl>
                                          <p:spTgt spid="3">
                                            <p:txEl>
                                              <p:pRg st="6" end="6"/>
                                            </p:txEl>
                                          </p:spTgt>
                                        </p:tgtEl>
                                        <p:attrNameLst>
                                          <p:attrName>ppt_y</p:attrName>
                                        </p:attrNameLst>
                                      </p:cBhvr>
                                      <p:tavLst>
                                        <p:tav tm="0" fmla="#ppt_y-sin(pi*$)/27">
                                          <p:val>
                                            <p:fltVal val="0"/>
                                          </p:val>
                                        </p:tav>
                                        <p:tav tm="100000">
                                          <p:val>
                                            <p:fltVal val="1"/>
                                          </p:val>
                                        </p:tav>
                                      </p:tavLst>
                                    </p:anim>
                                    <p:anim calcmode="lin" valueType="num">
                                      <p:cBhvr>
                                        <p:cTn id="102" dur="164" tmFilter="0, 0; 0.125,0.2665; 0.25,0.4; 0.375,0.465; 0.5,0.5;  0.625,0.535; 0.75,0.6; 0.875,0.7335; 1,1">
                                          <p:stCondLst>
                                            <p:cond delay="1656"/>
                                          </p:stCondLst>
                                        </p:cTn>
                                        <p:tgtEl>
                                          <p:spTgt spid="3">
                                            <p:txEl>
                                              <p:pRg st="6" end="6"/>
                                            </p:txEl>
                                          </p:spTgt>
                                        </p:tgtEl>
                                        <p:attrNameLst>
                                          <p:attrName>ppt_y</p:attrName>
                                        </p:attrNameLst>
                                      </p:cBhvr>
                                      <p:tavLst>
                                        <p:tav tm="0" fmla="#ppt_y-sin(pi*$)/81">
                                          <p:val>
                                            <p:fltVal val="0"/>
                                          </p:val>
                                        </p:tav>
                                        <p:tav tm="100000">
                                          <p:val>
                                            <p:fltVal val="1"/>
                                          </p:val>
                                        </p:tav>
                                      </p:tavLst>
                                    </p:anim>
                                    <p:animScale>
                                      <p:cBhvr>
                                        <p:cTn id="103" dur="26">
                                          <p:stCondLst>
                                            <p:cond delay="650"/>
                                          </p:stCondLst>
                                        </p:cTn>
                                        <p:tgtEl>
                                          <p:spTgt spid="3">
                                            <p:txEl>
                                              <p:pRg st="6" end="6"/>
                                            </p:txEl>
                                          </p:spTgt>
                                        </p:tgtEl>
                                      </p:cBhvr>
                                      <p:to x="100000" y="60000"/>
                                    </p:animScale>
                                    <p:animScale>
                                      <p:cBhvr>
                                        <p:cTn id="104" dur="166" decel="50000">
                                          <p:stCondLst>
                                            <p:cond delay="676"/>
                                          </p:stCondLst>
                                        </p:cTn>
                                        <p:tgtEl>
                                          <p:spTgt spid="3">
                                            <p:txEl>
                                              <p:pRg st="6" end="6"/>
                                            </p:txEl>
                                          </p:spTgt>
                                        </p:tgtEl>
                                      </p:cBhvr>
                                      <p:to x="100000" y="100000"/>
                                    </p:animScale>
                                    <p:animScale>
                                      <p:cBhvr>
                                        <p:cTn id="105" dur="26">
                                          <p:stCondLst>
                                            <p:cond delay="1312"/>
                                          </p:stCondLst>
                                        </p:cTn>
                                        <p:tgtEl>
                                          <p:spTgt spid="3">
                                            <p:txEl>
                                              <p:pRg st="6" end="6"/>
                                            </p:txEl>
                                          </p:spTgt>
                                        </p:tgtEl>
                                      </p:cBhvr>
                                      <p:to x="100000" y="80000"/>
                                    </p:animScale>
                                    <p:animScale>
                                      <p:cBhvr>
                                        <p:cTn id="106" dur="166" decel="50000">
                                          <p:stCondLst>
                                            <p:cond delay="1338"/>
                                          </p:stCondLst>
                                        </p:cTn>
                                        <p:tgtEl>
                                          <p:spTgt spid="3">
                                            <p:txEl>
                                              <p:pRg st="6" end="6"/>
                                            </p:txEl>
                                          </p:spTgt>
                                        </p:tgtEl>
                                      </p:cBhvr>
                                      <p:to x="100000" y="100000"/>
                                    </p:animScale>
                                    <p:animScale>
                                      <p:cBhvr>
                                        <p:cTn id="107" dur="26">
                                          <p:stCondLst>
                                            <p:cond delay="1642"/>
                                          </p:stCondLst>
                                        </p:cTn>
                                        <p:tgtEl>
                                          <p:spTgt spid="3">
                                            <p:txEl>
                                              <p:pRg st="6" end="6"/>
                                            </p:txEl>
                                          </p:spTgt>
                                        </p:tgtEl>
                                      </p:cBhvr>
                                      <p:to x="100000" y="90000"/>
                                    </p:animScale>
                                    <p:animScale>
                                      <p:cBhvr>
                                        <p:cTn id="108" dur="166" decel="50000">
                                          <p:stCondLst>
                                            <p:cond delay="1668"/>
                                          </p:stCondLst>
                                        </p:cTn>
                                        <p:tgtEl>
                                          <p:spTgt spid="3">
                                            <p:txEl>
                                              <p:pRg st="6" end="6"/>
                                            </p:txEl>
                                          </p:spTgt>
                                        </p:tgtEl>
                                      </p:cBhvr>
                                      <p:to x="100000" y="100000"/>
                                    </p:animScale>
                                    <p:animScale>
                                      <p:cBhvr>
                                        <p:cTn id="109" dur="26">
                                          <p:stCondLst>
                                            <p:cond delay="1808"/>
                                          </p:stCondLst>
                                        </p:cTn>
                                        <p:tgtEl>
                                          <p:spTgt spid="3">
                                            <p:txEl>
                                              <p:pRg st="6" end="6"/>
                                            </p:txEl>
                                          </p:spTgt>
                                        </p:tgtEl>
                                      </p:cBhvr>
                                      <p:to x="100000" y="95000"/>
                                    </p:animScale>
                                    <p:animScale>
                                      <p:cBhvr>
                                        <p:cTn id="110" dur="166" decel="50000">
                                          <p:stCondLst>
                                            <p:cond delay="1834"/>
                                          </p:stCondLst>
                                        </p:cTn>
                                        <p:tgtEl>
                                          <p:spTgt spid="3">
                                            <p:txEl>
                                              <p:pRg st="6" end="6"/>
                                            </p:txEl>
                                          </p:spTgt>
                                        </p:tgtEl>
                                      </p:cBhvr>
                                      <p:to x="100000" y="100000"/>
                                    </p:animScale>
                                  </p:childTnLst>
                                </p:cTn>
                              </p:par>
                            </p:childTnLst>
                          </p:cTn>
                        </p:par>
                      </p:childTnLst>
                    </p:cTn>
                  </p:par>
                  <p:par>
                    <p:cTn id="111" fill="hold">
                      <p:stCondLst>
                        <p:cond delay="indefinite"/>
                      </p:stCondLst>
                      <p:childTnLst>
                        <p:par>
                          <p:cTn id="112" fill="hold">
                            <p:stCondLst>
                              <p:cond delay="0"/>
                            </p:stCondLst>
                            <p:childTnLst>
                              <p:par>
                                <p:cTn id="113" presetID="26" presetClass="entr" presetSubtype="0" fill="hold" nodeType="clickEffect">
                                  <p:stCondLst>
                                    <p:cond delay="0"/>
                                  </p:stCondLst>
                                  <p:childTnLst>
                                    <p:set>
                                      <p:cBhvr>
                                        <p:cTn id="114" dur="1" fill="hold">
                                          <p:stCondLst>
                                            <p:cond delay="0"/>
                                          </p:stCondLst>
                                        </p:cTn>
                                        <p:tgtEl>
                                          <p:spTgt spid="3">
                                            <p:txEl>
                                              <p:pRg st="7" end="7"/>
                                            </p:txEl>
                                          </p:spTgt>
                                        </p:tgtEl>
                                        <p:attrNameLst>
                                          <p:attrName>style.visibility</p:attrName>
                                        </p:attrNameLst>
                                      </p:cBhvr>
                                      <p:to>
                                        <p:strVal val="visible"/>
                                      </p:to>
                                    </p:set>
                                    <p:animEffect transition="in" filter="wipe(down)">
                                      <p:cBhvr>
                                        <p:cTn id="115" dur="580">
                                          <p:stCondLst>
                                            <p:cond delay="0"/>
                                          </p:stCondLst>
                                        </p:cTn>
                                        <p:tgtEl>
                                          <p:spTgt spid="3">
                                            <p:txEl>
                                              <p:pRg st="7" end="7"/>
                                            </p:txEl>
                                          </p:spTgt>
                                        </p:tgtEl>
                                      </p:cBhvr>
                                    </p:animEffect>
                                    <p:anim calcmode="lin" valueType="num">
                                      <p:cBhvr>
                                        <p:cTn id="116" dur="1822" tmFilter="0,0; 0.14,0.36; 0.43,0.73; 0.71,0.91; 1.0,1.0">
                                          <p:stCondLst>
                                            <p:cond delay="0"/>
                                          </p:stCondLst>
                                        </p:cTn>
                                        <p:tgtEl>
                                          <p:spTgt spid="3">
                                            <p:txEl>
                                              <p:pRg st="7" end="7"/>
                                            </p:txEl>
                                          </p:spTgt>
                                        </p:tgtEl>
                                        <p:attrNameLst>
                                          <p:attrName>ppt_x</p:attrName>
                                        </p:attrNameLst>
                                      </p:cBhvr>
                                      <p:tavLst>
                                        <p:tav tm="0">
                                          <p:val>
                                            <p:strVal val="#ppt_x-0.25"/>
                                          </p:val>
                                        </p:tav>
                                        <p:tav tm="100000">
                                          <p:val>
                                            <p:strVal val="#ppt_x"/>
                                          </p:val>
                                        </p:tav>
                                      </p:tavLst>
                                    </p:anim>
                                    <p:anim calcmode="lin" valueType="num">
                                      <p:cBhvr>
                                        <p:cTn id="117" dur="664" tmFilter="0.0,0.0; 0.25,0.07; 0.50,0.2; 0.75,0.467; 1.0,1.0">
                                          <p:stCondLst>
                                            <p:cond delay="0"/>
                                          </p:stCondLst>
                                        </p:cTn>
                                        <p:tgtEl>
                                          <p:spTgt spid="3">
                                            <p:txEl>
                                              <p:pRg st="7" end="7"/>
                                            </p:txEl>
                                          </p:spTgt>
                                        </p:tgtEl>
                                        <p:attrNameLst>
                                          <p:attrName>ppt_y</p:attrName>
                                        </p:attrNameLst>
                                      </p:cBhvr>
                                      <p:tavLst>
                                        <p:tav tm="0" fmla="#ppt_y-sin(pi*$)/3">
                                          <p:val>
                                            <p:fltVal val="0.5"/>
                                          </p:val>
                                        </p:tav>
                                        <p:tav tm="100000">
                                          <p:val>
                                            <p:fltVal val="1"/>
                                          </p:val>
                                        </p:tav>
                                      </p:tavLst>
                                    </p:anim>
                                    <p:anim calcmode="lin" valueType="num">
                                      <p:cBhvr>
                                        <p:cTn id="118" dur="664" tmFilter="0, 0; 0.125,0.2665; 0.25,0.4; 0.375,0.465; 0.5,0.5;  0.625,0.535; 0.75,0.6; 0.875,0.7335; 1,1">
                                          <p:stCondLst>
                                            <p:cond delay="664"/>
                                          </p:stCondLst>
                                        </p:cTn>
                                        <p:tgtEl>
                                          <p:spTgt spid="3">
                                            <p:txEl>
                                              <p:pRg st="7" end="7"/>
                                            </p:txEl>
                                          </p:spTgt>
                                        </p:tgtEl>
                                        <p:attrNameLst>
                                          <p:attrName>ppt_y</p:attrName>
                                        </p:attrNameLst>
                                      </p:cBhvr>
                                      <p:tavLst>
                                        <p:tav tm="0" fmla="#ppt_y-sin(pi*$)/9">
                                          <p:val>
                                            <p:fltVal val="0"/>
                                          </p:val>
                                        </p:tav>
                                        <p:tav tm="100000">
                                          <p:val>
                                            <p:fltVal val="1"/>
                                          </p:val>
                                        </p:tav>
                                      </p:tavLst>
                                    </p:anim>
                                    <p:anim calcmode="lin" valueType="num">
                                      <p:cBhvr>
                                        <p:cTn id="119" dur="332" tmFilter="0, 0; 0.125,0.2665; 0.25,0.4; 0.375,0.465; 0.5,0.5;  0.625,0.535; 0.75,0.6; 0.875,0.7335; 1,1">
                                          <p:stCondLst>
                                            <p:cond delay="1324"/>
                                          </p:stCondLst>
                                        </p:cTn>
                                        <p:tgtEl>
                                          <p:spTgt spid="3">
                                            <p:txEl>
                                              <p:pRg st="7" end="7"/>
                                            </p:txEl>
                                          </p:spTgt>
                                        </p:tgtEl>
                                        <p:attrNameLst>
                                          <p:attrName>ppt_y</p:attrName>
                                        </p:attrNameLst>
                                      </p:cBhvr>
                                      <p:tavLst>
                                        <p:tav tm="0" fmla="#ppt_y-sin(pi*$)/27">
                                          <p:val>
                                            <p:fltVal val="0"/>
                                          </p:val>
                                        </p:tav>
                                        <p:tav tm="100000">
                                          <p:val>
                                            <p:fltVal val="1"/>
                                          </p:val>
                                        </p:tav>
                                      </p:tavLst>
                                    </p:anim>
                                    <p:anim calcmode="lin" valueType="num">
                                      <p:cBhvr>
                                        <p:cTn id="120" dur="164" tmFilter="0, 0; 0.125,0.2665; 0.25,0.4; 0.375,0.465; 0.5,0.5;  0.625,0.535; 0.75,0.6; 0.875,0.7335; 1,1">
                                          <p:stCondLst>
                                            <p:cond delay="1656"/>
                                          </p:stCondLst>
                                        </p:cTn>
                                        <p:tgtEl>
                                          <p:spTgt spid="3">
                                            <p:txEl>
                                              <p:pRg st="7" end="7"/>
                                            </p:txEl>
                                          </p:spTgt>
                                        </p:tgtEl>
                                        <p:attrNameLst>
                                          <p:attrName>ppt_y</p:attrName>
                                        </p:attrNameLst>
                                      </p:cBhvr>
                                      <p:tavLst>
                                        <p:tav tm="0" fmla="#ppt_y-sin(pi*$)/81">
                                          <p:val>
                                            <p:fltVal val="0"/>
                                          </p:val>
                                        </p:tav>
                                        <p:tav tm="100000">
                                          <p:val>
                                            <p:fltVal val="1"/>
                                          </p:val>
                                        </p:tav>
                                      </p:tavLst>
                                    </p:anim>
                                    <p:animScale>
                                      <p:cBhvr>
                                        <p:cTn id="121" dur="26">
                                          <p:stCondLst>
                                            <p:cond delay="650"/>
                                          </p:stCondLst>
                                        </p:cTn>
                                        <p:tgtEl>
                                          <p:spTgt spid="3">
                                            <p:txEl>
                                              <p:pRg st="7" end="7"/>
                                            </p:txEl>
                                          </p:spTgt>
                                        </p:tgtEl>
                                      </p:cBhvr>
                                      <p:to x="100000" y="60000"/>
                                    </p:animScale>
                                    <p:animScale>
                                      <p:cBhvr>
                                        <p:cTn id="122" dur="166" decel="50000">
                                          <p:stCondLst>
                                            <p:cond delay="676"/>
                                          </p:stCondLst>
                                        </p:cTn>
                                        <p:tgtEl>
                                          <p:spTgt spid="3">
                                            <p:txEl>
                                              <p:pRg st="7" end="7"/>
                                            </p:txEl>
                                          </p:spTgt>
                                        </p:tgtEl>
                                      </p:cBhvr>
                                      <p:to x="100000" y="100000"/>
                                    </p:animScale>
                                    <p:animScale>
                                      <p:cBhvr>
                                        <p:cTn id="123" dur="26">
                                          <p:stCondLst>
                                            <p:cond delay="1312"/>
                                          </p:stCondLst>
                                        </p:cTn>
                                        <p:tgtEl>
                                          <p:spTgt spid="3">
                                            <p:txEl>
                                              <p:pRg st="7" end="7"/>
                                            </p:txEl>
                                          </p:spTgt>
                                        </p:tgtEl>
                                      </p:cBhvr>
                                      <p:to x="100000" y="80000"/>
                                    </p:animScale>
                                    <p:animScale>
                                      <p:cBhvr>
                                        <p:cTn id="124" dur="166" decel="50000">
                                          <p:stCondLst>
                                            <p:cond delay="1338"/>
                                          </p:stCondLst>
                                        </p:cTn>
                                        <p:tgtEl>
                                          <p:spTgt spid="3">
                                            <p:txEl>
                                              <p:pRg st="7" end="7"/>
                                            </p:txEl>
                                          </p:spTgt>
                                        </p:tgtEl>
                                      </p:cBhvr>
                                      <p:to x="100000" y="100000"/>
                                    </p:animScale>
                                    <p:animScale>
                                      <p:cBhvr>
                                        <p:cTn id="125" dur="26">
                                          <p:stCondLst>
                                            <p:cond delay="1642"/>
                                          </p:stCondLst>
                                        </p:cTn>
                                        <p:tgtEl>
                                          <p:spTgt spid="3">
                                            <p:txEl>
                                              <p:pRg st="7" end="7"/>
                                            </p:txEl>
                                          </p:spTgt>
                                        </p:tgtEl>
                                      </p:cBhvr>
                                      <p:to x="100000" y="90000"/>
                                    </p:animScale>
                                    <p:animScale>
                                      <p:cBhvr>
                                        <p:cTn id="126" dur="166" decel="50000">
                                          <p:stCondLst>
                                            <p:cond delay="1668"/>
                                          </p:stCondLst>
                                        </p:cTn>
                                        <p:tgtEl>
                                          <p:spTgt spid="3">
                                            <p:txEl>
                                              <p:pRg st="7" end="7"/>
                                            </p:txEl>
                                          </p:spTgt>
                                        </p:tgtEl>
                                      </p:cBhvr>
                                      <p:to x="100000" y="100000"/>
                                    </p:animScale>
                                    <p:animScale>
                                      <p:cBhvr>
                                        <p:cTn id="127" dur="26">
                                          <p:stCondLst>
                                            <p:cond delay="1808"/>
                                          </p:stCondLst>
                                        </p:cTn>
                                        <p:tgtEl>
                                          <p:spTgt spid="3">
                                            <p:txEl>
                                              <p:pRg st="7" end="7"/>
                                            </p:txEl>
                                          </p:spTgt>
                                        </p:tgtEl>
                                      </p:cBhvr>
                                      <p:to x="100000" y="95000"/>
                                    </p:animScale>
                                    <p:animScale>
                                      <p:cBhvr>
                                        <p:cTn id="128" dur="166" decel="50000">
                                          <p:stCondLst>
                                            <p:cond delay="1834"/>
                                          </p:stCondLst>
                                        </p:cTn>
                                        <p:tgtEl>
                                          <p:spTgt spid="3">
                                            <p:txEl>
                                              <p:pRg st="7" end="7"/>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78264" y="0"/>
            <a:ext cx="10364451" cy="1596177"/>
          </a:xfrm>
        </p:spPr>
        <p:txBody>
          <a:bodyPr/>
          <a:lstStyle/>
          <a:p>
            <a:pPr algn="ctr"/>
            <a:r>
              <a:rPr lang="fr-FR" cap="all" dirty="0"/>
              <a:t>L’ARCHITECTURE D’ANGULAR</a:t>
            </a:r>
            <a:br>
              <a:rPr lang="fr-FR" cap="all" dirty="0"/>
            </a:br>
            <a:endParaRPr lang="fr-FR" dirty="0"/>
          </a:p>
        </p:txBody>
      </p:sp>
      <p:pic>
        <p:nvPicPr>
          <p:cNvPr id="4" name="Image 3"/>
          <p:cNvPicPr>
            <a:picLocks noChangeAspect="1"/>
          </p:cNvPicPr>
          <p:nvPr/>
        </p:nvPicPr>
        <p:blipFill>
          <a:blip r:embed="rId2"/>
          <a:stretch>
            <a:fillRect/>
          </a:stretch>
        </p:blipFill>
        <p:spPr>
          <a:xfrm>
            <a:off x="1660125" y="1151472"/>
            <a:ext cx="9099612" cy="476105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545948413"/>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975" y="232383"/>
            <a:ext cx="10058400" cy="634720"/>
          </a:xfrm>
        </p:spPr>
        <p:txBody>
          <a:bodyPr>
            <a:noAutofit/>
          </a:bodyPr>
          <a:lstStyle/>
          <a:p>
            <a:pPr algn="ctr"/>
            <a:r>
              <a:rPr lang="fr-FR" sz="2800" dirty="0"/>
              <a:t>Mise en place de l'environnement de développement</a:t>
            </a:r>
            <a:br>
              <a:rPr lang="fr-FR" sz="2800" dirty="0"/>
            </a:br>
            <a:endParaRPr lang="fr-FR" sz="2800" dirty="0"/>
          </a:p>
        </p:txBody>
      </p:sp>
      <p:pic>
        <p:nvPicPr>
          <p:cNvPr id="4" name="Espace réservé du contenu 3"/>
          <p:cNvPicPr>
            <a:picLocks noGrp="1" noChangeAspect="1"/>
          </p:cNvPicPr>
          <p:nvPr>
            <p:ph idx="1"/>
          </p:nvPr>
        </p:nvPicPr>
        <p:blipFill>
          <a:blip r:embed="rId2"/>
          <a:stretch>
            <a:fillRect/>
          </a:stretch>
        </p:blipFill>
        <p:spPr>
          <a:xfrm>
            <a:off x="882869" y="1308537"/>
            <a:ext cx="10074165" cy="480968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635380902"/>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Angular</a:t>
            </a:r>
            <a:endParaRPr lang="fr-FR" dirty="0"/>
          </a:p>
        </p:txBody>
      </p:sp>
      <p:sp>
        <p:nvSpPr>
          <p:cNvPr id="3" name="Espace réservé du contenu 2"/>
          <p:cNvSpPr>
            <a:spLocks noGrp="1"/>
          </p:cNvSpPr>
          <p:nvPr>
            <p:ph idx="1"/>
          </p:nvPr>
        </p:nvSpPr>
        <p:spPr/>
        <p:txBody>
          <a:bodyPr>
            <a:noAutofit/>
          </a:bodyPr>
          <a:lstStyle/>
          <a:p>
            <a:pPr>
              <a:lnSpc>
                <a:spcPct val="200000"/>
              </a:lnSpc>
            </a:pPr>
            <a:r>
              <a:rPr lang="fr-FR" sz="2400" b="1" dirty="0" smtClean="0"/>
              <a:t>Prérequis:</a:t>
            </a:r>
          </a:p>
          <a:p>
            <a:pPr lvl="1">
              <a:lnSpc>
                <a:spcPct val="200000"/>
              </a:lnSpc>
            </a:pPr>
            <a:r>
              <a:rPr lang="fr-FR" sz="2000" b="1" dirty="0" smtClean="0"/>
              <a:t>HTML</a:t>
            </a:r>
          </a:p>
          <a:p>
            <a:pPr lvl="1">
              <a:lnSpc>
                <a:spcPct val="200000"/>
              </a:lnSpc>
            </a:pPr>
            <a:r>
              <a:rPr lang="fr-FR" sz="2000" b="1" dirty="0" smtClean="0"/>
              <a:t>CSS</a:t>
            </a:r>
          </a:p>
          <a:p>
            <a:pPr lvl="1">
              <a:lnSpc>
                <a:spcPct val="200000"/>
              </a:lnSpc>
            </a:pPr>
            <a:r>
              <a:rPr lang="fr-FR" sz="2000" b="1" dirty="0" smtClean="0"/>
              <a:t>JAVASCRIPT</a:t>
            </a:r>
          </a:p>
          <a:p>
            <a:pPr lvl="1">
              <a:lnSpc>
                <a:spcPct val="200000"/>
              </a:lnSpc>
            </a:pPr>
            <a:r>
              <a:rPr lang="fr-FR" sz="2000" b="1" dirty="0" err="1" smtClean="0"/>
              <a:t>TypeScript</a:t>
            </a:r>
            <a:r>
              <a:rPr lang="fr-FR" sz="2000" b="1" dirty="0" smtClean="0"/>
              <a:t> Basique</a:t>
            </a:r>
            <a:endParaRPr lang="fr-FR" sz="2000" b="1" dirty="0"/>
          </a:p>
        </p:txBody>
      </p:sp>
    </p:spTree>
    <p:extLst>
      <p:ext uri="{BB962C8B-B14F-4D97-AF65-F5344CB8AC3E}">
        <p14:creationId xmlns:p14="http://schemas.microsoft.com/office/powerpoint/2010/main" val="3202307385"/>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sz="2800" b="1" dirty="0" smtClean="0"/>
              <a:t>Angular –Environnement de développement -</a:t>
            </a:r>
            <a:endParaRPr lang="fr-FR" sz="2800" b="1" dirty="0"/>
          </a:p>
        </p:txBody>
      </p:sp>
      <p:sp>
        <p:nvSpPr>
          <p:cNvPr id="3" name="Espace réservé du contenu 2"/>
          <p:cNvSpPr>
            <a:spLocks noGrp="1"/>
          </p:cNvSpPr>
          <p:nvPr>
            <p:ph idx="1"/>
          </p:nvPr>
        </p:nvSpPr>
        <p:spPr/>
        <p:txBody>
          <a:bodyPr>
            <a:normAutofit/>
          </a:bodyPr>
          <a:lstStyle/>
          <a:p>
            <a:pPr>
              <a:lnSpc>
                <a:spcPct val="200000"/>
              </a:lnSpc>
            </a:pPr>
            <a:r>
              <a:rPr lang="fr-FR" sz="2400" b="1" dirty="0" err="1" smtClean="0"/>
              <a:t>NodeJS</a:t>
            </a:r>
            <a:endParaRPr lang="fr-FR" sz="2400" b="1" dirty="0" smtClean="0"/>
          </a:p>
          <a:p>
            <a:pPr>
              <a:lnSpc>
                <a:spcPct val="200000"/>
              </a:lnSpc>
            </a:pPr>
            <a:r>
              <a:rPr lang="fr-FR" sz="2400" b="1" dirty="0" err="1" smtClean="0"/>
              <a:t>Npm</a:t>
            </a:r>
            <a:r>
              <a:rPr lang="fr-FR" sz="2400" b="1" dirty="0" smtClean="0"/>
              <a:t> </a:t>
            </a:r>
            <a:r>
              <a:rPr lang="fr-FR" b="1" dirty="0"/>
              <a:t> (</a:t>
            </a:r>
            <a:r>
              <a:rPr lang="fr-FR" b="1" dirty="0" err="1"/>
              <a:t>Node</a:t>
            </a:r>
            <a:r>
              <a:rPr lang="fr-FR" b="1" dirty="0"/>
              <a:t> Package Manager)</a:t>
            </a:r>
            <a:endParaRPr lang="fr-FR" sz="2400" b="1" dirty="0" smtClean="0"/>
          </a:p>
          <a:p>
            <a:pPr>
              <a:lnSpc>
                <a:spcPct val="200000"/>
              </a:lnSpc>
            </a:pPr>
            <a:r>
              <a:rPr lang="fr-FR" sz="2400" b="1" dirty="0" smtClean="0"/>
              <a:t>Angular </a:t>
            </a:r>
            <a:r>
              <a:rPr lang="fr-FR" sz="2400" b="1" dirty="0"/>
              <a:t>CLI  (Command Line Interface)</a:t>
            </a:r>
            <a:endParaRPr lang="fr-FR" sz="2400" b="1" dirty="0" smtClean="0"/>
          </a:p>
          <a:p>
            <a:pPr>
              <a:lnSpc>
                <a:spcPct val="200000"/>
              </a:lnSpc>
            </a:pPr>
            <a:r>
              <a:rPr lang="fr-FR" sz="2400" b="1" dirty="0" smtClean="0"/>
              <a:t>Editeurs: Visual Studio Code – Sublime ou autres….</a:t>
            </a:r>
            <a:endParaRPr lang="fr-FR" sz="2400" b="1" dirty="0"/>
          </a:p>
        </p:txBody>
      </p:sp>
    </p:spTree>
    <p:extLst>
      <p:ext uri="{BB962C8B-B14F-4D97-AF65-F5344CB8AC3E}">
        <p14:creationId xmlns:p14="http://schemas.microsoft.com/office/powerpoint/2010/main" val="1640348320"/>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err="1" smtClean="0"/>
              <a:t>NodeJS</a:t>
            </a:r>
            <a:endParaRPr lang="fr-FR" dirty="0"/>
          </a:p>
        </p:txBody>
      </p:sp>
      <p:sp>
        <p:nvSpPr>
          <p:cNvPr id="3" name="Espace réservé du contenu 2"/>
          <p:cNvSpPr>
            <a:spLocks noGrp="1"/>
          </p:cNvSpPr>
          <p:nvPr>
            <p:ph idx="1"/>
          </p:nvPr>
        </p:nvSpPr>
        <p:spPr/>
        <p:txBody>
          <a:bodyPr/>
          <a:lstStyle/>
          <a:p>
            <a:pPr algn="just">
              <a:lnSpc>
                <a:spcPct val="300000"/>
              </a:lnSpc>
            </a:pPr>
            <a:r>
              <a:rPr lang="fr-FR" dirty="0"/>
              <a:t>Concrètement, </a:t>
            </a:r>
            <a:r>
              <a:rPr lang="fr-FR" b="1" dirty="0"/>
              <a:t>Node.js</a:t>
            </a:r>
            <a:r>
              <a:rPr lang="fr-FR" dirty="0"/>
              <a:t> est un environnement bas niveau permettant l’exécution de </a:t>
            </a:r>
            <a:r>
              <a:rPr lang="fr-FR" b="1" dirty="0"/>
              <a:t>JavaScript</a:t>
            </a:r>
            <a:r>
              <a:rPr lang="fr-FR" dirty="0"/>
              <a:t> côté </a:t>
            </a:r>
            <a:r>
              <a:rPr lang="fr-FR" b="1" dirty="0"/>
              <a:t>serveur</a:t>
            </a:r>
            <a:r>
              <a:rPr lang="fr-FR" dirty="0"/>
              <a:t>.</a:t>
            </a:r>
          </a:p>
        </p:txBody>
      </p:sp>
    </p:spTree>
    <p:extLst>
      <p:ext uri="{BB962C8B-B14F-4D97-AF65-F5344CB8AC3E}">
        <p14:creationId xmlns:p14="http://schemas.microsoft.com/office/powerpoint/2010/main" val="3236880842"/>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96019" y="68102"/>
            <a:ext cx="10364451" cy="1596177"/>
          </a:xfrm>
        </p:spPr>
        <p:txBody>
          <a:bodyPr/>
          <a:lstStyle/>
          <a:p>
            <a:pPr algn="ctr"/>
            <a:r>
              <a:rPr lang="fr-FR" dirty="0" smtClean="0"/>
              <a:t>NPM</a:t>
            </a:r>
            <a:endParaRPr lang="fr-FR" dirty="0"/>
          </a:p>
        </p:txBody>
      </p:sp>
      <p:sp>
        <p:nvSpPr>
          <p:cNvPr id="3" name="Espace réservé du contenu 2"/>
          <p:cNvSpPr>
            <a:spLocks noGrp="1"/>
          </p:cNvSpPr>
          <p:nvPr>
            <p:ph idx="1"/>
          </p:nvPr>
        </p:nvSpPr>
        <p:spPr>
          <a:xfrm>
            <a:off x="896020" y="1431401"/>
            <a:ext cx="10061014" cy="4203700"/>
          </a:xfrm>
        </p:spPr>
        <p:txBody>
          <a:bodyPr>
            <a:noAutofit/>
          </a:bodyPr>
          <a:lstStyle/>
          <a:p>
            <a:pPr algn="just">
              <a:lnSpc>
                <a:spcPct val="200000"/>
              </a:lnSpc>
            </a:pPr>
            <a:r>
              <a:rPr lang="fr-FR" sz="2400" b="1" dirty="0" err="1"/>
              <a:t>npm</a:t>
            </a:r>
            <a:r>
              <a:rPr lang="fr-FR" sz="2400" dirty="0"/>
              <a:t> est le gestionnaire de paquets officiel de </a:t>
            </a:r>
            <a:r>
              <a:rPr lang="fr-FR" sz="2400" b="1" dirty="0"/>
              <a:t>Node.js</a:t>
            </a:r>
            <a:r>
              <a:rPr lang="fr-FR" sz="2400" dirty="0"/>
              <a:t>. Depuis la version 0.6.3 de Node.js, </a:t>
            </a:r>
            <a:r>
              <a:rPr lang="fr-FR" sz="2400" b="1" dirty="0" err="1"/>
              <a:t>npm</a:t>
            </a:r>
            <a:r>
              <a:rPr lang="fr-FR" sz="2400" dirty="0"/>
              <a:t> fait partie de l'environnement et est donc automatiquement installé par </a:t>
            </a:r>
            <a:r>
              <a:rPr lang="fr-FR" sz="2400" dirty="0" smtClean="0"/>
              <a:t>défaut. </a:t>
            </a:r>
          </a:p>
          <a:p>
            <a:pPr algn="just">
              <a:lnSpc>
                <a:spcPct val="200000"/>
              </a:lnSpc>
            </a:pPr>
            <a:r>
              <a:rPr lang="fr-FR" sz="2400" b="1" dirty="0" err="1" smtClean="0"/>
              <a:t>npm</a:t>
            </a:r>
            <a:r>
              <a:rPr lang="fr-FR" sz="2400" dirty="0" smtClean="0"/>
              <a:t> </a:t>
            </a:r>
            <a:r>
              <a:rPr lang="fr-FR" sz="2400" dirty="0"/>
              <a:t>fonctionne avec un terminal et gère les dépendances pour une application. Il permet également d'installer des applications Node.js disponibles sur le dépôt </a:t>
            </a:r>
            <a:r>
              <a:rPr lang="fr-FR" sz="2400" b="1" dirty="0" err="1"/>
              <a:t>npm</a:t>
            </a:r>
            <a:r>
              <a:rPr lang="fr-FR" sz="2400" dirty="0"/>
              <a:t>.</a:t>
            </a:r>
          </a:p>
        </p:txBody>
      </p:sp>
    </p:spTree>
    <p:extLst>
      <p:ext uri="{BB962C8B-B14F-4D97-AF65-F5344CB8AC3E}">
        <p14:creationId xmlns:p14="http://schemas.microsoft.com/office/powerpoint/2010/main" val="3264676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b="1" dirty="0"/>
              <a:t>Angular CLI</a:t>
            </a:r>
            <a:br>
              <a:rPr lang="fr-FR" b="1" dirty="0"/>
            </a:br>
            <a:endParaRPr lang="fr-FR" dirty="0"/>
          </a:p>
        </p:txBody>
      </p:sp>
      <p:sp>
        <p:nvSpPr>
          <p:cNvPr id="3" name="Espace réservé du contenu 2"/>
          <p:cNvSpPr>
            <a:spLocks noGrp="1"/>
          </p:cNvSpPr>
          <p:nvPr>
            <p:ph idx="1"/>
          </p:nvPr>
        </p:nvSpPr>
        <p:spPr>
          <a:xfrm>
            <a:off x="995172" y="1289304"/>
            <a:ext cx="10207752" cy="3962686"/>
          </a:xfrm>
        </p:spPr>
        <p:txBody>
          <a:bodyPr>
            <a:noAutofit/>
          </a:bodyPr>
          <a:lstStyle/>
          <a:p>
            <a:pPr algn="just">
              <a:lnSpc>
                <a:spcPct val="270000"/>
              </a:lnSpc>
            </a:pPr>
            <a:r>
              <a:rPr lang="fr-FR" sz="2400" b="1" dirty="0"/>
              <a:t>Angular CLI </a:t>
            </a:r>
            <a:r>
              <a:rPr lang="fr-FR" sz="2400" dirty="0"/>
              <a:t>est un utilitaire de ligne de commande pouvant générer un projet </a:t>
            </a:r>
            <a:r>
              <a:rPr lang="fr-FR" sz="2400" b="1" dirty="0"/>
              <a:t>Angular</a:t>
            </a:r>
            <a:r>
              <a:rPr lang="fr-FR" sz="2400" dirty="0"/>
              <a:t> pour vous. Non seulement il peut créer de nouveaux projets, mais il peut aussi générer du code. C'est un outil pratique car il propose également des commandes qui construiront et optimiseront votre projet pour la production. </a:t>
            </a:r>
            <a:endParaRPr lang="fr-FR" sz="2400" dirty="0" smtClean="0"/>
          </a:p>
          <a:p>
            <a:pPr marL="0" indent="0">
              <a:lnSpc>
                <a:spcPct val="210000"/>
              </a:lnSpc>
              <a:buNone/>
            </a:pPr>
            <a:r>
              <a:rPr lang="fr-FR" sz="2400" dirty="0"/>
              <a:t/>
            </a:r>
            <a:br>
              <a:rPr lang="fr-FR" sz="2400" dirty="0"/>
            </a:br>
            <a:endParaRPr lang="fr-FR" sz="2400" dirty="0"/>
          </a:p>
        </p:txBody>
      </p:sp>
    </p:spTree>
    <p:extLst>
      <p:ext uri="{BB962C8B-B14F-4D97-AF65-F5344CB8AC3E}">
        <p14:creationId xmlns:p14="http://schemas.microsoft.com/office/powerpoint/2010/main" val="3051386778"/>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b="1" dirty="0" smtClean="0"/>
              <a:t>Liens</a:t>
            </a:r>
            <a:endParaRPr lang="fr-FR" b="1" dirty="0"/>
          </a:p>
        </p:txBody>
      </p:sp>
      <p:sp>
        <p:nvSpPr>
          <p:cNvPr id="3" name="Espace réservé du contenu 2"/>
          <p:cNvSpPr>
            <a:spLocks noGrp="1"/>
          </p:cNvSpPr>
          <p:nvPr>
            <p:ph idx="1"/>
          </p:nvPr>
        </p:nvSpPr>
        <p:spPr>
          <a:xfrm>
            <a:off x="914400" y="1630246"/>
            <a:ext cx="10363826" cy="3424107"/>
          </a:xfrm>
        </p:spPr>
        <p:txBody>
          <a:bodyPr>
            <a:normAutofit fontScale="92500"/>
          </a:bodyPr>
          <a:lstStyle/>
          <a:p>
            <a:pPr algn="ctr">
              <a:lnSpc>
                <a:spcPct val="300000"/>
              </a:lnSpc>
            </a:pPr>
            <a:r>
              <a:rPr lang="fr-FR" sz="3600" b="1" dirty="0">
                <a:hlinkClick r:id="rId2"/>
              </a:rPr>
              <a:t>https://nodejs.org/en/</a:t>
            </a:r>
            <a:endParaRPr lang="fr-FR" sz="3600" b="1" dirty="0" smtClean="0"/>
          </a:p>
          <a:p>
            <a:pPr algn="ctr">
              <a:lnSpc>
                <a:spcPct val="300000"/>
              </a:lnSpc>
            </a:pPr>
            <a:r>
              <a:rPr lang="fr-FR" sz="3600" b="1" dirty="0">
                <a:hlinkClick r:id="rId3"/>
              </a:rPr>
              <a:t>https://cli.angular.io/</a:t>
            </a:r>
            <a:endParaRPr lang="fr-FR" sz="3600" b="1" dirty="0" smtClean="0"/>
          </a:p>
          <a:p>
            <a:pPr algn="ctr">
              <a:lnSpc>
                <a:spcPct val="300000"/>
              </a:lnSpc>
            </a:pPr>
            <a:endParaRPr lang="fr-FR" sz="3600" b="1" dirty="0"/>
          </a:p>
        </p:txBody>
      </p:sp>
    </p:spTree>
    <p:extLst>
      <p:ext uri="{BB962C8B-B14F-4D97-AF65-F5344CB8AC3E}">
        <p14:creationId xmlns:p14="http://schemas.microsoft.com/office/powerpoint/2010/main" val="1906353972"/>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484632"/>
            <a:ext cx="10058400" cy="776609"/>
          </a:xfrm>
        </p:spPr>
        <p:txBody>
          <a:bodyPr/>
          <a:lstStyle/>
          <a:p>
            <a:pPr algn="ctr"/>
            <a:r>
              <a:rPr lang="fr-FR" b="1" dirty="0" smtClean="0"/>
              <a:t>Atelier</a:t>
            </a:r>
            <a:endParaRPr lang="fr-FR" dirty="0"/>
          </a:p>
        </p:txBody>
      </p:sp>
      <p:sp>
        <p:nvSpPr>
          <p:cNvPr id="3" name="Espace réservé du contenu 2"/>
          <p:cNvSpPr>
            <a:spLocks noGrp="1"/>
          </p:cNvSpPr>
          <p:nvPr>
            <p:ph idx="1"/>
          </p:nvPr>
        </p:nvSpPr>
        <p:spPr>
          <a:xfrm>
            <a:off x="189187" y="1421027"/>
            <a:ext cx="11710370" cy="5301049"/>
          </a:xfrm>
        </p:spPr>
        <p:txBody>
          <a:bodyPr>
            <a:normAutofit fontScale="92500" lnSpcReduction="10000"/>
          </a:bodyPr>
          <a:lstStyle/>
          <a:p>
            <a:pPr>
              <a:lnSpc>
                <a:spcPct val="170000"/>
              </a:lnSpc>
            </a:pPr>
            <a:r>
              <a:rPr lang="fr-FR" sz="2400" dirty="0" smtClean="0"/>
              <a:t>Installer </a:t>
            </a:r>
            <a:r>
              <a:rPr lang="fr-FR" sz="2400" b="1" dirty="0" smtClean="0"/>
              <a:t>CLI </a:t>
            </a:r>
            <a:r>
              <a:rPr lang="fr-FR" sz="2400" b="1" dirty="0" err="1" smtClean="0"/>
              <a:t>Angular</a:t>
            </a:r>
            <a:r>
              <a:rPr lang="fr-FR" sz="2400" b="1" dirty="0"/>
              <a:t> </a:t>
            </a:r>
            <a:r>
              <a:rPr lang="fr-FR" sz="2400" b="1" dirty="0" smtClean="0"/>
              <a:t>: </a:t>
            </a:r>
            <a:r>
              <a:rPr lang="fr-FR" sz="2400" b="1" dirty="0" err="1" smtClean="0">
                <a:solidFill>
                  <a:srgbClr val="FF0000"/>
                </a:solidFill>
              </a:rPr>
              <a:t>npm</a:t>
            </a:r>
            <a:r>
              <a:rPr lang="fr-FR" sz="2400" b="1" dirty="0" smtClean="0">
                <a:solidFill>
                  <a:srgbClr val="FF0000"/>
                </a:solidFill>
              </a:rPr>
              <a:t> </a:t>
            </a:r>
            <a:r>
              <a:rPr lang="fr-FR" sz="2400" b="1" dirty="0" err="1">
                <a:solidFill>
                  <a:srgbClr val="FF0000"/>
                </a:solidFill>
              </a:rPr>
              <a:t>install</a:t>
            </a:r>
            <a:r>
              <a:rPr lang="fr-FR" sz="2400" b="1" dirty="0">
                <a:solidFill>
                  <a:srgbClr val="FF0000"/>
                </a:solidFill>
              </a:rPr>
              <a:t> -g @</a:t>
            </a:r>
            <a:r>
              <a:rPr lang="fr-FR" sz="2400" b="1" dirty="0" err="1" smtClean="0">
                <a:solidFill>
                  <a:srgbClr val="FF0000"/>
                </a:solidFill>
              </a:rPr>
              <a:t>angular</a:t>
            </a:r>
            <a:r>
              <a:rPr lang="fr-FR" sz="2400" b="1" dirty="0" smtClean="0">
                <a:solidFill>
                  <a:srgbClr val="FF0000"/>
                </a:solidFill>
              </a:rPr>
              <a:t>/cli</a:t>
            </a:r>
          </a:p>
          <a:p>
            <a:pPr>
              <a:lnSpc>
                <a:spcPct val="170000"/>
              </a:lnSpc>
            </a:pPr>
            <a:r>
              <a:rPr lang="fr-FR" sz="2400" b="1" dirty="0" smtClean="0"/>
              <a:t>Afficher version : </a:t>
            </a:r>
            <a:r>
              <a:rPr lang="fr-FR" sz="2400" b="1" dirty="0" err="1" smtClean="0">
                <a:solidFill>
                  <a:srgbClr val="FF0000"/>
                </a:solidFill>
              </a:rPr>
              <a:t>ng</a:t>
            </a:r>
            <a:r>
              <a:rPr lang="fr-FR" sz="2400" b="1" dirty="0" smtClean="0">
                <a:solidFill>
                  <a:srgbClr val="FF0000"/>
                </a:solidFill>
              </a:rPr>
              <a:t> v</a:t>
            </a:r>
          </a:p>
          <a:p>
            <a:pPr>
              <a:lnSpc>
                <a:spcPct val="170000"/>
              </a:lnSpc>
            </a:pPr>
            <a:r>
              <a:rPr lang="fr-FR" sz="2400" dirty="0" smtClean="0"/>
              <a:t>Créer un nouveau projet </a:t>
            </a:r>
            <a:r>
              <a:rPr lang="fr-FR" sz="2400" b="1" dirty="0" smtClean="0"/>
              <a:t>atelier1</a:t>
            </a:r>
          </a:p>
          <a:p>
            <a:pPr lvl="1">
              <a:lnSpc>
                <a:spcPct val="170000"/>
              </a:lnSpc>
            </a:pPr>
            <a:r>
              <a:rPr lang="fr-FR" sz="2200" b="1" dirty="0" err="1" smtClean="0">
                <a:solidFill>
                  <a:srgbClr val="FF0000"/>
                </a:solidFill>
              </a:rPr>
              <a:t>Ng</a:t>
            </a:r>
            <a:r>
              <a:rPr lang="fr-FR" sz="2200" b="1" dirty="0" smtClean="0">
                <a:solidFill>
                  <a:srgbClr val="FF0000"/>
                </a:solidFill>
              </a:rPr>
              <a:t> new front-</a:t>
            </a:r>
            <a:r>
              <a:rPr lang="fr-FR" sz="2200" b="1" dirty="0" err="1" smtClean="0">
                <a:solidFill>
                  <a:srgbClr val="FF0000"/>
                </a:solidFill>
              </a:rPr>
              <a:t>project</a:t>
            </a:r>
            <a:endParaRPr lang="fr-FR" sz="2200" b="1" dirty="0" smtClean="0">
              <a:solidFill>
                <a:srgbClr val="FF0000"/>
              </a:solidFill>
            </a:endParaRPr>
          </a:p>
          <a:p>
            <a:pPr>
              <a:lnSpc>
                <a:spcPct val="170000"/>
              </a:lnSpc>
            </a:pPr>
            <a:r>
              <a:rPr lang="fr-FR" sz="2400" dirty="0" smtClean="0"/>
              <a:t>Ouvrir le projet sous </a:t>
            </a:r>
            <a:r>
              <a:rPr lang="fr-FR" sz="2400" b="1" dirty="0" err="1" smtClean="0"/>
              <a:t>visual</a:t>
            </a:r>
            <a:r>
              <a:rPr lang="fr-FR" sz="2400" b="1" dirty="0" smtClean="0"/>
              <a:t> studio</a:t>
            </a:r>
          </a:p>
          <a:p>
            <a:pPr>
              <a:lnSpc>
                <a:spcPct val="170000"/>
              </a:lnSpc>
            </a:pPr>
            <a:r>
              <a:rPr lang="fr-FR" sz="2400" dirty="0" smtClean="0"/>
              <a:t>Exécuter le serveur.</a:t>
            </a:r>
          </a:p>
          <a:p>
            <a:pPr lvl="1">
              <a:lnSpc>
                <a:spcPct val="170000"/>
              </a:lnSpc>
            </a:pPr>
            <a:r>
              <a:rPr lang="fr-FR" sz="2200" b="1" dirty="0" err="1" smtClean="0">
                <a:solidFill>
                  <a:srgbClr val="FF0000"/>
                </a:solidFill>
              </a:rPr>
              <a:t>Ng</a:t>
            </a:r>
            <a:r>
              <a:rPr lang="fr-FR" sz="2200" b="1" dirty="0" smtClean="0">
                <a:solidFill>
                  <a:srgbClr val="FF0000"/>
                </a:solidFill>
              </a:rPr>
              <a:t> serve</a:t>
            </a:r>
          </a:p>
          <a:p>
            <a:pPr>
              <a:lnSpc>
                <a:spcPct val="170000"/>
              </a:lnSpc>
            </a:pPr>
            <a:r>
              <a:rPr lang="fr-FR" sz="2400" dirty="0" smtClean="0"/>
              <a:t>Afficher la page index.</a:t>
            </a:r>
            <a:endParaRPr lang="fr-FR" sz="2400" dirty="0"/>
          </a:p>
        </p:txBody>
      </p:sp>
    </p:spTree>
    <p:extLst>
      <p:ext uri="{BB962C8B-B14F-4D97-AF65-F5344CB8AC3E}">
        <p14:creationId xmlns:p14="http://schemas.microsoft.com/office/powerpoint/2010/main" val="790073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par>
                                <p:cTn id="18" presetID="22" presetClass="entr" presetSubtype="4" fill="hold" grpId="0"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wipe(down)">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wipe(down)">
                                      <p:cBhvr>
                                        <p:cTn id="25" dur="500"/>
                                        <p:tgtEl>
                                          <p:spTgt spid="3">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grpId="0"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wipe(down)">
                                      <p:cBhvr>
                                        <p:cTn id="30" dur="500"/>
                                        <p:tgtEl>
                                          <p:spTgt spid="3">
                                            <p:txEl>
                                              <p:pRg st="5" end="5"/>
                                            </p:txEl>
                                          </p:spTgt>
                                        </p:tgtEl>
                                      </p:cBhvr>
                                    </p:animEffect>
                                  </p:childTnLst>
                                </p:cTn>
                              </p:par>
                              <p:par>
                                <p:cTn id="31" presetID="22" presetClass="entr" presetSubtype="4" fill="hold" grpId="0"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Effect transition="in" filter="wipe(down)">
                                      <p:cBhvr>
                                        <p:cTn id="33" dur="500"/>
                                        <p:tgtEl>
                                          <p:spTgt spid="3">
                                            <p:txEl>
                                              <p:pRg st="6" end="6"/>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grpId="0" nodeType="clickEffect">
                                  <p:stCondLst>
                                    <p:cond delay="0"/>
                                  </p:stCondLst>
                                  <p:childTnLst>
                                    <p:set>
                                      <p:cBhvr>
                                        <p:cTn id="37" dur="1" fill="hold">
                                          <p:stCondLst>
                                            <p:cond delay="0"/>
                                          </p:stCondLst>
                                        </p:cTn>
                                        <p:tgtEl>
                                          <p:spTgt spid="3">
                                            <p:txEl>
                                              <p:pRg st="7" end="7"/>
                                            </p:txEl>
                                          </p:spTgt>
                                        </p:tgtEl>
                                        <p:attrNameLst>
                                          <p:attrName>style.visibility</p:attrName>
                                        </p:attrNameLst>
                                      </p:cBhvr>
                                      <p:to>
                                        <p:strVal val="visible"/>
                                      </p:to>
                                    </p:set>
                                    <p:animEffect transition="in" filter="wipe(down)">
                                      <p:cBhvr>
                                        <p:cTn id="38"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Choix du processus style</a:t>
            </a:r>
            <a:endParaRPr lang="fr-FR" dirty="0"/>
          </a:p>
        </p:txBody>
      </p:sp>
      <p:pic>
        <p:nvPicPr>
          <p:cNvPr id="5" name="Espace réservé du contenu 4"/>
          <p:cNvPicPr>
            <a:picLocks noGrp="1" noChangeAspect="1"/>
          </p:cNvPicPr>
          <p:nvPr>
            <p:ph idx="1"/>
          </p:nvPr>
        </p:nvPicPr>
        <p:blipFill>
          <a:blip r:embed="rId2"/>
          <a:stretch>
            <a:fillRect/>
          </a:stretch>
        </p:blipFill>
        <p:spPr>
          <a:xfrm>
            <a:off x="1407985" y="2280863"/>
            <a:ext cx="9382125" cy="293840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22801706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Critères de choix</a:t>
            </a:r>
            <a:endParaRPr lang="fr-FR" dirty="0"/>
          </a:p>
        </p:txBody>
      </p:sp>
      <p:pic>
        <p:nvPicPr>
          <p:cNvPr id="4" name="Espace réservé du contenu 3"/>
          <p:cNvPicPr>
            <a:picLocks noGrp="1" noChangeAspect="1"/>
          </p:cNvPicPr>
          <p:nvPr>
            <p:ph idx="1"/>
          </p:nvPr>
        </p:nvPicPr>
        <p:blipFill>
          <a:blip r:embed="rId2"/>
          <a:stretch>
            <a:fillRect/>
          </a:stretch>
        </p:blipFill>
        <p:spPr>
          <a:xfrm>
            <a:off x="1551397" y="2291137"/>
            <a:ext cx="9246741" cy="343156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914478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p:txBody>
          <a:bodyPr/>
          <a:lstStyle/>
          <a:p>
            <a:pPr algn="ctr"/>
            <a:r>
              <a:rPr lang="fr-FR" dirty="0" smtClean="0"/>
              <a:t>Exemple </a:t>
            </a:r>
            <a:endParaRPr lang="fr-FR" dirty="0"/>
          </a:p>
        </p:txBody>
      </p:sp>
      <p:sp>
        <p:nvSpPr>
          <p:cNvPr id="5" name="Espace réservé du texte 4"/>
          <p:cNvSpPr>
            <a:spLocks noGrp="1"/>
          </p:cNvSpPr>
          <p:nvPr>
            <p:ph type="body" idx="1"/>
          </p:nvPr>
        </p:nvSpPr>
        <p:spPr/>
        <p:txBody>
          <a:bodyPr/>
          <a:lstStyle/>
          <a:p>
            <a:pPr algn="ctr"/>
            <a:r>
              <a:rPr lang="fr-FR" dirty="0" err="1" smtClean="0"/>
              <a:t>css</a:t>
            </a:r>
            <a:endParaRPr lang="fr-FR" dirty="0"/>
          </a:p>
        </p:txBody>
      </p:sp>
      <p:sp>
        <p:nvSpPr>
          <p:cNvPr id="7" name="Espace réservé du texte 6"/>
          <p:cNvSpPr>
            <a:spLocks noGrp="1"/>
          </p:cNvSpPr>
          <p:nvPr>
            <p:ph type="body" sz="quarter" idx="3"/>
          </p:nvPr>
        </p:nvSpPr>
        <p:spPr/>
        <p:txBody>
          <a:bodyPr/>
          <a:lstStyle/>
          <a:p>
            <a:pPr algn="ctr"/>
            <a:r>
              <a:rPr lang="fr-FR" dirty="0" err="1" smtClean="0"/>
              <a:t>scss</a:t>
            </a:r>
            <a:endParaRPr lang="fr-FR" dirty="0"/>
          </a:p>
        </p:txBody>
      </p:sp>
      <p:pic>
        <p:nvPicPr>
          <p:cNvPr id="12" name="Espace réservé du contenu 11"/>
          <p:cNvPicPr>
            <a:picLocks noGrp="1" noChangeAspect="1"/>
          </p:cNvPicPr>
          <p:nvPr>
            <p:ph sz="quarter" idx="4"/>
          </p:nvPr>
        </p:nvPicPr>
        <p:blipFill>
          <a:blip r:embed="rId2"/>
          <a:stretch>
            <a:fillRect/>
          </a:stretch>
        </p:blipFill>
        <p:spPr>
          <a:xfrm>
            <a:off x="6364224" y="2958957"/>
            <a:ext cx="4085583" cy="276374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1" name="Espace réservé du contenu 10"/>
          <p:cNvPicPr>
            <a:picLocks noGrp="1" noChangeAspect="1"/>
          </p:cNvPicPr>
          <p:nvPr>
            <p:ph sz="half" idx="2"/>
          </p:nvPr>
        </p:nvPicPr>
        <p:blipFill>
          <a:blip r:embed="rId3"/>
          <a:stretch>
            <a:fillRect/>
          </a:stretch>
        </p:blipFill>
        <p:spPr>
          <a:xfrm>
            <a:off x="1199241" y="2958956"/>
            <a:ext cx="4496031" cy="276374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822960962"/>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p:cNvSpPr>
            <a:spLocks noGrp="1"/>
          </p:cNvSpPr>
          <p:nvPr>
            <p:ph type="title"/>
          </p:nvPr>
        </p:nvSpPr>
        <p:spPr/>
        <p:txBody>
          <a:bodyPr/>
          <a:lstStyle/>
          <a:p>
            <a:pPr algn="ctr"/>
            <a:r>
              <a:rPr lang="fr-FR" dirty="0"/>
              <a:t>Pourquoi SCSS est puissant ?</a:t>
            </a:r>
          </a:p>
        </p:txBody>
      </p:sp>
      <p:sp>
        <p:nvSpPr>
          <p:cNvPr id="8" name="Espace réservé du contenu 7"/>
          <p:cNvSpPr>
            <a:spLocks noGrp="1"/>
          </p:cNvSpPr>
          <p:nvPr>
            <p:ph idx="1"/>
          </p:nvPr>
        </p:nvSpPr>
        <p:spPr>
          <a:xfrm>
            <a:off x="1069848" y="4993240"/>
            <a:ext cx="10058400" cy="1178960"/>
          </a:xfrm>
        </p:spPr>
        <p:txBody>
          <a:bodyPr/>
          <a:lstStyle/>
          <a:p>
            <a:r>
              <a:rPr lang="fr-FR" dirty="0"/>
              <a:t>C’est </a:t>
            </a:r>
            <a:r>
              <a:rPr lang="fr-FR" b="1" dirty="0"/>
              <a:t>plus propre</a:t>
            </a:r>
            <a:r>
              <a:rPr lang="fr-FR" dirty="0"/>
              <a:t>, </a:t>
            </a:r>
            <a:r>
              <a:rPr lang="fr-FR" b="1" dirty="0"/>
              <a:t>plus rapide</a:t>
            </a:r>
            <a:r>
              <a:rPr lang="fr-FR" dirty="0"/>
              <a:t>, et </a:t>
            </a:r>
            <a:r>
              <a:rPr lang="fr-FR" b="1" dirty="0"/>
              <a:t>plus maintenable</a:t>
            </a:r>
            <a:r>
              <a:rPr lang="fr-FR" dirty="0"/>
              <a:t>.</a:t>
            </a:r>
          </a:p>
        </p:txBody>
      </p:sp>
      <p:pic>
        <p:nvPicPr>
          <p:cNvPr id="9" name="Image 8"/>
          <p:cNvPicPr>
            <a:picLocks noChangeAspect="1"/>
          </p:cNvPicPr>
          <p:nvPr/>
        </p:nvPicPr>
        <p:blipFill>
          <a:blip r:embed="rId2"/>
          <a:stretch>
            <a:fillRect/>
          </a:stretch>
        </p:blipFill>
        <p:spPr>
          <a:xfrm>
            <a:off x="1069849" y="2093976"/>
            <a:ext cx="10058400" cy="247802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0423966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down)">
                                      <p:cBhvr>
                                        <p:cTn id="7" dur="580">
                                          <p:stCondLst>
                                            <p:cond delay="0"/>
                                          </p:stCondLst>
                                        </p:cTn>
                                        <p:tgtEl>
                                          <p:spTgt spid="9"/>
                                        </p:tgtEl>
                                      </p:cBhvr>
                                    </p:animEffect>
                                    <p:anim calcmode="lin" valueType="num">
                                      <p:cBhvr>
                                        <p:cTn id="8" dur="1822" tmFilter="0,0; 0.14,0.36; 0.43,0.73; 0.71,0.91; 1.0,1.0">
                                          <p:stCondLst>
                                            <p:cond delay="0"/>
                                          </p:stCondLst>
                                        </p:cTn>
                                        <p:tgtEl>
                                          <p:spTgt spid="9"/>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9"/>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9"/>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9"/>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9"/>
                                        </p:tgtEl>
                                        <p:attrNameLst>
                                          <p:attrName>ppt_y</p:attrName>
                                        </p:attrNameLst>
                                      </p:cBhvr>
                                      <p:tavLst>
                                        <p:tav tm="0" fmla="#ppt_y-sin(pi*$)/81">
                                          <p:val>
                                            <p:fltVal val="0"/>
                                          </p:val>
                                        </p:tav>
                                        <p:tav tm="100000">
                                          <p:val>
                                            <p:fltVal val="1"/>
                                          </p:val>
                                        </p:tav>
                                      </p:tavLst>
                                    </p:anim>
                                    <p:animScale>
                                      <p:cBhvr>
                                        <p:cTn id="13" dur="26">
                                          <p:stCondLst>
                                            <p:cond delay="650"/>
                                          </p:stCondLst>
                                        </p:cTn>
                                        <p:tgtEl>
                                          <p:spTgt spid="9"/>
                                        </p:tgtEl>
                                      </p:cBhvr>
                                      <p:to x="100000" y="60000"/>
                                    </p:animScale>
                                    <p:animScale>
                                      <p:cBhvr>
                                        <p:cTn id="14" dur="166" decel="50000">
                                          <p:stCondLst>
                                            <p:cond delay="676"/>
                                          </p:stCondLst>
                                        </p:cTn>
                                        <p:tgtEl>
                                          <p:spTgt spid="9"/>
                                        </p:tgtEl>
                                      </p:cBhvr>
                                      <p:to x="100000" y="100000"/>
                                    </p:animScale>
                                    <p:animScale>
                                      <p:cBhvr>
                                        <p:cTn id="15" dur="26">
                                          <p:stCondLst>
                                            <p:cond delay="1312"/>
                                          </p:stCondLst>
                                        </p:cTn>
                                        <p:tgtEl>
                                          <p:spTgt spid="9"/>
                                        </p:tgtEl>
                                      </p:cBhvr>
                                      <p:to x="100000" y="80000"/>
                                    </p:animScale>
                                    <p:animScale>
                                      <p:cBhvr>
                                        <p:cTn id="16" dur="166" decel="50000">
                                          <p:stCondLst>
                                            <p:cond delay="1338"/>
                                          </p:stCondLst>
                                        </p:cTn>
                                        <p:tgtEl>
                                          <p:spTgt spid="9"/>
                                        </p:tgtEl>
                                      </p:cBhvr>
                                      <p:to x="100000" y="100000"/>
                                    </p:animScale>
                                    <p:animScale>
                                      <p:cBhvr>
                                        <p:cTn id="17" dur="26">
                                          <p:stCondLst>
                                            <p:cond delay="1642"/>
                                          </p:stCondLst>
                                        </p:cTn>
                                        <p:tgtEl>
                                          <p:spTgt spid="9"/>
                                        </p:tgtEl>
                                      </p:cBhvr>
                                      <p:to x="100000" y="90000"/>
                                    </p:animScale>
                                    <p:animScale>
                                      <p:cBhvr>
                                        <p:cTn id="18" dur="166" decel="50000">
                                          <p:stCondLst>
                                            <p:cond delay="1668"/>
                                          </p:stCondLst>
                                        </p:cTn>
                                        <p:tgtEl>
                                          <p:spTgt spid="9"/>
                                        </p:tgtEl>
                                      </p:cBhvr>
                                      <p:to x="100000" y="100000"/>
                                    </p:animScale>
                                    <p:animScale>
                                      <p:cBhvr>
                                        <p:cTn id="19" dur="26">
                                          <p:stCondLst>
                                            <p:cond delay="1808"/>
                                          </p:stCondLst>
                                        </p:cTn>
                                        <p:tgtEl>
                                          <p:spTgt spid="9"/>
                                        </p:tgtEl>
                                      </p:cBhvr>
                                      <p:to x="100000" y="95000"/>
                                    </p:animScale>
                                    <p:animScale>
                                      <p:cBhvr>
                                        <p:cTn id="20" dur="166" decel="50000">
                                          <p:stCondLst>
                                            <p:cond delay="1834"/>
                                          </p:stCondLst>
                                        </p:cTn>
                                        <p:tgtEl>
                                          <p:spTgt spid="9"/>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SSR</a:t>
            </a:r>
            <a:endParaRPr lang="fr-FR" dirty="0"/>
          </a:p>
        </p:txBody>
      </p:sp>
      <p:sp>
        <p:nvSpPr>
          <p:cNvPr id="3" name="Espace réservé du contenu 2"/>
          <p:cNvSpPr>
            <a:spLocks noGrp="1"/>
          </p:cNvSpPr>
          <p:nvPr>
            <p:ph idx="1"/>
          </p:nvPr>
        </p:nvSpPr>
        <p:spPr/>
        <p:txBody>
          <a:bodyPr>
            <a:normAutofit/>
          </a:bodyPr>
          <a:lstStyle/>
          <a:p>
            <a:pPr algn="just">
              <a:lnSpc>
                <a:spcPct val="200000"/>
              </a:lnSpc>
            </a:pPr>
            <a:r>
              <a:rPr lang="en-US" sz="3600" dirty="0"/>
              <a:t>Do you want to enable Server-Side Rendering </a:t>
            </a:r>
            <a:r>
              <a:rPr lang="en-US" sz="3600" dirty="0" smtClean="0"/>
              <a:t>(</a:t>
            </a:r>
            <a:r>
              <a:rPr lang="en-US" sz="3600" b="1" dirty="0" smtClean="0"/>
              <a:t>SSR</a:t>
            </a:r>
            <a:r>
              <a:rPr lang="en-US" sz="3600" dirty="0" smtClean="0"/>
              <a:t>) </a:t>
            </a:r>
            <a:r>
              <a:rPr lang="en-US" sz="3600" dirty="0"/>
              <a:t>and Static Site Generation (</a:t>
            </a:r>
            <a:r>
              <a:rPr lang="en-US" sz="3600" b="1" dirty="0"/>
              <a:t>SSG/</a:t>
            </a:r>
            <a:r>
              <a:rPr lang="en-US" sz="3600" b="1" dirty="0" err="1"/>
              <a:t>Prerendering</a:t>
            </a:r>
            <a:r>
              <a:rPr lang="en-US" sz="3600" dirty="0"/>
              <a:t>)?</a:t>
            </a:r>
            <a:endParaRPr lang="fr-FR" sz="3600" dirty="0"/>
          </a:p>
        </p:txBody>
      </p:sp>
    </p:spTree>
    <p:extLst>
      <p:ext uri="{BB962C8B-B14F-4D97-AF65-F5344CB8AC3E}">
        <p14:creationId xmlns:p14="http://schemas.microsoft.com/office/powerpoint/2010/main" val="288974418"/>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484632"/>
            <a:ext cx="10058400" cy="635251"/>
          </a:xfrm>
        </p:spPr>
        <p:txBody>
          <a:bodyPr>
            <a:normAutofit fontScale="90000"/>
          </a:bodyPr>
          <a:lstStyle/>
          <a:p>
            <a:pPr algn="ctr"/>
            <a:r>
              <a:rPr lang="fr-FR" dirty="0"/>
              <a:t>Sans SSR (Mode classique)</a:t>
            </a:r>
          </a:p>
        </p:txBody>
      </p:sp>
      <p:sp>
        <p:nvSpPr>
          <p:cNvPr id="3" name="Espace réservé du contenu 2"/>
          <p:cNvSpPr>
            <a:spLocks noGrp="1"/>
          </p:cNvSpPr>
          <p:nvPr>
            <p:ph idx="1"/>
          </p:nvPr>
        </p:nvSpPr>
        <p:spPr>
          <a:xfrm>
            <a:off x="1069848" y="1500027"/>
            <a:ext cx="10058400" cy="4672173"/>
          </a:xfrm>
        </p:spPr>
        <p:txBody>
          <a:bodyPr>
            <a:noAutofit/>
          </a:bodyPr>
          <a:lstStyle/>
          <a:p>
            <a:pPr algn="just">
              <a:lnSpc>
                <a:spcPct val="150000"/>
              </a:lnSpc>
            </a:pPr>
            <a:r>
              <a:rPr lang="fr-FR" sz="2400" dirty="0"/>
              <a:t>Ton application </a:t>
            </a:r>
            <a:r>
              <a:rPr lang="fr-FR" sz="2400" dirty="0" err="1"/>
              <a:t>Angular</a:t>
            </a:r>
            <a:r>
              <a:rPr lang="fr-FR" sz="2400" dirty="0"/>
              <a:t> fonctionne </a:t>
            </a:r>
            <a:r>
              <a:rPr lang="fr-FR" sz="2400" b="1" dirty="0"/>
              <a:t>100% côté navigateur (client</a:t>
            </a:r>
            <a:r>
              <a:rPr lang="fr-FR" sz="2400" b="1" dirty="0" smtClean="0"/>
              <a:t>)</a:t>
            </a:r>
            <a:r>
              <a:rPr lang="fr-FR" sz="2400" dirty="0" smtClean="0"/>
              <a:t>.</a:t>
            </a:r>
          </a:p>
          <a:p>
            <a:pPr lvl="1" algn="just">
              <a:lnSpc>
                <a:spcPct val="150000"/>
              </a:lnSpc>
            </a:pPr>
            <a:r>
              <a:rPr lang="fr-FR" sz="2000" dirty="0"/>
              <a:t>Le navigateur télécharge le code </a:t>
            </a:r>
            <a:r>
              <a:rPr lang="fr-FR" sz="2000" dirty="0" err="1" smtClean="0"/>
              <a:t>Angular</a:t>
            </a:r>
            <a:endParaRPr lang="fr-FR" sz="2000" dirty="0" smtClean="0"/>
          </a:p>
          <a:p>
            <a:pPr lvl="1" algn="just">
              <a:lnSpc>
                <a:spcPct val="150000"/>
              </a:lnSpc>
            </a:pPr>
            <a:r>
              <a:rPr lang="fr-FR" sz="2000" dirty="0"/>
              <a:t>Puis il génère la page à </a:t>
            </a:r>
            <a:r>
              <a:rPr lang="fr-FR" sz="2000" dirty="0" smtClean="0"/>
              <a:t>l’écran</a:t>
            </a:r>
          </a:p>
          <a:p>
            <a:pPr lvl="1" algn="just">
              <a:lnSpc>
                <a:spcPct val="150000"/>
              </a:lnSpc>
            </a:pPr>
            <a:r>
              <a:rPr lang="fr-FR" sz="2000" dirty="0"/>
              <a:t>Le contenu initial est vide jusqu’à ce que </a:t>
            </a:r>
            <a:r>
              <a:rPr lang="fr-FR" sz="2000" dirty="0" err="1"/>
              <a:t>Angular</a:t>
            </a:r>
            <a:r>
              <a:rPr lang="fr-FR" sz="2000" dirty="0"/>
              <a:t> </a:t>
            </a:r>
            <a:r>
              <a:rPr lang="fr-FR" sz="2000" dirty="0" smtClean="0"/>
              <a:t>charge</a:t>
            </a:r>
          </a:p>
          <a:p>
            <a:pPr algn="just">
              <a:lnSpc>
                <a:spcPct val="150000"/>
              </a:lnSpc>
            </a:pPr>
            <a:r>
              <a:rPr lang="fr-FR" sz="2400" dirty="0"/>
              <a:t>Conséquence </a:t>
            </a:r>
            <a:r>
              <a:rPr lang="fr-FR" sz="2400" dirty="0" smtClean="0"/>
              <a:t>:</a:t>
            </a:r>
          </a:p>
          <a:p>
            <a:pPr lvl="1" algn="just">
              <a:lnSpc>
                <a:spcPct val="150000"/>
              </a:lnSpc>
            </a:pPr>
            <a:r>
              <a:rPr lang="fr-FR" sz="2000" dirty="0"/>
              <a:t>Moins bon pour le </a:t>
            </a:r>
            <a:r>
              <a:rPr lang="fr-FR" sz="2000" b="1" dirty="0"/>
              <a:t>SEO</a:t>
            </a:r>
            <a:r>
              <a:rPr lang="fr-FR" sz="2000" dirty="0"/>
              <a:t> (Google, Bing</a:t>
            </a:r>
            <a:r>
              <a:rPr lang="fr-FR" sz="2000" dirty="0" smtClean="0"/>
              <a:t>…)</a:t>
            </a:r>
          </a:p>
          <a:p>
            <a:pPr lvl="1" algn="just">
              <a:lnSpc>
                <a:spcPct val="150000"/>
              </a:lnSpc>
            </a:pPr>
            <a:r>
              <a:rPr lang="fr-FR" sz="2000" dirty="0"/>
              <a:t>Le premier affichage peut être moins rapide (page blanche un instant)</a:t>
            </a:r>
          </a:p>
        </p:txBody>
      </p:sp>
    </p:spTree>
    <p:extLst>
      <p:ext uri="{BB962C8B-B14F-4D97-AF65-F5344CB8AC3E}">
        <p14:creationId xmlns:p14="http://schemas.microsoft.com/office/powerpoint/2010/main" val="1373909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484632"/>
            <a:ext cx="10058400" cy="943476"/>
          </a:xfrm>
        </p:spPr>
        <p:txBody>
          <a:bodyPr>
            <a:normAutofit fontScale="90000"/>
          </a:bodyPr>
          <a:lstStyle/>
          <a:p>
            <a:pPr algn="ctr"/>
            <a:r>
              <a:rPr lang="fr-FR" sz="3600" dirty="0"/>
              <a:t>Avec SSR (Server-</a:t>
            </a:r>
            <a:r>
              <a:rPr lang="fr-FR" sz="3600" dirty="0" err="1"/>
              <a:t>Side</a:t>
            </a:r>
            <a:r>
              <a:rPr lang="fr-FR" sz="3600" dirty="0"/>
              <a:t> </a:t>
            </a:r>
            <a:r>
              <a:rPr lang="fr-FR" sz="3600" dirty="0" err="1"/>
              <a:t>Rendering</a:t>
            </a:r>
            <a:r>
              <a:rPr lang="fr-FR" sz="3600" dirty="0"/>
              <a:t>)</a:t>
            </a:r>
            <a:br>
              <a:rPr lang="fr-FR" sz="3600" dirty="0"/>
            </a:br>
            <a:r>
              <a:rPr lang="fr-FR" sz="3600" dirty="0"/>
              <a:t>On appelle aussi </a:t>
            </a:r>
            <a:r>
              <a:rPr lang="fr-FR" sz="3600" b="1" dirty="0" err="1"/>
              <a:t>Angular</a:t>
            </a:r>
            <a:r>
              <a:rPr lang="fr-FR" sz="3600" b="1" dirty="0"/>
              <a:t> Universal</a:t>
            </a:r>
            <a:r>
              <a:rPr lang="fr-FR" sz="3600" dirty="0"/>
              <a:t>.</a:t>
            </a:r>
          </a:p>
        </p:txBody>
      </p:sp>
      <p:sp>
        <p:nvSpPr>
          <p:cNvPr id="3" name="Espace réservé du contenu 2"/>
          <p:cNvSpPr>
            <a:spLocks noGrp="1"/>
          </p:cNvSpPr>
          <p:nvPr>
            <p:ph idx="1"/>
          </p:nvPr>
        </p:nvSpPr>
        <p:spPr>
          <a:xfrm>
            <a:off x="1069848" y="1520575"/>
            <a:ext cx="10058400" cy="4446142"/>
          </a:xfrm>
        </p:spPr>
        <p:txBody>
          <a:bodyPr>
            <a:noAutofit/>
          </a:bodyPr>
          <a:lstStyle/>
          <a:p>
            <a:pPr algn="just">
              <a:lnSpc>
                <a:spcPct val="150000"/>
              </a:lnSpc>
            </a:pPr>
            <a:r>
              <a:rPr lang="fr-FR" sz="2400" dirty="0"/>
              <a:t>L’application </a:t>
            </a:r>
            <a:r>
              <a:rPr lang="fr-FR" sz="2400" dirty="0" err="1"/>
              <a:t>Angular</a:t>
            </a:r>
            <a:r>
              <a:rPr lang="fr-FR" sz="2400" dirty="0"/>
              <a:t> génère la page </a:t>
            </a:r>
            <a:r>
              <a:rPr lang="fr-FR" sz="2400" b="1" dirty="0"/>
              <a:t>sur le serveur</a:t>
            </a:r>
            <a:r>
              <a:rPr lang="fr-FR" sz="2400" dirty="0"/>
              <a:t> avant de l’envoyer au navigateur</a:t>
            </a:r>
            <a:r>
              <a:rPr lang="fr-FR" sz="2400" dirty="0" smtClean="0"/>
              <a:t>.</a:t>
            </a:r>
          </a:p>
          <a:p>
            <a:pPr algn="just">
              <a:lnSpc>
                <a:spcPct val="150000"/>
              </a:lnSpc>
            </a:pPr>
            <a:r>
              <a:rPr lang="fr-FR" sz="2400" dirty="0"/>
              <a:t>Avantages </a:t>
            </a:r>
            <a:r>
              <a:rPr lang="fr-FR" sz="2400" dirty="0" smtClean="0"/>
              <a:t>:</a:t>
            </a:r>
          </a:p>
          <a:p>
            <a:pPr lvl="1" algn="just">
              <a:lnSpc>
                <a:spcPct val="150000"/>
              </a:lnSpc>
            </a:pPr>
            <a:r>
              <a:rPr lang="fr-FR" sz="2000" dirty="0"/>
              <a:t>Meilleures performances pour le premier </a:t>
            </a:r>
            <a:r>
              <a:rPr lang="fr-FR" sz="2000" dirty="0" smtClean="0"/>
              <a:t>affichage</a:t>
            </a:r>
          </a:p>
          <a:p>
            <a:pPr lvl="1" algn="just">
              <a:lnSpc>
                <a:spcPct val="150000"/>
              </a:lnSpc>
            </a:pPr>
            <a:r>
              <a:rPr lang="fr-FR" sz="2000" dirty="0"/>
              <a:t>Meilleur </a:t>
            </a:r>
            <a:r>
              <a:rPr lang="fr-FR" sz="2000" b="1" dirty="0"/>
              <a:t>SEO</a:t>
            </a:r>
            <a:r>
              <a:rPr lang="fr-FR" sz="2000" dirty="0"/>
              <a:t> (Google comprend le contenu</a:t>
            </a:r>
            <a:r>
              <a:rPr lang="fr-FR" sz="2000" dirty="0" smtClean="0"/>
              <a:t>)</a:t>
            </a:r>
          </a:p>
          <a:p>
            <a:pPr lvl="1" algn="just">
              <a:lnSpc>
                <a:spcPct val="150000"/>
              </a:lnSpc>
            </a:pPr>
            <a:r>
              <a:rPr lang="fr-FR" sz="2000" dirty="0"/>
              <a:t>Meilleur partage sur réseaux sociaux (prévisualisations complètes</a:t>
            </a:r>
            <a:r>
              <a:rPr lang="fr-FR" sz="2000" dirty="0" smtClean="0"/>
              <a:t>)</a:t>
            </a:r>
          </a:p>
          <a:p>
            <a:pPr algn="just">
              <a:lnSpc>
                <a:spcPct val="150000"/>
              </a:lnSpc>
            </a:pPr>
            <a:r>
              <a:rPr lang="fr-FR" sz="2400" dirty="0"/>
              <a:t>Inconvénients </a:t>
            </a:r>
            <a:r>
              <a:rPr lang="fr-FR" sz="2400" dirty="0" smtClean="0"/>
              <a:t>:</a:t>
            </a:r>
          </a:p>
          <a:p>
            <a:pPr lvl="1" algn="just">
              <a:lnSpc>
                <a:spcPct val="150000"/>
              </a:lnSpc>
            </a:pPr>
            <a:r>
              <a:rPr lang="fr-FR" sz="2000" dirty="0"/>
              <a:t>Il faut un </a:t>
            </a:r>
            <a:r>
              <a:rPr lang="fr-FR" sz="2000" b="1" dirty="0"/>
              <a:t>serveur Node.js</a:t>
            </a:r>
            <a:r>
              <a:rPr lang="fr-FR" sz="2000" dirty="0"/>
              <a:t> pour exécuter </a:t>
            </a:r>
            <a:r>
              <a:rPr lang="fr-FR" sz="2000" dirty="0" err="1"/>
              <a:t>Angular</a:t>
            </a:r>
            <a:r>
              <a:rPr lang="fr-FR" sz="2000" dirty="0"/>
              <a:t> côté </a:t>
            </a:r>
            <a:r>
              <a:rPr lang="fr-FR" sz="2000" dirty="0" smtClean="0"/>
              <a:t>serveur</a:t>
            </a:r>
          </a:p>
          <a:p>
            <a:pPr lvl="1" algn="just">
              <a:lnSpc>
                <a:spcPct val="150000"/>
              </a:lnSpc>
            </a:pPr>
            <a:r>
              <a:rPr lang="fr-FR" sz="2000" dirty="0"/>
              <a:t>Un peu plus complexe à déployer</a:t>
            </a:r>
          </a:p>
          <a:p>
            <a:pPr lvl="1" algn="just">
              <a:lnSpc>
                <a:spcPct val="150000"/>
              </a:lnSpc>
            </a:pPr>
            <a:endParaRPr lang="fr-FR" sz="2000" dirty="0" smtClean="0"/>
          </a:p>
          <a:p>
            <a:pPr lvl="1" algn="just">
              <a:lnSpc>
                <a:spcPct val="150000"/>
              </a:lnSpc>
            </a:pPr>
            <a:endParaRPr lang="fr-FR" sz="2000" dirty="0"/>
          </a:p>
        </p:txBody>
      </p:sp>
    </p:spTree>
    <p:extLst>
      <p:ext uri="{BB962C8B-B14F-4D97-AF65-F5344CB8AC3E}">
        <p14:creationId xmlns:p14="http://schemas.microsoft.com/office/powerpoint/2010/main" val="3431736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484632"/>
            <a:ext cx="10058400" cy="892105"/>
          </a:xfrm>
        </p:spPr>
        <p:txBody>
          <a:bodyPr>
            <a:normAutofit/>
          </a:bodyPr>
          <a:lstStyle/>
          <a:p>
            <a:pPr algn="ctr"/>
            <a:r>
              <a:rPr lang="fr-FR" sz="3200" dirty="0"/>
              <a:t>SSG / </a:t>
            </a:r>
            <a:r>
              <a:rPr lang="fr-FR" sz="3200" dirty="0" err="1"/>
              <a:t>Prerendering</a:t>
            </a:r>
            <a:r>
              <a:rPr lang="fr-FR" sz="3200" dirty="0"/>
              <a:t> (</a:t>
            </a:r>
            <a:r>
              <a:rPr lang="fr-FR" sz="3200" dirty="0" err="1"/>
              <a:t>Static</a:t>
            </a:r>
            <a:r>
              <a:rPr lang="fr-FR" sz="3200" dirty="0"/>
              <a:t> Site </a:t>
            </a:r>
            <a:r>
              <a:rPr lang="fr-FR" sz="3200" dirty="0" err="1"/>
              <a:t>Generation</a:t>
            </a:r>
            <a:r>
              <a:rPr lang="fr-FR" sz="3200" dirty="0"/>
              <a:t>)</a:t>
            </a:r>
          </a:p>
        </p:txBody>
      </p:sp>
      <p:sp>
        <p:nvSpPr>
          <p:cNvPr id="3" name="Espace réservé du contenu 2"/>
          <p:cNvSpPr>
            <a:spLocks noGrp="1"/>
          </p:cNvSpPr>
          <p:nvPr>
            <p:ph idx="1"/>
          </p:nvPr>
        </p:nvSpPr>
        <p:spPr>
          <a:xfrm>
            <a:off x="1069848" y="1376737"/>
            <a:ext cx="10058400" cy="4672173"/>
          </a:xfrm>
        </p:spPr>
        <p:txBody>
          <a:bodyPr>
            <a:noAutofit/>
          </a:bodyPr>
          <a:lstStyle/>
          <a:p>
            <a:pPr algn="just">
              <a:lnSpc>
                <a:spcPct val="150000"/>
              </a:lnSpc>
            </a:pPr>
            <a:r>
              <a:rPr lang="fr-FR" sz="2400" dirty="0" err="1"/>
              <a:t>Angular</a:t>
            </a:r>
            <a:r>
              <a:rPr lang="fr-FR" sz="2400" dirty="0"/>
              <a:t> génère </a:t>
            </a:r>
            <a:r>
              <a:rPr lang="fr-FR" sz="2400" b="1" dirty="0"/>
              <a:t>des pages HTML statiques à l’avance</a:t>
            </a:r>
            <a:r>
              <a:rPr lang="fr-FR" sz="2400" dirty="0"/>
              <a:t>, lors du </a:t>
            </a:r>
            <a:r>
              <a:rPr lang="fr-FR" sz="2400" dirty="0" err="1"/>
              <a:t>build</a:t>
            </a:r>
            <a:r>
              <a:rPr lang="fr-FR" sz="2400" dirty="0" smtClean="0"/>
              <a:t>.</a:t>
            </a:r>
          </a:p>
          <a:p>
            <a:pPr algn="just">
              <a:lnSpc>
                <a:spcPct val="150000"/>
              </a:lnSpc>
            </a:pPr>
            <a:r>
              <a:rPr lang="fr-FR" sz="2400" dirty="0"/>
              <a:t>Idéal pour les </a:t>
            </a:r>
            <a:r>
              <a:rPr lang="fr-FR" sz="2400" b="1" dirty="0"/>
              <a:t>sites vitrine</a:t>
            </a:r>
            <a:r>
              <a:rPr lang="fr-FR" sz="2400" dirty="0"/>
              <a:t>, documentation, portfolio</a:t>
            </a:r>
            <a:r>
              <a:rPr lang="fr-FR" sz="2400" dirty="0" smtClean="0"/>
              <a:t>…</a:t>
            </a:r>
          </a:p>
          <a:p>
            <a:pPr algn="just">
              <a:lnSpc>
                <a:spcPct val="150000"/>
              </a:lnSpc>
            </a:pPr>
            <a:r>
              <a:rPr lang="fr-FR" sz="2400" dirty="0"/>
              <a:t>Avantages </a:t>
            </a:r>
            <a:r>
              <a:rPr lang="fr-FR" sz="2400" dirty="0" smtClean="0"/>
              <a:t>:</a:t>
            </a:r>
          </a:p>
          <a:p>
            <a:pPr lvl="1" algn="just">
              <a:lnSpc>
                <a:spcPct val="150000"/>
              </a:lnSpc>
            </a:pPr>
            <a:r>
              <a:rPr lang="fr-FR" sz="2000" dirty="0"/>
              <a:t>Super rapide (fichiers statiques</a:t>
            </a:r>
            <a:r>
              <a:rPr lang="fr-FR" sz="2000" dirty="0" smtClean="0"/>
              <a:t>)</a:t>
            </a:r>
          </a:p>
          <a:p>
            <a:pPr lvl="1" algn="just">
              <a:lnSpc>
                <a:spcPct val="150000"/>
              </a:lnSpc>
            </a:pPr>
            <a:r>
              <a:rPr lang="fr-FR" sz="2000" dirty="0"/>
              <a:t>Pas besoin de serveur </a:t>
            </a:r>
            <a:r>
              <a:rPr lang="fr-FR" sz="2000" dirty="0" smtClean="0"/>
              <a:t>Node.js</a:t>
            </a:r>
          </a:p>
          <a:p>
            <a:pPr lvl="1" algn="just">
              <a:lnSpc>
                <a:spcPct val="150000"/>
              </a:lnSpc>
            </a:pPr>
            <a:r>
              <a:rPr lang="fr-FR" sz="2000" dirty="0"/>
              <a:t>Très bon </a:t>
            </a:r>
            <a:r>
              <a:rPr lang="fr-FR" sz="2000" dirty="0" smtClean="0"/>
              <a:t>SEO</a:t>
            </a:r>
          </a:p>
          <a:p>
            <a:pPr algn="just">
              <a:lnSpc>
                <a:spcPct val="150000"/>
              </a:lnSpc>
            </a:pPr>
            <a:r>
              <a:rPr lang="fr-FR" sz="2400" dirty="0"/>
              <a:t>Inconvénients </a:t>
            </a:r>
            <a:r>
              <a:rPr lang="fr-FR" sz="2400" dirty="0" smtClean="0"/>
              <a:t>:</a:t>
            </a:r>
          </a:p>
          <a:p>
            <a:pPr lvl="1" algn="just">
              <a:lnSpc>
                <a:spcPct val="150000"/>
              </a:lnSpc>
            </a:pPr>
            <a:r>
              <a:rPr lang="fr-FR" sz="2000" dirty="0"/>
              <a:t>Moins adapté si ton contenu change souvent en temps réel (back-office, </a:t>
            </a:r>
            <a:r>
              <a:rPr lang="fr-FR" sz="2000" dirty="0" err="1"/>
              <a:t>dashboards</a:t>
            </a:r>
            <a:r>
              <a:rPr lang="fr-FR" sz="2000" dirty="0"/>
              <a:t>…)</a:t>
            </a:r>
          </a:p>
        </p:txBody>
      </p:sp>
    </p:spTree>
    <p:extLst>
      <p:ext uri="{BB962C8B-B14F-4D97-AF65-F5344CB8AC3E}">
        <p14:creationId xmlns:p14="http://schemas.microsoft.com/office/powerpoint/2010/main" val="2127853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a:t>Comment choisir ?</a:t>
            </a:r>
          </a:p>
        </p:txBody>
      </p:sp>
      <p:pic>
        <p:nvPicPr>
          <p:cNvPr id="4" name="Espace réservé du contenu 3"/>
          <p:cNvPicPr>
            <a:picLocks noGrp="1" noChangeAspect="1"/>
          </p:cNvPicPr>
          <p:nvPr>
            <p:ph idx="1"/>
          </p:nvPr>
        </p:nvPicPr>
        <p:blipFill>
          <a:blip r:embed="rId2"/>
          <a:stretch>
            <a:fillRect/>
          </a:stretch>
        </p:blipFill>
        <p:spPr>
          <a:xfrm>
            <a:off x="1069848" y="2188396"/>
            <a:ext cx="10058401" cy="379116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550393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26902" y="97653"/>
            <a:ext cx="8911687" cy="919579"/>
          </a:xfrm>
        </p:spPr>
        <p:txBody>
          <a:bodyPr>
            <a:normAutofit/>
          </a:bodyPr>
          <a:lstStyle/>
          <a:p>
            <a:pPr algn="ctr"/>
            <a:r>
              <a:rPr lang="fr-FR" b="1" dirty="0" smtClean="0"/>
              <a:t>Structure d’un Projet Angular</a:t>
            </a:r>
            <a:endParaRPr lang="fr-FR" b="1" dirty="0"/>
          </a:p>
        </p:txBody>
      </p:sp>
      <p:pic>
        <p:nvPicPr>
          <p:cNvPr id="4" name="Image 3"/>
          <p:cNvPicPr>
            <a:picLocks noChangeAspect="1"/>
          </p:cNvPicPr>
          <p:nvPr/>
        </p:nvPicPr>
        <p:blipFill>
          <a:blip r:embed="rId2"/>
          <a:stretch>
            <a:fillRect/>
          </a:stretch>
        </p:blipFill>
        <p:spPr>
          <a:xfrm>
            <a:off x="1026902" y="1017232"/>
            <a:ext cx="8996902" cy="558405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185747520"/>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Processus d’</a:t>
            </a:r>
            <a:r>
              <a:rPr lang="fr-FR" dirty="0"/>
              <a:t>e</a:t>
            </a:r>
            <a:r>
              <a:rPr lang="fr-FR" dirty="0" smtClean="0"/>
              <a:t>xécution</a:t>
            </a:r>
            <a:endParaRPr lang="fr-FR" dirty="0"/>
          </a:p>
        </p:txBody>
      </p:sp>
      <p:pic>
        <p:nvPicPr>
          <p:cNvPr id="4" name="Image 3"/>
          <p:cNvPicPr>
            <a:picLocks noChangeAspect="1"/>
          </p:cNvPicPr>
          <p:nvPr/>
        </p:nvPicPr>
        <p:blipFill>
          <a:blip r:embed="rId2"/>
          <a:stretch>
            <a:fillRect/>
          </a:stretch>
        </p:blipFill>
        <p:spPr>
          <a:xfrm>
            <a:off x="4055935" y="1923711"/>
            <a:ext cx="4086225" cy="4486275"/>
          </a:xfrm>
          <a:prstGeom prst="rect">
            <a:avLst/>
          </a:prstGeom>
        </p:spPr>
      </p:pic>
    </p:spTree>
    <p:extLst>
      <p:ext uri="{BB962C8B-B14F-4D97-AF65-F5344CB8AC3E}">
        <p14:creationId xmlns:p14="http://schemas.microsoft.com/office/powerpoint/2010/main" val="389570441"/>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ctrTitle"/>
          </p:nvPr>
        </p:nvSpPr>
        <p:spPr/>
        <p:txBody>
          <a:bodyPr/>
          <a:lstStyle/>
          <a:p>
            <a:r>
              <a:rPr lang="fr-FR" sz="4000" dirty="0" smtClean="0"/>
              <a:t>Partie 2: </a:t>
            </a:r>
            <a:r>
              <a:rPr lang="fr-FR" sz="4000" dirty="0" err="1"/>
              <a:t>TypeScript</a:t>
            </a:r>
            <a:endParaRPr lang="fr-FR" sz="4000" dirty="0"/>
          </a:p>
        </p:txBody>
      </p:sp>
      <p:sp>
        <p:nvSpPr>
          <p:cNvPr id="5" name="Sous-titre 4"/>
          <p:cNvSpPr>
            <a:spLocks noGrp="1"/>
          </p:cNvSpPr>
          <p:nvPr>
            <p:ph type="subTitle" idx="1"/>
          </p:nvPr>
        </p:nvSpPr>
        <p:spPr/>
        <p:txBody>
          <a:bodyPr/>
          <a:lstStyle/>
          <a:p>
            <a:r>
              <a:rPr lang="fr-FR" sz="2400" dirty="0"/>
              <a:t>Principes de base</a:t>
            </a:r>
            <a:endParaRPr lang="fr-FR" dirty="0"/>
          </a:p>
        </p:txBody>
      </p:sp>
    </p:spTree>
    <p:extLst>
      <p:ext uri="{BB962C8B-B14F-4D97-AF65-F5344CB8AC3E}">
        <p14:creationId xmlns:p14="http://schemas.microsoft.com/office/powerpoint/2010/main" val="891017085"/>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err="1"/>
              <a:t>TypeScript</a:t>
            </a:r>
            <a:endParaRPr lang="fr-FR" dirty="0"/>
          </a:p>
        </p:txBody>
      </p:sp>
      <p:sp>
        <p:nvSpPr>
          <p:cNvPr id="3" name="Espace réservé du contenu 2"/>
          <p:cNvSpPr>
            <a:spLocks noGrp="1"/>
          </p:cNvSpPr>
          <p:nvPr>
            <p:ph idx="1"/>
          </p:nvPr>
        </p:nvSpPr>
        <p:spPr/>
        <p:txBody>
          <a:bodyPr>
            <a:normAutofit/>
          </a:bodyPr>
          <a:lstStyle/>
          <a:p>
            <a:pPr algn="just">
              <a:lnSpc>
                <a:spcPct val="200000"/>
              </a:lnSpc>
            </a:pPr>
            <a:r>
              <a:rPr lang="fr-FR" sz="2800" dirty="0"/>
              <a:t>Comprendre la syntaxe </a:t>
            </a:r>
            <a:r>
              <a:rPr lang="fr-FR" sz="2800" b="1" dirty="0" err="1" smtClean="0"/>
              <a:t>TypeScript</a:t>
            </a:r>
            <a:endParaRPr lang="fr-FR" sz="2800" b="1" dirty="0" smtClean="0"/>
          </a:p>
          <a:p>
            <a:pPr algn="just">
              <a:lnSpc>
                <a:spcPct val="200000"/>
              </a:lnSpc>
            </a:pPr>
            <a:r>
              <a:rPr lang="fr-FR" sz="2800" dirty="0"/>
              <a:t>Définir les variables, les tableaux, les interfaces et les génériques</a:t>
            </a:r>
          </a:p>
          <a:p>
            <a:pPr algn="just">
              <a:lnSpc>
                <a:spcPct val="200000"/>
              </a:lnSpc>
            </a:pPr>
            <a:r>
              <a:rPr lang="fr-FR" sz="2800" dirty="0"/>
              <a:t>Taper dans les fonctions</a:t>
            </a:r>
          </a:p>
        </p:txBody>
      </p:sp>
    </p:spTree>
    <p:extLst>
      <p:ext uri="{BB962C8B-B14F-4D97-AF65-F5344CB8AC3E}">
        <p14:creationId xmlns:p14="http://schemas.microsoft.com/office/powerpoint/2010/main" val="4025881074"/>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484633"/>
            <a:ext cx="10058400" cy="760844"/>
          </a:xfrm>
        </p:spPr>
        <p:txBody>
          <a:bodyPr/>
          <a:lstStyle/>
          <a:p>
            <a:pPr algn="ctr"/>
            <a:r>
              <a:rPr lang="fr-FR" b="1" dirty="0" err="1" smtClean="0"/>
              <a:t>TypeScript</a:t>
            </a:r>
            <a:r>
              <a:rPr lang="fr-FR" dirty="0" smtClean="0"/>
              <a:t> – Introduction-</a:t>
            </a:r>
            <a:endParaRPr lang="fr-FR" dirty="0"/>
          </a:p>
        </p:txBody>
      </p:sp>
      <p:sp>
        <p:nvSpPr>
          <p:cNvPr id="3" name="Espace réservé du contenu 2"/>
          <p:cNvSpPr>
            <a:spLocks noGrp="1"/>
          </p:cNvSpPr>
          <p:nvPr>
            <p:ph idx="1"/>
          </p:nvPr>
        </p:nvSpPr>
        <p:spPr>
          <a:xfrm>
            <a:off x="756745" y="1245477"/>
            <a:ext cx="10371503" cy="4926723"/>
          </a:xfrm>
        </p:spPr>
        <p:txBody>
          <a:bodyPr>
            <a:noAutofit/>
          </a:bodyPr>
          <a:lstStyle/>
          <a:p>
            <a:pPr algn="just">
              <a:lnSpc>
                <a:spcPct val="150000"/>
              </a:lnSpc>
              <a:buFont typeface="Wingdings" panose="05000000000000000000" pitchFamily="2" charset="2"/>
              <a:buChar char="Ø"/>
            </a:pPr>
            <a:r>
              <a:rPr lang="fr-FR" sz="2400" b="1" dirty="0" err="1"/>
              <a:t>TypeScript</a:t>
            </a:r>
            <a:r>
              <a:rPr lang="fr-FR" sz="2400" dirty="0"/>
              <a:t> est un langage de programmation développé par </a:t>
            </a:r>
            <a:r>
              <a:rPr lang="fr-FR" sz="2400" b="1" dirty="0"/>
              <a:t>Microsoft</a:t>
            </a:r>
            <a:r>
              <a:rPr lang="fr-FR" sz="2400" dirty="0"/>
              <a:t> en 2012. Son ambition principale est d’améliorer la productivité de développement d’applications complexes.</a:t>
            </a:r>
          </a:p>
          <a:p>
            <a:pPr algn="just">
              <a:lnSpc>
                <a:spcPct val="150000"/>
              </a:lnSpc>
              <a:buFont typeface="Wingdings" panose="05000000000000000000" pitchFamily="2" charset="2"/>
              <a:buChar char="Ø"/>
            </a:pPr>
            <a:r>
              <a:rPr lang="fr-FR" sz="2400" dirty="0"/>
              <a:t>C’est un </a:t>
            </a:r>
            <a:r>
              <a:rPr lang="fr-FR" sz="2400" b="1" dirty="0"/>
              <a:t>langage open source</a:t>
            </a:r>
            <a:r>
              <a:rPr lang="fr-FR" sz="2400" dirty="0"/>
              <a:t>, développé comme un sur-ensemble de </a:t>
            </a:r>
            <a:r>
              <a:rPr lang="fr-FR" sz="2400" b="1" dirty="0" err="1"/>
              <a:t>Javascript</a:t>
            </a:r>
            <a:r>
              <a:rPr lang="fr-FR" sz="2400" dirty="0"/>
              <a:t>. </a:t>
            </a:r>
            <a:r>
              <a:rPr lang="fr-FR" sz="2400" dirty="0" smtClean="0"/>
              <a:t>Tout </a:t>
            </a:r>
            <a:r>
              <a:rPr lang="fr-FR" sz="2400" dirty="0"/>
              <a:t>code valide en </a:t>
            </a:r>
            <a:r>
              <a:rPr lang="fr-FR" sz="2400" b="1" dirty="0" err="1"/>
              <a:t>Javascript</a:t>
            </a:r>
            <a:r>
              <a:rPr lang="fr-FR" sz="2400" dirty="0"/>
              <a:t> l’est également en </a:t>
            </a:r>
            <a:r>
              <a:rPr lang="fr-FR" sz="2400" b="1" dirty="0" err="1"/>
              <a:t>TypeScript</a:t>
            </a:r>
            <a:r>
              <a:rPr lang="fr-FR" sz="2400" dirty="0" smtClean="0"/>
              <a:t>.</a:t>
            </a:r>
          </a:p>
          <a:p>
            <a:pPr algn="just">
              <a:lnSpc>
                <a:spcPct val="150000"/>
              </a:lnSpc>
              <a:buFont typeface="Wingdings" panose="05000000000000000000" pitchFamily="2" charset="2"/>
              <a:buChar char="Ø"/>
            </a:pPr>
            <a:r>
              <a:rPr lang="fr-FR" sz="2400" dirty="0"/>
              <a:t>Cependant, le langage introduit des </a:t>
            </a:r>
            <a:r>
              <a:rPr lang="fr-FR" sz="2400" b="1" dirty="0"/>
              <a:t>fonctionnalités optionnelles</a:t>
            </a:r>
            <a:r>
              <a:rPr lang="fr-FR" sz="2400" dirty="0"/>
              <a:t> comme le typage ou la programmation orientée objet. </a:t>
            </a:r>
          </a:p>
          <a:p>
            <a:pPr>
              <a:lnSpc>
                <a:spcPct val="150000"/>
              </a:lnSpc>
              <a:buFont typeface="Wingdings" panose="05000000000000000000" pitchFamily="2" charset="2"/>
              <a:buChar char="ü"/>
            </a:pPr>
            <a:endParaRPr lang="fr-FR" sz="2400" dirty="0"/>
          </a:p>
        </p:txBody>
      </p:sp>
    </p:spTree>
    <p:extLst>
      <p:ext uri="{BB962C8B-B14F-4D97-AF65-F5344CB8AC3E}">
        <p14:creationId xmlns:p14="http://schemas.microsoft.com/office/powerpoint/2010/main" val="35552959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913149" y="139124"/>
            <a:ext cx="10364451" cy="748644"/>
          </a:xfrm>
        </p:spPr>
        <p:txBody>
          <a:bodyPr>
            <a:normAutofit fontScale="90000"/>
          </a:bodyPr>
          <a:lstStyle/>
          <a:p>
            <a:pPr algn="ctr"/>
            <a:r>
              <a:rPr lang="fr-FR" b="1" dirty="0"/>
              <a:t>Angular avec Type Script</a:t>
            </a:r>
          </a:p>
        </p:txBody>
      </p:sp>
      <p:sp>
        <p:nvSpPr>
          <p:cNvPr id="3" name="Espace réservé du contenu 2"/>
          <p:cNvSpPr>
            <a:spLocks noGrp="1"/>
          </p:cNvSpPr>
          <p:nvPr>
            <p:ph idx="1"/>
          </p:nvPr>
        </p:nvSpPr>
        <p:spPr>
          <a:xfrm>
            <a:off x="2592280" y="887768"/>
            <a:ext cx="8685320" cy="3424107"/>
          </a:xfrm>
        </p:spPr>
        <p:txBody>
          <a:bodyPr/>
          <a:lstStyle/>
          <a:p>
            <a:pPr algn="just">
              <a:lnSpc>
                <a:spcPct val="200000"/>
              </a:lnSpc>
              <a:buFont typeface="Wingdings" panose="05000000000000000000" pitchFamily="2" charset="2"/>
              <a:buChar char="Ø"/>
            </a:pPr>
            <a:r>
              <a:rPr lang="fr-FR" dirty="0" smtClean="0"/>
              <a:t>Pour développer une application </a:t>
            </a:r>
            <a:r>
              <a:rPr lang="fr-FR" b="1" dirty="0" smtClean="0"/>
              <a:t>Angular</a:t>
            </a:r>
            <a:r>
              <a:rPr lang="fr-FR" dirty="0" smtClean="0"/>
              <a:t> il est recommandé d’utiliser </a:t>
            </a:r>
            <a:r>
              <a:rPr lang="fr-FR" b="1" dirty="0" err="1" smtClean="0"/>
              <a:t>TypeScript</a:t>
            </a:r>
            <a:r>
              <a:rPr lang="fr-FR" dirty="0" smtClean="0"/>
              <a:t> qui sera compilé et traduit en JavaScript.</a:t>
            </a:r>
          </a:p>
          <a:p>
            <a:pPr algn="just">
              <a:lnSpc>
                <a:spcPct val="200000"/>
              </a:lnSpc>
              <a:buFont typeface="Wingdings" panose="05000000000000000000" pitchFamily="2" charset="2"/>
              <a:buChar char="Ø"/>
            </a:pPr>
            <a:r>
              <a:rPr lang="fr-FR" b="1" dirty="0" err="1" smtClean="0"/>
              <a:t>TypeScript</a:t>
            </a:r>
            <a:r>
              <a:rPr lang="fr-FR" dirty="0" smtClean="0"/>
              <a:t> est un langage de script structuré et orienté objet qui permet de simplifier le développement d’application </a:t>
            </a:r>
            <a:r>
              <a:rPr lang="fr-FR" b="1" dirty="0" smtClean="0"/>
              <a:t>JavaScript</a:t>
            </a:r>
            <a:r>
              <a:rPr lang="fr-FR" dirty="0" smtClean="0"/>
              <a:t>.</a:t>
            </a:r>
          </a:p>
          <a:p>
            <a:pPr marL="0" indent="0" algn="just">
              <a:lnSpc>
                <a:spcPct val="200000"/>
              </a:lnSpc>
              <a:buNone/>
            </a:pPr>
            <a:endParaRPr lang="fr-FR" dirty="0"/>
          </a:p>
        </p:txBody>
      </p:sp>
      <p:pic>
        <p:nvPicPr>
          <p:cNvPr id="4" name="Image 3"/>
          <p:cNvPicPr>
            <a:picLocks noChangeAspect="1"/>
          </p:cNvPicPr>
          <p:nvPr/>
        </p:nvPicPr>
        <p:blipFill>
          <a:blip r:embed="rId2"/>
          <a:stretch>
            <a:fillRect/>
          </a:stretch>
        </p:blipFill>
        <p:spPr>
          <a:xfrm>
            <a:off x="3399662" y="3910860"/>
            <a:ext cx="5047843" cy="229931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004420807"/>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b="1" dirty="0" smtClean="0"/>
              <a:t>Pour quoi le </a:t>
            </a:r>
            <a:r>
              <a:rPr lang="fr-FR" b="1" dirty="0" err="1" smtClean="0"/>
              <a:t>TypeScript</a:t>
            </a:r>
            <a:endParaRPr lang="fr-FR" b="1" dirty="0"/>
          </a:p>
        </p:txBody>
      </p:sp>
      <p:sp>
        <p:nvSpPr>
          <p:cNvPr id="3" name="Espace réservé du contenu 2"/>
          <p:cNvSpPr>
            <a:spLocks noGrp="1"/>
          </p:cNvSpPr>
          <p:nvPr>
            <p:ph idx="1"/>
          </p:nvPr>
        </p:nvSpPr>
        <p:spPr/>
        <p:txBody>
          <a:bodyPr>
            <a:normAutofit fontScale="92500" lnSpcReduction="20000"/>
          </a:bodyPr>
          <a:lstStyle/>
          <a:p>
            <a:pPr>
              <a:lnSpc>
                <a:spcPct val="200000"/>
              </a:lnSpc>
              <a:buFont typeface="Wingdings" panose="05000000000000000000" pitchFamily="2" charset="2"/>
              <a:buChar char="§"/>
            </a:pPr>
            <a:r>
              <a:rPr lang="fr-FR" dirty="0" smtClean="0"/>
              <a:t> </a:t>
            </a:r>
            <a:r>
              <a:rPr lang="fr-FR" dirty="0"/>
              <a:t>Typage statique </a:t>
            </a:r>
            <a:r>
              <a:rPr lang="fr-FR" dirty="0" smtClean="0"/>
              <a:t>optionnel</a:t>
            </a:r>
          </a:p>
          <a:p>
            <a:pPr>
              <a:lnSpc>
                <a:spcPct val="200000"/>
              </a:lnSpc>
              <a:buFont typeface="Wingdings" panose="05000000000000000000" pitchFamily="2" charset="2"/>
              <a:buChar char="§"/>
            </a:pPr>
            <a:r>
              <a:rPr lang="fr-FR" dirty="0"/>
              <a:t> </a:t>
            </a:r>
            <a:r>
              <a:rPr lang="fr-FR" dirty="0" smtClean="0"/>
              <a:t>Lisibilité</a:t>
            </a:r>
          </a:p>
          <a:p>
            <a:pPr>
              <a:lnSpc>
                <a:spcPct val="200000"/>
              </a:lnSpc>
              <a:buFont typeface="Wingdings" panose="05000000000000000000" pitchFamily="2" charset="2"/>
              <a:buChar char="§"/>
            </a:pPr>
            <a:r>
              <a:rPr lang="fr-FR" dirty="0" smtClean="0"/>
              <a:t> Prise </a:t>
            </a:r>
            <a:r>
              <a:rPr lang="fr-FR" dirty="0"/>
              <a:t>en charge </a:t>
            </a:r>
            <a:r>
              <a:rPr lang="fr-FR" dirty="0" smtClean="0"/>
              <a:t>IDE</a:t>
            </a:r>
          </a:p>
          <a:p>
            <a:pPr>
              <a:lnSpc>
                <a:spcPct val="200000"/>
              </a:lnSpc>
              <a:buFont typeface="Wingdings" panose="05000000000000000000" pitchFamily="2" charset="2"/>
              <a:buChar char="§"/>
            </a:pPr>
            <a:r>
              <a:rPr lang="fr-FR" dirty="0"/>
              <a:t> </a:t>
            </a:r>
            <a:r>
              <a:rPr lang="fr-FR" dirty="0" smtClean="0"/>
              <a:t>La </a:t>
            </a:r>
            <a:r>
              <a:rPr lang="fr-FR" dirty="0"/>
              <a:t>puissance de l'orienté </a:t>
            </a:r>
            <a:r>
              <a:rPr lang="fr-FR" dirty="0" smtClean="0"/>
              <a:t>objet.</a:t>
            </a:r>
          </a:p>
          <a:p>
            <a:pPr>
              <a:lnSpc>
                <a:spcPct val="200000"/>
              </a:lnSpc>
              <a:buFont typeface="Wingdings" panose="05000000000000000000" pitchFamily="2" charset="2"/>
              <a:buChar char="§"/>
            </a:pPr>
            <a:r>
              <a:rPr lang="fr-FR" dirty="0"/>
              <a:t> Immense communauté </a:t>
            </a:r>
            <a:r>
              <a:rPr lang="fr-FR" dirty="0" smtClean="0"/>
              <a:t>talentueuse.</a:t>
            </a:r>
          </a:p>
          <a:p>
            <a:pPr>
              <a:lnSpc>
                <a:spcPct val="200000"/>
              </a:lnSpc>
              <a:buFont typeface="Wingdings" panose="05000000000000000000" pitchFamily="2" charset="2"/>
              <a:buChar char="§"/>
            </a:pPr>
            <a:r>
              <a:rPr lang="fr-FR" dirty="0"/>
              <a:t> L</a:t>
            </a:r>
            <a:r>
              <a:rPr lang="fr-FR" dirty="0" smtClean="0"/>
              <a:t>e </a:t>
            </a:r>
            <a:r>
              <a:rPr lang="fr-FR" dirty="0"/>
              <a:t>support intégré des nouvelles version de </a:t>
            </a:r>
            <a:r>
              <a:rPr lang="fr-FR" b="1" dirty="0"/>
              <a:t>l'</a:t>
            </a:r>
            <a:r>
              <a:rPr lang="fr-FR" b="1" dirty="0" err="1"/>
              <a:t>ECMAScript</a:t>
            </a:r>
            <a:r>
              <a:rPr lang="fr-FR" dirty="0"/>
              <a:t>.</a:t>
            </a:r>
            <a:endParaRPr lang="fr-FR" dirty="0" smtClean="0"/>
          </a:p>
          <a:p>
            <a:pPr>
              <a:lnSpc>
                <a:spcPct val="200000"/>
              </a:lnSpc>
              <a:buFont typeface="Wingdings" panose="05000000000000000000" pitchFamily="2" charset="2"/>
              <a:buChar char="§"/>
            </a:pPr>
            <a:endParaRPr lang="fr-FR" dirty="0" smtClean="0"/>
          </a:p>
          <a:p>
            <a:pPr>
              <a:lnSpc>
                <a:spcPct val="200000"/>
              </a:lnSpc>
              <a:buFont typeface="Wingdings" panose="05000000000000000000" pitchFamily="2" charset="2"/>
              <a:buChar char="§"/>
            </a:pPr>
            <a:endParaRPr lang="fr-FR" dirty="0"/>
          </a:p>
        </p:txBody>
      </p:sp>
    </p:spTree>
    <p:extLst>
      <p:ext uri="{BB962C8B-B14F-4D97-AF65-F5344CB8AC3E}">
        <p14:creationId xmlns:p14="http://schemas.microsoft.com/office/powerpoint/2010/main" val="3499769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down)">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down)">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normAutofit/>
          </a:bodyPr>
          <a:lstStyle/>
          <a:p>
            <a:pPr algn="ctr"/>
            <a:r>
              <a:rPr lang="fr-FR" sz="4000" b="1" dirty="0" smtClean="0"/>
              <a:t>Nouvelles fonctionnalités avec </a:t>
            </a:r>
            <a:r>
              <a:rPr lang="fr-FR" sz="4000" b="1" dirty="0"/>
              <a:t>ES6</a:t>
            </a:r>
          </a:p>
        </p:txBody>
      </p:sp>
      <p:sp>
        <p:nvSpPr>
          <p:cNvPr id="3" name="Espace réservé du contenu 2"/>
          <p:cNvSpPr>
            <a:spLocks noGrp="1"/>
          </p:cNvSpPr>
          <p:nvPr>
            <p:ph idx="1"/>
          </p:nvPr>
        </p:nvSpPr>
        <p:spPr/>
        <p:txBody>
          <a:bodyPr>
            <a:noAutofit/>
          </a:bodyPr>
          <a:lstStyle/>
          <a:p>
            <a:pPr marL="457200" indent="-457200">
              <a:buFont typeface="+mj-lt"/>
              <a:buAutoNum type="arabicPeriod"/>
            </a:pPr>
            <a:r>
              <a:rPr lang="fr-FR" sz="2800" b="1" dirty="0" smtClean="0"/>
              <a:t>Déclaration </a:t>
            </a:r>
            <a:r>
              <a:rPr lang="fr-FR" sz="2800" b="1" dirty="0"/>
              <a:t>des variables (let, </a:t>
            </a:r>
            <a:r>
              <a:rPr lang="fr-FR" sz="2800" b="1" dirty="0" err="1"/>
              <a:t>const</a:t>
            </a:r>
            <a:r>
              <a:rPr lang="fr-FR" sz="2800" b="1" dirty="0" smtClean="0"/>
              <a:t>)</a:t>
            </a:r>
          </a:p>
          <a:p>
            <a:pPr marL="457200" indent="-457200">
              <a:buFont typeface="+mj-lt"/>
              <a:buAutoNum type="arabicPeriod"/>
            </a:pPr>
            <a:r>
              <a:rPr lang="fr-FR" sz="2800" b="1" dirty="0" smtClean="0"/>
              <a:t>Fonctions fléchées</a:t>
            </a:r>
          </a:p>
          <a:p>
            <a:pPr marL="457200" indent="-457200">
              <a:buFont typeface="+mj-lt"/>
              <a:buAutoNum type="arabicPeriod"/>
            </a:pPr>
            <a:r>
              <a:rPr lang="fr-FR" sz="2800" b="1" dirty="0" smtClean="0"/>
              <a:t>Template </a:t>
            </a:r>
            <a:r>
              <a:rPr lang="fr-FR" sz="2800" b="1" dirty="0" err="1" smtClean="0"/>
              <a:t>literals</a:t>
            </a:r>
            <a:endParaRPr lang="fr-FR" sz="2800" b="1" dirty="0" smtClean="0"/>
          </a:p>
          <a:p>
            <a:pPr marL="457200" indent="-457200">
              <a:buFont typeface="+mj-lt"/>
              <a:buAutoNum type="arabicPeriod"/>
            </a:pPr>
            <a:r>
              <a:rPr lang="fr-FR" sz="2800" b="1" dirty="0" err="1" smtClean="0"/>
              <a:t>Destructuration</a:t>
            </a:r>
            <a:r>
              <a:rPr lang="fr-FR" sz="2800" b="1" dirty="0" smtClean="0"/>
              <a:t> </a:t>
            </a:r>
            <a:r>
              <a:rPr lang="fr-FR" sz="2800" b="1" dirty="0"/>
              <a:t>des objets et </a:t>
            </a:r>
            <a:r>
              <a:rPr lang="fr-FR" sz="2800" b="1" dirty="0" smtClean="0"/>
              <a:t>tableaux</a:t>
            </a:r>
          </a:p>
          <a:p>
            <a:pPr marL="457200" indent="-457200">
              <a:buFont typeface="+mj-lt"/>
              <a:buAutoNum type="arabicPeriod"/>
            </a:pPr>
            <a:r>
              <a:rPr lang="fr-FR" sz="2800" b="1" dirty="0" smtClean="0"/>
              <a:t>Les </a:t>
            </a:r>
            <a:r>
              <a:rPr lang="fr-FR" sz="2800" b="1" dirty="0"/>
              <a:t>modules ES6 (import/export</a:t>
            </a:r>
            <a:r>
              <a:rPr lang="fr-FR" sz="2800" b="1" dirty="0" smtClean="0"/>
              <a:t>)</a:t>
            </a:r>
          </a:p>
          <a:p>
            <a:pPr marL="457200" indent="-457200">
              <a:buFont typeface="+mj-lt"/>
              <a:buAutoNum type="arabicPeriod"/>
            </a:pPr>
            <a:r>
              <a:rPr lang="fr-FR" sz="2800" b="1" dirty="0" smtClean="0"/>
              <a:t>Les </a:t>
            </a:r>
            <a:r>
              <a:rPr lang="fr-FR" sz="2800" b="1" dirty="0"/>
              <a:t>promesses et </a:t>
            </a:r>
            <a:r>
              <a:rPr lang="fr-FR" sz="2800" b="1" dirty="0" err="1" smtClean="0"/>
              <a:t>async</a:t>
            </a:r>
            <a:r>
              <a:rPr lang="fr-FR" sz="2800" b="1" dirty="0" smtClean="0"/>
              <a:t>/</a:t>
            </a:r>
            <a:r>
              <a:rPr lang="fr-FR" sz="2800" b="1" dirty="0" err="1" smtClean="0"/>
              <a:t>await</a:t>
            </a:r>
            <a:endParaRPr lang="fr-FR" sz="2800" b="1" dirty="0" smtClean="0"/>
          </a:p>
          <a:p>
            <a:pPr marL="457200" indent="-457200">
              <a:buFont typeface="+mj-lt"/>
              <a:buAutoNum type="arabicPeriod"/>
            </a:pPr>
            <a:r>
              <a:rPr lang="fr-FR" sz="2800" b="1" dirty="0" smtClean="0"/>
              <a:t>Les </a:t>
            </a:r>
            <a:r>
              <a:rPr lang="fr-FR" sz="2800" b="1" dirty="0"/>
              <a:t>classes en ES6</a:t>
            </a:r>
          </a:p>
        </p:txBody>
      </p:sp>
    </p:spTree>
    <p:extLst>
      <p:ext uri="{BB962C8B-B14F-4D97-AF65-F5344CB8AC3E}">
        <p14:creationId xmlns:p14="http://schemas.microsoft.com/office/powerpoint/2010/main" val="2377487294"/>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06786" y="227590"/>
            <a:ext cx="10058400" cy="603189"/>
          </a:xfrm>
        </p:spPr>
        <p:txBody>
          <a:bodyPr>
            <a:normAutofit fontScale="90000"/>
          </a:bodyPr>
          <a:lstStyle/>
          <a:p>
            <a:pPr algn="ctr"/>
            <a:r>
              <a:rPr lang="fr-FR" dirty="0" smtClean="0"/>
              <a:t>Les types</a:t>
            </a:r>
            <a:endParaRPr lang="fr-FR" dirty="0"/>
          </a:p>
        </p:txBody>
      </p:sp>
      <p:sp>
        <p:nvSpPr>
          <p:cNvPr id="3" name="Espace réservé du contenu 2"/>
          <p:cNvSpPr>
            <a:spLocks noGrp="1"/>
          </p:cNvSpPr>
          <p:nvPr>
            <p:ph idx="1"/>
          </p:nvPr>
        </p:nvSpPr>
        <p:spPr>
          <a:xfrm>
            <a:off x="756745" y="1143586"/>
            <a:ext cx="9919030" cy="3777622"/>
          </a:xfrm>
        </p:spPr>
        <p:txBody>
          <a:bodyPr/>
          <a:lstStyle/>
          <a:p>
            <a:pPr algn="just">
              <a:lnSpc>
                <a:spcPct val="200000"/>
              </a:lnSpc>
            </a:pPr>
            <a:r>
              <a:rPr lang="fr-FR" b="1" dirty="0" err="1"/>
              <a:t>TypeScript</a:t>
            </a:r>
            <a:r>
              <a:rPr lang="fr-FR" dirty="0"/>
              <a:t> prend en charge différents types de valeurs. Nous pouvons classer le type de données </a:t>
            </a:r>
            <a:r>
              <a:rPr lang="fr-FR" b="1" dirty="0" err="1"/>
              <a:t>TypeScript</a:t>
            </a:r>
            <a:r>
              <a:rPr lang="fr-FR" dirty="0"/>
              <a:t> comme suit.</a:t>
            </a:r>
          </a:p>
        </p:txBody>
      </p:sp>
      <p:pic>
        <p:nvPicPr>
          <p:cNvPr id="4" name="Image 3"/>
          <p:cNvPicPr>
            <a:picLocks noChangeAspect="1"/>
          </p:cNvPicPr>
          <p:nvPr/>
        </p:nvPicPr>
        <p:blipFill>
          <a:blip r:embed="rId2"/>
          <a:stretch>
            <a:fillRect/>
          </a:stretch>
        </p:blipFill>
        <p:spPr>
          <a:xfrm>
            <a:off x="3547241" y="2478581"/>
            <a:ext cx="7378262" cy="3953749"/>
          </a:xfrm>
          <a:prstGeom prst="rect">
            <a:avLst/>
          </a:prstGeom>
        </p:spPr>
      </p:pic>
    </p:spTree>
    <p:extLst>
      <p:ext uri="{BB962C8B-B14F-4D97-AF65-F5344CB8AC3E}">
        <p14:creationId xmlns:p14="http://schemas.microsoft.com/office/powerpoint/2010/main" val="1386658912"/>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4000" dirty="0"/>
              <a:t>Comprendre la syntaxe </a:t>
            </a:r>
            <a:r>
              <a:rPr lang="fr-FR" sz="4000" dirty="0" err="1"/>
              <a:t>TypeScript</a:t>
            </a:r>
            <a:endParaRPr lang="fr-FR" sz="4000" dirty="0"/>
          </a:p>
        </p:txBody>
      </p:sp>
      <p:sp>
        <p:nvSpPr>
          <p:cNvPr id="3" name="Espace réservé du contenu 2"/>
          <p:cNvSpPr>
            <a:spLocks noGrp="1"/>
          </p:cNvSpPr>
          <p:nvPr>
            <p:ph idx="1"/>
          </p:nvPr>
        </p:nvSpPr>
        <p:spPr/>
        <p:txBody>
          <a:bodyPr>
            <a:normAutofit/>
          </a:bodyPr>
          <a:lstStyle/>
          <a:p>
            <a:pPr algn="just">
              <a:lnSpc>
                <a:spcPct val="150000"/>
              </a:lnSpc>
            </a:pPr>
            <a:r>
              <a:rPr lang="fr-FR" sz="2800" dirty="0" err="1"/>
              <a:t>TypeScript</a:t>
            </a:r>
            <a:r>
              <a:rPr lang="fr-FR" sz="2800" dirty="0"/>
              <a:t> est un sur-ensemble de JavaScript qui ajoute le typage statique. Il utilise des annotations de type pour garantir la fiabilité du code :</a:t>
            </a:r>
          </a:p>
        </p:txBody>
      </p:sp>
      <p:pic>
        <p:nvPicPr>
          <p:cNvPr id="4" name="Image 3"/>
          <p:cNvPicPr>
            <a:picLocks noChangeAspect="1"/>
          </p:cNvPicPr>
          <p:nvPr/>
        </p:nvPicPr>
        <p:blipFill>
          <a:blip r:embed="rId2">
            <a:extLst>
              <a:ext uri="{BEBA8EAE-BF5A-486C-A8C5-ECC9F3942E4B}">
                <a14:imgProps xmlns:a14="http://schemas.microsoft.com/office/drawing/2010/main">
                  <a14:imgLayer r:embed="rId3">
                    <a14:imgEffect>
                      <a14:colorTemperature colorTemp="5300"/>
                    </a14:imgEffect>
                  </a14:imgLayer>
                </a14:imgProps>
              </a:ext>
            </a:extLst>
          </a:blip>
          <a:stretch>
            <a:fillRect/>
          </a:stretch>
        </p:blipFill>
        <p:spPr>
          <a:xfrm>
            <a:off x="6355474" y="3756298"/>
            <a:ext cx="4772773" cy="244333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287679024"/>
      </p:ext>
    </p:extLst>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200852"/>
            <a:ext cx="10058400" cy="618954"/>
          </a:xfrm>
        </p:spPr>
        <p:txBody>
          <a:bodyPr>
            <a:noAutofit/>
          </a:bodyPr>
          <a:lstStyle/>
          <a:p>
            <a:pPr algn="ctr"/>
            <a:r>
              <a:rPr lang="fr-FR" sz="2000" dirty="0"/>
              <a:t>Définir les variables, les tableaux, les interfaces et les génériques</a:t>
            </a:r>
            <a:br>
              <a:rPr lang="fr-FR" sz="2000" dirty="0"/>
            </a:br>
            <a:endParaRPr lang="fr-FR" sz="2000" dirty="0"/>
          </a:p>
        </p:txBody>
      </p:sp>
      <p:sp>
        <p:nvSpPr>
          <p:cNvPr id="3" name="Espace réservé du contenu 2"/>
          <p:cNvSpPr>
            <a:spLocks noGrp="1"/>
          </p:cNvSpPr>
          <p:nvPr>
            <p:ph idx="1"/>
          </p:nvPr>
        </p:nvSpPr>
        <p:spPr>
          <a:xfrm>
            <a:off x="204952" y="819806"/>
            <a:ext cx="10923296" cy="5312980"/>
          </a:xfrm>
        </p:spPr>
        <p:txBody>
          <a:bodyPr>
            <a:normAutofit/>
          </a:bodyPr>
          <a:lstStyle/>
          <a:p>
            <a:r>
              <a:rPr lang="fr-FR" dirty="0"/>
              <a:t>Variables : Déclaration avec let, </a:t>
            </a:r>
            <a:r>
              <a:rPr lang="fr-FR" dirty="0" err="1"/>
              <a:t>const</a:t>
            </a:r>
            <a:r>
              <a:rPr lang="fr-FR" dirty="0"/>
              <a:t>, et typage </a:t>
            </a:r>
            <a:r>
              <a:rPr lang="fr-FR" dirty="0" smtClean="0"/>
              <a:t>explicite</a:t>
            </a:r>
            <a:r>
              <a:rPr lang="fr-FR" dirty="0"/>
              <a:t>:</a:t>
            </a:r>
            <a:endParaRPr lang="fr-FR" dirty="0" smtClean="0"/>
          </a:p>
          <a:p>
            <a:endParaRPr lang="fr-FR" dirty="0"/>
          </a:p>
          <a:p>
            <a:endParaRPr lang="fr-FR" dirty="0" smtClean="0"/>
          </a:p>
          <a:p>
            <a:r>
              <a:rPr lang="fr-FR" dirty="0"/>
              <a:t>Tableaux : Définition avec types génériques (</a:t>
            </a:r>
            <a:r>
              <a:rPr lang="fr-FR" dirty="0" err="1"/>
              <a:t>Array</a:t>
            </a:r>
            <a:r>
              <a:rPr lang="fr-FR" dirty="0"/>
              <a:t>&lt;T&gt;) ou type</a:t>
            </a:r>
            <a:r>
              <a:rPr lang="fr-FR" dirty="0" smtClean="0"/>
              <a:t>[] :</a:t>
            </a:r>
          </a:p>
          <a:p>
            <a:endParaRPr lang="fr-FR" dirty="0"/>
          </a:p>
          <a:p>
            <a:endParaRPr lang="fr-FR" dirty="0" smtClean="0"/>
          </a:p>
          <a:p>
            <a:r>
              <a:rPr lang="fr-FR" b="1" dirty="0"/>
              <a:t>Interfaces</a:t>
            </a:r>
            <a:r>
              <a:rPr lang="fr-FR" dirty="0"/>
              <a:t> : Utilisées pour structurer des </a:t>
            </a:r>
            <a:r>
              <a:rPr lang="fr-FR" dirty="0" smtClean="0"/>
              <a:t>objets</a:t>
            </a:r>
            <a:r>
              <a:rPr lang="fr-FR" dirty="0"/>
              <a:t>:</a:t>
            </a:r>
            <a:endParaRPr lang="fr-FR" dirty="0" smtClean="0"/>
          </a:p>
          <a:p>
            <a:endParaRPr lang="fr-FR" dirty="0"/>
          </a:p>
          <a:p>
            <a:endParaRPr lang="fr-FR" dirty="0" smtClean="0"/>
          </a:p>
          <a:p>
            <a:r>
              <a:rPr lang="fr-FR" b="1" dirty="0"/>
              <a:t>Génériques</a:t>
            </a:r>
            <a:r>
              <a:rPr lang="fr-FR" dirty="0"/>
              <a:t> : Rendent le code réutilisable avec des types </a:t>
            </a:r>
            <a:r>
              <a:rPr lang="fr-FR" dirty="0" smtClean="0"/>
              <a:t>dynamiques :</a:t>
            </a:r>
            <a:endParaRPr lang="fr-FR" dirty="0"/>
          </a:p>
        </p:txBody>
      </p:sp>
      <p:pic>
        <p:nvPicPr>
          <p:cNvPr id="5" name="Image 4"/>
          <p:cNvPicPr>
            <a:picLocks noChangeAspect="1"/>
          </p:cNvPicPr>
          <p:nvPr/>
        </p:nvPicPr>
        <p:blipFill>
          <a:blip r:embed="rId2">
            <a:extLst>
              <a:ext uri="{BEBA8EAE-BF5A-486C-A8C5-ECC9F3942E4B}">
                <a14:imgProps xmlns:a14="http://schemas.microsoft.com/office/drawing/2010/main">
                  <a14:imgLayer r:embed="rId3">
                    <a14:imgEffect>
                      <a14:colorTemperature colorTemp="5300"/>
                    </a14:imgEffect>
                  </a14:imgLayer>
                </a14:imgProps>
              </a:ext>
            </a:extLst>
          </a:blip>
          <a:stretch>
            <a:fillRect/>
          </a:stretch>
        </p:blipFill>
        <p:spPr>
          <a:xfrm>
            <a:off x="8140261" y="819806"/>
            <a:ext cx="3384331" cy="99322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7" name="Image 6"/>
          <p:cNvPicPr>
            <a:picLocks noChangeAspect="1"/>
          </p:cNvPicPr>
          <p:nvPr/>
        </p:nvPicPr>
        <p:blipFill>
          <a:blip r:embed="rId4">
            <a:extLst>
              <a:ext uri="{BEBA8EAE-BF5A-486C-A8C5-ECC9F3942E4B}">
                <a14:imgProps xmlns:a14="http://schemas.microsoft.com/office/drawing/2010/main">
                  <a14:imgLayer r:embed="rId5">
                    <a14:imgEffect>
                      <a14:colorTemperature colorTemp="5300"/>
                    </a14:imgEffect>
                  </a14:imgLayer>
                </a14:imgProps>
              </a:ext>
            </a:extLst>
          </a:blip>
          <a:stretch>
            <a:fillRect/>
          </a:stretch>
        </p:blipFill>
        <p:spPr>
          <a:xfrm>
            <a:off x="8133692" y="2002239"/>
            <a:ext cx="3390900" cy="102474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8" name="Image 7"/>
          <p:cNvPicPr>
            <a:picLocks noChangeAspect="1"/>
          </p:cNvPicPr>
          <p:nvPr/>
        </p:nvPicPr>
        <p:blipFill>
          <a:blip r:embed="rId6">
            <a:extLst>
              <a:ext uri="{BEBA8EAE-BF5A-486C-A8C5-ECC9F3942E4B}">
                <a14:imgProps xmlns:a14="http://schemas.microsoft.com/office/drawing/2010/main">
                  <a14:imgLayer r:embed="rId7">
                    <a14:imgEffect>
                      <a14:colorTemperature colorTemp="5300"/>
                    </a14:imgEffect>
                  </a14:imgLayer>
                </a14:imgProps>
              </a:ext>
            </a:extLst>
          </a:blip>
          <a:stretch>
            <a:fillRect/>
          </a:stretch>
        </p:blipFill>
        <p:spPr>
          <a:xfrm>
            <a:off x="8133692" y="3343951"/>
            <a:ext cx="3390900" cy="120967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9" name="Image 8"/>
          <p:cNvPicPr>
            <a:picLocks noChangeAspect="1"/>
          </p:cNvPicPr>
          <p:nvPr/>
        </p:nvPicPr>
        <p:blipFill>
          <a:blip r:embed="rId8">
            <a:extLst>
              <a:ext uri="{BEBA8EAE-BF5A-486C-A8C5-ECC9F3942E4B}">
                <a14:imgProps xmlns:a14="http://schemas.microsoft.com/office/drawing/2010/main">
                  <a14:imgLayer r:embed="rId9">
                    <a14:imgEffect>
                      <a14:colorTemperature colorTemp="5300"/>
                    </a14:imgEffect>
                  </a14:imgLayer>
                </a14:imgProps>
              </a:ext>
            </a:extLst>
          </a:blip>
          <a:stretch>
            <a:fillRect/>
          </a:stretch>
        </p:blipFill>
        <p:spPr>
          <a:xfrm>
            <a:off x="8140261" y="5236789"/>
            <a:ext cx="3384331" cy="9906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344666144"/>
      </p:ext>
    </p:extLst>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Fonction</a:t>
            </a:r>
            <a:endParaRPr lang="fr-FR" dirty="0"/>
          </a:p>
        </p:txBody>
      </p:sp>
      <p:sp>
        <p:nvSpPr>
          <p:cNvPr id="3" name="Espace réservé du contenu 2"/>
          <p:cNvSpPr>
            <a:spLocks noGrp="1"/>
          </p:cNvSpPr>
          <p:nvPr>
            <p:ph idx="1"/>
          </p:nvPr>
        </p:nvSpPr>
        <p:spPr/>
        <p:txBody>
          <a:bodyPr/>
          <a:lstStyle/>
          <a:p>
            <a:r>
              <a:rPr lang="fr-FR" dirty="0"/>
              <a:t>Type des paramètres et du </a:t>
            </a:r>
            <a:r>
              <a:rPr lang="fr-FR" dirty="0" smtClean="0"/>
              <a:t>retour:</a:t>
            </a:r>
          </a:p>
          <a:p>
            <a:endParaRPr lang="fr-FR" dirty="0"/>
          </a:p>
          <a:p>
            <a:endParaRPr lang="fr-FR" dirty="0" smtClean="0"/>
          </a:p>
          <a:p>
            <a:endParaRPr lang="fr-FR" dirty="0"/>
          </a:p>
          <a:p>
            <a:endParaRPr lang="fr-FR" dirty="0" smtClean="0"/>
          </a:p>
          <a:p>
            <a:r>
              <a:rPr lang="fr-FR" dirty="0"/>
              <a:t>Paramètres optionnels (?) et valeurs par </a:t>
            </a:r>
            <a:r>
              <a:rPr lang="fr-FR" dirty="0" smtClean="0"/>
              <a:t>défaut :</a:t>
            </a:r>
            <a:endParaRPr lang="fr-FR" dirty="0"/>
          </a:p>
        </p:txBody>
      </p:sp>
      <p:pic>
        <p:nvPicPr>
          <p:cNvPr id="4" name="Image 3"/>
          <p:cNvPicPr>
            <a:picLocks noChangeAspect="1"/>
          </p:cNvPicPr>
          <p:nvPr/>
        </p:nvPicPr>
        <p:blipFill>
          <a:blip r:embed="rId2">
            <a:extLst>
              <a:ext uri="{BEBA8EAE-BF5A-486C-A8C5-ECC9F3942E4B}">
                <a14:imgProps xmlns:a14="http://schemas.microsoft.com/office/drawing/2010/main">
                  <a14:imgLayer r:embed="rId3">
                    <a14:imgEffect>
                      <a14:colorTemperature colorTemp="5300"/>
                    </a14:imgEffect>
                  </a14:imgLayer>
                </a14:imgProps>
              </a:ext>
            </a:extLst>
          </a:blip>
          <a:stretch>
            <a:fillRect/>
          </a:stretch>
        </p:blipFill>
        <p:spPr>
          <a:xfrm>
            <a:off x="6099048" y="1922080"/>
            <a:ext cx="5141766" cy="160939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6" name="Image 5"/>
          <p:cNvPicPr>
            <a:picLocks noChangeAspect="1"/>
          </p:cNvPicPr>
          <p:nvPr/>
        </p:nvPicPr>
        <p:blipFill>
          <a:blip r:embed="rId4">
            <a:extLst>
              <a:ext uri="{BEBA8EAE-BF5A-486C-A8C5-ECC9F3942E4B}">
                <a14:imgProps xmlns:a14="http://schemas.microsoft.com/office/drawing/2010/main">
                  <a14:imgLayer r:embed="rId5">
                    <a14:imgEffect>
                      <a14:colorTemperature colorTemp="5300"/>
                    </a14:imgEffect>
                  </a14:imgLayer>
                </a14:imgProps>
              </a:ext>
            </a:extLst>
          </a:blip>
          <a:stretch>
            <a:fillRect/>
          </a:stretch>
        </p:blipFill>
        <p:spPr>
          <a:xfrm>
            <a:off x="6099048" y="4818500"/>
            <a:ext cx="5141766" cy="13537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35777703"/>
      </p:ext>
    </p:extLst>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ctrTitle"/>
          </p:nvPr>
        </p:nvSpPr>
        <p:spPr/>
        <p:txBody>
          <a:bodyPr/>
          <a:lstStyle/>
          <a:p>
            <a:r>
              <a:rPr lang="fr-FR" dirty="0" smtClean="0"/>
              <a:t>Les composants</a:t>
            </a:r>
            <a:endParaRPr lang="fr-FR" dirty="0"/>
          </a:p>
        </p:txBody>
      </p:sp>
      <p:sp>
        <p:nvSpPr>
          <p:cNvPr id="5" name="Sous-titre 4"/>
          <p:cNvSpPr>
            <a:spLocks noGrp="1"/>
          </p:cNvSpPr>
          <p:nvPr>
            <p:ph type="subTitle" idx="1"/>
          </p:nvPr>
        </p:nvSpPr>
        <p:spPr/>
        <p:txBody>
          <a:bodyPr/>
          <a:lstStyle/>
          <a:p>
            <a:r>
              <a:rPr lang="fr-FR" dirty="0" smtClean="0"/>
              <a:t>Construire votre application </a:t>
            </a:r>
            <a:r>
              <a:rPr lang="fr-FR" dirty="0" err="1" smtClean="0"/>
              <a:t>Angular</a:t>
            </a:r>
            <a:endParaRPr lang="fr-FR" dirty="0"/>
          </a:p>
        </p:txBody>
      </p:sp>
    </p:spTree>
    <p:extLst>
      <p:ext uri="{BB962C8B-B14F-4D97-AF65-F5344CB8AC3E}">
        <p14:creationId xmlns:p14="http://schemas.microsoft.com/office/powerpoint/2010/main" val="1929786896"/>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ctrTitle"/>
          </p:nvPr>
        </p:nvSpPr>
        <p:spPr/>
        <p:txBody>
          <a:bodyPr/>
          <a:lstStyle/>
          <a:p>
            <a:pPr algn="ctr"/>
            <a:r>
              <a:rPr lang="fr-FR" sz="5400" smtClean="0"/>
              <a:t>Partie 3: Les Composants</a:t>
            </a:r>
            <a:endParaRPr lang="fr-FR" sz="5400"/>
          </a:p>
        </p:txBody>
      </p:sp>
      <p:sp>
        <p:nvSpPr>
          <p:cNvPr id="5" name="Sous-titre 4"/>
          <p:cNvSpPr>
            <a:spLocks noGrp="1"/>
          </p:cNvSpPr>
          <p:nvPr>
            <p:ph type="subTitle" idx="1"/>
          </p:nvPr>
        </p:nvSpPr>
        <p:spPr/>
        <p:txBody>
          <a:bodyPr/>
          <a:lstStyle/>
          <a:p>
            <a:endParaRPr lang="fr-FR"/>
          </a:p>
        </p:txBody>
      </p:sp>
    </p:spTree>
    <p:extLst>
      <p:ext uri="{BB962C8B-B14F-4D97-AF65-F5344CB8AC3E}">
        <p14:creationId xmlns:p14="http://schemas.microsoft.com/office/powerpoint/2010/main" val="1092690031"/>
      </p:ext>
    </p:extLst>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Les composants </a:t>
            </a:r>
            <a:r>
              <a:rPr lang="fr-FR" dirty="0" err="1" smtClean="0"/>
              <a:t>Angular</a:t>
            </a:r>
            <a:endParaRPr lang="fr-FR" dirty="0"/>
          </a:p>
        </p:txBody>
      </p:sp>
      <p:sp>
        <p:nvSpPr>
          <p:cNvPr id="3" name="Espace réservé du contenu 2"/>
          <p:cNvSpPr>
            <a:spLocks noGrp="1"/>
          </p:cNvSpPr>
          <p:nvPr>
            <p:ph idx="1"/>
          </p:nvPr>
        </p:nvSpPr>
        <p:spPr/>
        <p:txBody>
          <a:bodyPr>
            <a:normAutofit fontScale="92500"/>
          </a:bodyPr>
          <a:lstStyle/>
          <a:p>
            <a:pPr>
              <a:lnSpc>
                <a:spcPct val="200000"/>
              </a:lnSpc>
            </a:pPr>
            <a:r>
              <a:rPr lang="fr-FR" sz="2800" dirty="0"/>
              <a:t>Anatomie d'un composant </a:t>
            </a:r>
            <a:r>
              <a:rPr lang="fr-FR" sz="2800" dirty="0" err="1"/>
              <a:t>Angular</a:t>
            </a:r>
            <a:endParaRPr lang="fr-FR" sz="2800" dirty="0"/>
          </a:p>
          <a:p>
            <a:pPr>
              <a:lnSpc>
                <a:spcPct val="200000"/>
              </a:lnSpc>
            </a:pPr>
            <a:r>
              <a:rPr lang="fr-FR" sz="2800" dirty="0" smtClean="0"/>
              <a:t>Création </a:t>
            </a:r>
            <a:r>
              <a:rPr lang="fr-FR" sz="2800" dirty="0"/>
              <a:t>et utilisation de composants</a:t>
            </a:r>
          </a:p>
          <a:p>
            <a:pPr>
              <a:lnSpc>
                <a:spcPct val="200000"/>
              </a:lnSpc>
            </a:pPr>
            <a:r>
              <a:rPr lang="fr-FR" sz="2800" dirty="0" smtClean="0"/>
              <a:t>Communication </a:t>
            </a:r>
            <a:r>
              <a:rPr lang="fr-FR" sz="2800" dirty="0"/>
              <a:t>entre composants</a:t>
            </a:r>
          </a:p>
          <a:p>
            <a:pPr>
              <a:lnSpc>
                <a:spcPct val="200000"/>
              </a:lnSpc>
            </a:pPr>
            <a:r>
              <a:rPr lang="fr-FR" sz="2800" dirty="0" smtClean="0"/>
              <a:t>Mise </a:t>
            </a:r>
            <a:r>
              <a:rPr lang="fr-FR" sz="2800" dirty="0"/>
              <a:t>en œuvre des crochets de cycle de vie des composants</a:t>
            </a:r>
          </a:p>
          <a:p>
            <a:pPr>
              <a:lnSpc>
                <a:spcPct val="200000"/>
              </a:lnSpc>
            </a:pPr>
            <a:endParaRPr lang="fr-FR" sz="2800" dirty="0"/>
          </a:p>
        </p:txBody>
      </p:sp>
    </p:spTree>
    <p:extLst>
      <p:ext uri="{BB962C8B-B14F-4D97-AF65-F5344CB8AC3E}">
        <p14:creationId xmlns:p14="http://schemas.microsoft.com/office/powerpoint/2010/main" val="3395534120"/>
      </p:ext>
    </p:extLst>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Notion de Composant </a:t>
            </a:r>
            <a:endParaRPr lang="fr-FR" dirty="0"/>
          </a:p>
        </p:txBody>
      </p:sp>
      <p:sp>
        <p:nvSpPr>
          <p:cNvPr id="3" name="Espace réservé du contenu 2"/>
          <p:cNvSpPr>
            <a:spLocks noGrp="1"/>
          </p:cNvSpPr>
          <p:nvPr>
            <p:ph idx="1"/>
          </p:nvPr>
        </p:nvSpPr>
        <p:spPr>
          <a:xfrm>
            <a:off x="881666" y="1677727"/>
            <a:ext cx="10434764" cy="4375385"/>
          </a:xfrm>
        </p:spPr>
        <p:txBody>
          <a:bodyPr>
            <a:normAutofit fontScale="92500" lnSpcReduction="20000"/>
          </a:bodyPr>
          <a:lstStyle/>
          <a:p>
            <a:pPr>
              <a:lnSpc>
                <a:spcPct val="150000"/>
              </a:lnSpc>
            </a:pPr>
            <a:r>
              <a:rPr lang="fr-FR" sz="2800" dirty="0"/>
              <a:t>Un composant </a:t>
            </a:r>
            <a:r>
              <a:rPr lang="fr-FR" sz="2800" b="1" dirty="0"/>
              <a:t>Angular</a:t>
            </a:r>
            <a:r>
              <a:rPr lang="fr-FR" sz="2800" dirty="0"/>
              <a:t> est un </a:t>
            </a:r>
            <a:r>
              <a:rPr lang="fr-FR" sz="2800" b="1" dirty="0"/>
              <a:t>bout d’interface</a:t>
            </a:r>
            <a:r>
              <a:rPr lang="fr-FR" sz="2800" dirty="0"/>
              <a:t> de votre application.</a:t>
            </a:r>
          </a:p>
          <a:p>
            <a:pPr>
              <a:lnSpc>
                <a:spcPct val="150000"/>
              </a:lnSpc>
            </a:pPr>
            <a:r>
              <a:rPr lang="fr-FR" sz="2800" dirty="0"/>
              <a:t>Un composant peut contenir :</a:t>
            </a:r>
          </a:p>
          <a:p>
            <a:pPr lvl="1">
              <a:lnSpc>
                <a:spcPct val="150000"/>
              </a:lnSpc>
            </a:pPr>
            <a:r>
              <a:rPr lang="fr-FR" sz="2400" dirty="0"/>
              <a:t>Un bouton</a:t>
            </a:r>
          </a:p>
          <a:p>
            <a:pPr lvl="1">
              <a:lnSpc>
                <a:spcPct val="150000"/>
              </a:lnSpc>
            </a:pPr>
            <a:r>
              <a:rPr lang="fr-FR" sz="2400" dirty="0"/>
              <a:t>Une image</a:t>
            </a:r>
          </a:p>
          <a:p>
            <a:pPr lvl="1">
              <a:lnSpc>
                <a:spcPct val="150000"/>
              </a:lnSpc>
            </a:pPr>
            <a:r>
              <a:rPr lang="fr-FR" sz="2400" dirty="0"/>
              <a:t>Un menu de navigation</a:t>
            </a:r>
          </a:p>
          <a:p>
            <a:pPr lvl="1">
              <a:lnSpc>
                <a:spcPct val="150000"/>
              </a:lnSpc>
            </a:pPr>
            <a:r>
              <a:rPr lang="fr-FR" sz="2400" dirty="0"/>
              <a:t>Une page entière</a:t>
            </a:r>
          </a:p>
          <a:p>
            <a:pPr lvl="1">
              <a:lnSpc>
                <a:spcPct val="150000"/>
              </a:lnSpc>
            </a:pPr>
            <a:r>
              <a:rPr lang="fr-FR" sz="2400" dirty="0"/>
              <a:t>…</a:t>
            </a:r>
          </a:p>
          <a:p>
            <a:pPr>
              <a:lnSpc>
                <a:spcPct val="150000"/>
              </a:lnSpc>
            </a:pPr>
            <a:endParaRPr lang="fr-FR" sz="2800" dirty="0"/>
          </a:p>
        </p:txBody>
      </p:sp>
    </p:spTree>
    <p:extLst>
      <p:ext uri="{BB962C8B-B14F-4D97-AF65-F5344CB8AC3E}">
        <p14:creationId xmlns:p14="http://schemas.microsoft.com/office/powerpoint/2010/main" val="4130070461"/>
      </p:ext>
    </p:extLst>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93595" y="0"/>
            <a:ext cx="10058400" cy="1609344"/>
          </a:xfrm>
        </p:spPr>
        <p:txBody>
          <a:bodyPr/>
          <a:lstStyle/>
          <a:p>
            <a:pPr algn="ctr"/>
            <a:r>
              <a:rPr lang="fr-FR" dirty="0" smtClean="0"/>
              <a:t>Composant Angular</a:t>
            </a:r>
            <a:endParaRPr lang="fr-FR" dirty="0"/>
          </a:p>
        </p:txBody>
      </p:sp>
      <p:sp>
        <p:nvSpPr>
          <p:cNvPr id="3" name="Espace réservé du contenu 2"/>
          <p:cNvSpPr>
            <a:spLocks noGrp="1"/>
          </p:cNvSpPr>
          <p:nvPr>
            <p:ph idx="1"/>
          </p:nvPr>
        </p:nvSpPr>
        <p:spPr>
          <a:xfrm>
            <a:off x="740978" y="1313283"/>
            <a:ext cx="10763633" cy="4625266"/>
          </a:xfrm>
        </p:spPr>
        <p:txBody>
          <a:bodyPr>
            <a:noAutofit/>
          </a:bodyPr>
          <a:lstStyle/>
          <a:p>
            <a:pPr marL="0" indent="0" algn="just">
              <a:lnSpc>
                <a:spcPct val="150000"/>
              </a:lnSpc>
              <a:buNone/>
            </a:pPr>
            <a:r>
              <a:rPr lang="fr-FR" sz="2400" dirty="0"/>
              <a:t>Un composant </a:t>
            </a:r>
            <a:r>
              <a:rPr lang="fr-FR" sz="2400" b="1" dirty="0"/>
              <a:t>Angular</a:t>
            </a:r>
            <a:r>
              <a:rPr lang="fr-FR" sz="2400" dirty="0"/>
              <a:t> est constitué de deux parties :</a:t>
            </a:r>
          </a:p>
          <a:p>
            <a:pPr algn="just">
              <a:lnSpc>
                <a:spcPct val="150000"/>
              </a:lnSpc>
            </a:pPr>
            <a:r>
              <a:rPr lang="fr-FR" sz="2400" dirty="0"/>
              <a:t>La </a:t>
            </a:r>
            <a:r>
              <a:rPr lang="fr-FR" sz="2400" b="1" dirty="0"/>
              <a:t>classe</a:t>
            </a:r>
            <a:r>
              <a:rPr lang="fr-FR" sz="2400" dirty="0"/>
              <a:t>. C’est là qu’on trouve les données à afficher et la logique applicative.</a:t>
            </a:r>
          </a:p>
          <a:p>
            <a:pPr algn="just">
              <a:lnSpc>
                <a:spcPct val="150000"/>
              </a:lnSpc>
            </a:pPr>
            <a:r>
              <a:rPr lang="fr-FR" sz="2400" dirty="0"/>
              <a:t>Le </a:t>
            </a:r>
            <a:r>
              <a:rPr lang="fr-FR" sz="2400" b="1" dirty="0" smtClean="0"/>
              <a:t>Template</a:t>
            </a:r>
            <a:r>
              <a:rPr lang="fr-FR" sz="2400" dirty="0" smtClean="0"/>
              <a:t>. </a:t>
            </a:r>
            <a:r>
              <a:rPr lang="fr-FR" sz="2400" dirty="0"/>
              <a:t>C’est la partie du composant qui sera affichée à l’utilisateur.</a:t>
            </a:r>
          </a:p>
          <a:p>
            <a:pPr marL="0" indent="0" algn="just">
              <a:lnSpc>
                <a:spcPct val="150000"/>
              </a:lnSpc>
              <a:buNone/>
            </a:pPr>
            <a:r>
              <a:rPr lang="fr-FR" sz="2400" dirty="0"/>
              <a:t>Pour faire une analogie avec le pattern MVC (</a:t>
            </a:r>
            <a:r>
              <a:rPr lang="fr-FR" sz="2400" i="1" dirty="0"/>
              <a:t>Model-</a:t>
            </a:r>
            <a:r>
              <a:rPr lang="fr-FR" sz="2400" i="1" dirty="0" err="1"/>
              <a:t>View</a:t>
            </a:r>
            <a:r>
              <a:rPr lang="fr-FR" sz="2400" i="1" dirty="0"/>
              <a:t>-Controller</a:t>
            </a:r>
            <a:r>
              <a:rPr lang="fr-FR" sz="2400" dirty="0"/>
              <a:t>), on pourrait dire :</a:t>
            </a:r>
          </a:p>
          <a:p>
            <a:pPr algn="just">
              <a:lnSpc>
                <a:spcPct val="150000"/>
              </a:lnSpc>
            </a:pPr>
            <a:r>
              <a:rPr lang="fr-FR" sz="2400" dirty="0"/>
              <a:t>Classe ≈ </a:t>
            </a:r>
            <a:r>
              <a:rPr lang="fr-FR" sz="2400" b="1" dirty="0"/>
              <a:t>Contrôleur</a:t>
            </a:r>
            <a:r>
              <a:rPr lang="fr-FR" sz="2400" dirty="0"/>
              <a:t>.</a:t>
            </a:r>
          </a:p>
          <a:p>
            <a:pPr algn="just">
              <a:lnSpc>
                <a:spcPct val="150000"/>
              </a:lnSpc>
            </a:pPr>
            <a:r>
              <a:rPr lang="fr-FR" sz="2400" dirty="0"/>
              <a:t>Template ≈ </a:t>
            </a:r>
            <a:r>
              <a:rPr lang="fr-FR" sz="2400" b="1" dirty="0"/>
              <a:t>Vue</a:t>
            </a:r>
            <a:r>
              <a:rPr lang="fr-FR" sz="2400" dirty="0"/>
              <a:t>.</a:t>
            </a:r>
          </a:p>
          <a:p>
            <a:pPr algn="just">
              <a:lnSpc>
                <a:spcPct val="150000"/>
              </a:lnSpc>
            </a:pPr>
            <a:endParaRPr lang="fr-FR" sz="2400" dirty="0"/>
          </a:p>
        </p:txBody>
      </p:sp>
    </p:spTree>
    <p:extLst>
      <p:ext uri="{BB962C8B-B14F-4D97-AF65-F5344CB8AC3E}">
        <p14:creationId xmlns:p14="http://schemas.microsoft.com/office/powerpoint/2010/main" val="54764302"/>
      </p:ext>
    </p:extLst>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629052" y="242426"/>
            <a:ext cx="7240628" cy="869097"/>
          </a:xfrm>
        </p:spPr>
        <p:txBody>
          <a:bodyPr/>
          <a:lstStyle/>
          <a:p>
            <a:pPr algn="ctr"/>
            <a:r>
              <a:rPr lang="fr-FR" dirty="0"/>
              <a:t>C</a:t>
            </a:r>
            <a:r>
              <a:rPr lang="fr-FR" dirty="0" smtClean="0"/>
              <a:t>omponents</a:t>
            </a:r>
            <a:endParaRPr lang="fr-FR" dirty="0"/>
          </a:p>
        </p:txBody>
      </p:sp>
      <p:pic>
        <p:nvPicPr>
          <p:cNvPr id="4" name="Image 3"/>
          <p:cNvPicPr>
            <a:picLocks noChangeAspect="1"/>
          </p:cNvPicPr>
          <p:nvPr/>
        </p:nvPicPr>
        <p:blipFill>
          <a:blip r:embed="rId2"/>
          <a:stretch>
            <a:fillRect/>
          </a:stretch>
        </p:blipFill>
        <p:spPr>
          <a:xfrm>
            <a:off x="993227" y="1111523"/>
            <a:ext cx="9610659" cy="500538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565221424"/>
      </p:ext>
    </p:extLst>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216618"/>
            <a:ext cx="10058400" cy="555892"/>
          </a:xfrm>
        </p:spPr>
        <p:txBody>
          <a:bodyPr>
            <a:normAutofit fontScale="90000"/>
          </a:bodyPr>
          <a:lstStyle/>
          <a:p>
            <a:pPr algn="ctr"/>
            <a:r>
              <a:rPr lang="fr-FR" sz="4000" dirty="0"/>
              <a:t>Anatomie d'un composant </a:t>
            </a:r>
            <a:r>
              <a:rPr lang="fr-FR" sz="4000" dirty="0" err="1" smtClean="0"/>
              <a:t>Angular</a:t>
            </a:r>
            <a:endParaRPr lang="fr-FR" sz="4000" dirty="0"/>
          </a:p>
        </p:txBody>
      </p:sp>
      <p:sp>
        <p:nvSpPr>
          <p:cNvPr id="3" name="Espace réservé du contenu 2"/>
          <p:cNvSpPr>
            <a:spLocks noGrp="1"/>
          </p:cNvSpPr>
          <p:nvPr>
            <p:ph idx="1"/>
          </p:nvPr>
        </p:nvSpPr>
        <p:spPr>
          <a:xfrm>
            <a:off x="1069848" y="1277007"/>
            <a:ext cx="10058400" cy="4895193"/>
          </a:xfrm>
        </p:spPr>
        <p:txBody>
          <a:bodyPr>
            <a:normAutofit fontScale="85000" lnSpcReduction="10000"/>
          </a:bodyPr>
          <a:lstStyle/>
          <a:p>
            <a:pPr algn="just">
              <a:lnSpc>
                <a:spcPct val="150000"/>
              </a:lnSpc>
            </a:pPr>
            <a:r>
              <a:rPr lang="fr-FR" dirty="0"/>
              <a:t>Un composant </a:t>
            </a:r>
            <a:r>
              <a:rPr lang="fr-FR" b="1" dirty="0" err="1"/>
              <a:t>Angular</a:t>
            </a:r>
            <a:r>
              <a:rPr lang="fr-FR" dirty="0"/>
              <a:t> est une unité de base de l'interface utilisateur d'une application. Il est défini par une classe </a:t>
            </a:r>
            <a:r>
              <a:rPr lang="fr-FR" b="1" dirty="0" err="1"/>
              <a:t>TypeScript</a:t>
            </a:r>
            <a:r>
              <a:rPr lang="fr-FR" dirty="0"/>
              <a:t> qui contient la logique métier et une vue HTML qui définit son rendu. Un composant est structuré autour de trois éléments principaux :</a:t>
            </a:r>
          </a:p>
          <a:p>
            <a:pPr lvl="1" algn="just">
              <a:lnSpc>
                <a:spcPct val="150000"/>
              </a:lnSpc>
            </a:pPr>
            <a:r>
              <a:rPr lang="fr-FR" dirty="0"/>
              <a:t>Le décorateur @Component : Il transforme une classe </a:t>
            </a:r>
            <a:r>
              <a:rPr lang="fr-FR" b="1" dirty="0" err="1"/>
              <a:t>TypeScript</a:t>
            </a:r>
            <a:r>
              <a:rPr lang="fr-FR" dirty="0"/>
              <a:t> en un composant </a:t>
            </a:r>
            <a:r>
              <a:rPr lang="fr-FR" b="1" dirty="0" err="1"/>
              <a:t>Angular</a:t>
            </a:r>
            <a:r>
              <a:rPr lang="fr-FR" dirty="0"/>
              <a:t> et contient des métadonnées, telles que le sélecteur, le fichier de modèle HTML et la feuille de styles associée</a:t>
            </a:r>
            <a:r>
              <a:rPr lang="fr-FR" dirty="0" smtClean="0"/>
              <a:t>.</a:t>
            </a:r>
          </a:p>
          <a:p>
            <a:pPr lvl="1" algn="just">
              <a:lnSpc>
                <a:spcPct val="150000"/>
              </a:lnSpc>
            </a:pPr>
            <a:r>
              <a:rPr lang="fr-FR" dirty="0"/>
              <a:t>Le modèle </a:t>
            </a:r>
            <a:r>
              <a:rPr lang="fr-FR" dirty="0" smtClean="0"/>
              <a:t>(Template) </a:t>
            </a:r>
            <a:r>
              <a:rPr lang="fr-FR" dirty="0"/>
              <a:t>: Il représente la vue du composant et est défini dans un fichier HTML séparé ou directement en ligne dans le décorateur @Component</a:t>
            </a:r>
            <a:r>
              <a:rPr lang="fr-FR" dirty="0" smtClean="0"/>
              <a:t>.</a:t>
            </a:r>
          </a:p>
          <a:p>
            <a:pPr lvl="1" algn="just">
              <a:lnSpc>
                <a:spcPct val="150000"/>
              </a:lnSpc>
            </a:pPr>
            <a:r>
              <a:rPr lang="fr-FR" b="1" dirty="0"/>
              <a:t>La classe </a:t>
            </a:r>
            <a:r>
              <a:rPr lang="fr-FR" b="1" dirty="0" err="1"/>
              <a:t>TypeScript</a:t>
            </a:r>
            <a:r>
              <a:rPr lang="fr-FR" dirty="0"/>
              <a:t> : Elle contient les propriétés et méthodes qui contrôlent le comportement du composant.</a:t>
            </a:r>
          </a:p>
          <a:p>
            <a:pPr lvl="1" algn="just">
              <a:lnSpc>
                <a:spcPct val="150000"/>
              </a:lnSpc>
            </a:pPr>
            <a:r>
              <a:rPr lang="fr-FR" b="1" dirty="0"/>
              <a:t>Les styles (CSS, SCSS, etc.)</a:t>
            </a:r>
            <a:r>
              <a:rPr lang="fr-FR" dirty="0"/>
              <a:t> : Chaque composant peut avoir ses propres styles encapsulés.</a:t>
            </a:r>
          </a:p>
          <a:p>
            <a:pPr lvl="1" algn="just">
              <a:lnSpc>
                <a:spcPct val="150000"/>
              </a:lnSpc>
            </a:pPr>
            <a:endParaRPr lang="fr-FR" dirty="0"/>
          </a:p>
        </p:txBody>
      </p:sp>
    </p:spTree>
    <p:extLst>
      <p:ext uri="{BB962C8B-B14F-4D97-AF65-F5344CB8AC3E}">
        <p14:creationId xmlns:p14="http://schemas.microsoft.com/office/powerpoint/2010/main" val="4221072940"/>
      </p:ext>
    </p:extLst>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Exemple </a:t>
            </a:r>
            <a:endParaRPr lang="fr-FR" dirty="0"/>
          </a:p>
        </p:txBody>
      </p:sp>
      <p:pic>
        <p:nvPicPr>
          <p:cNvPr id="4" name="Espace réservé du contenu 3"/>
          <p:cNvPicPr>
            <a:picLocks noGrp="1" noChangeAspect="1"/>
          </p:cNvPicPr>
          <p:nvPr>
            <p:ph idx="1"/>
          </p:nvPr>
        </p:nvPicPr>
        <p:blipFill>
          <a:blip r:embed="rId2">
            <a:extLst>
              <a:ext uri="{BEBA8EAE-BF5A-486C-A8C5-ECC9F3942E4B}">
                <a14:imgProps xmlns:a14="http://schemas.microsoft.com/office/drawing/2010/main">
                  <a14:imgLayer r:embed="rId3">
                    <a14:imgEffect>
                      <a14:colorTemperature colorTemp="5300"/>
                    </a14:imgEffect>
                  </a14:imgLayer>
                </a14:imgProps>
              </a:ext>
            </a:extLst>
          </a:blip>
          <a:stretch>
            <a:fillRect/>
          </a:stretch>
        </p:blipFill>
        <p:spPr>
          <a:xfrm>
            <a:off x="2128345" y="2093976"/>
            <a:ext cx="8481848" cy="399151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235957328"/>
      </p:ext>
    </p:extLst>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200853"/>
            <a:ext cx="10058400" cy="823906"/>
          </a:xfrm>
        </p:spPr>
        <p:txBody>
          <a:bodyPr>
            <a:normAutofit/>
          </a:bodyPr>
          <a:lstStyle/>
          <a:p>
            <a:pPr algn="ctr"/>
            <a:r>
              <a:rPr lang="fr-FR" sz="3600" dirty="0"/>
              <a:t>Création </a:t>
            </a:r>
            <a:r>
              <a:rPr lang="fr-FR" sz="3600" dirty="0" smtClean="0"/>
              <a:t>de composants</a:t>
            </a:r>
            <a:endParaRPr lang="fr-FR" sz="3600" dirty="0"/>
          </a:p>
        </p:txBody>
      </p:sp>
      <p:sp>
        <p:nvSpPr>
          <p:cNvPr id="3" name="Espace réservé du contenu 2"/>
          <p:cNvSpPr>
            <a:spLocks noGrp="1"/>
          </p:cNvSpPr>
          <p:nvPr>
            <p:ph idx="1"/>
          </p:nvPr>
        </p:nvSpPr>
        <p:spPr>
          <a:xfrm>
            <a:off x="1069848" y="1387366"/>
            <a:ext cx="10058400" cy="4784834"/>
          </a:xfrm>
        </p:spPr>
        <p:txBody>
          <a:bodyPr>
            <a:noAutofit/>
          </a:bodyPr>
          <a:lstStyle/>
          <a:p>
            <a:pPr algn="just">
              <a:lnSpc>
                <a:spcPct val="150000"/>
              </a:lnSpc>
            </a:pPr>
            <a:r>
              <a:rPr lang="fr-FR" sz="2400" dirty="0"/>
              <a:t>Un composant </a:t>
            </a:r>
            <a:r>
              <a:rPr lang="fr-FR" sz="2400" dirty="0" err="1"/>
              <a:t>Angular</a:t>
            </a:r>
            <a:r>
              <a:rPr lang="fr-FR" sz="2400" dirty="0"/>
              <a:t> peut être généré manuellement ou à l’aide de l’outil de ligne de commande </a:t>
            </a:r>
            <a:r>
              <a:rPr lang="fr-FR" sz="2400" dirty="0" err="1"/>
              <a:t>Angular</a:t>
            </a:r>
            <a:r>
              <a:rPr lang="fr-FR" sz="2400" dirty="0"/>
              <a:t> CLI </a:t>
            </a:r>
            <a:r>
              <a:rPr lang="fr-FR" sz="2400" dirty="0" smtClean="0"/>
              <a:t>:</a:t>
            </a:r>
          </a:p>
          <a:p>
            <a:pPr algn="just">
              <a:lnSpc>
                <a:spcPct val="150000"/>
              </a:lnSpc>
            </a:pPr>
            <a:endParaRPr lang="fr-FR" sz="2400" dirty="0"/>
          </a:p>
          <a:p>
            <a:pPr algn="just">
              <a:lnSpc>
                <a:spcPct val="150000"/>
              </a:lnSpc>
            </a:pPr>
            <a:r>
              <a:rPr lang="fr-FR" sz="2400" dirty="0" smtClean="0"/>
              <a:t>Cette </a:t>
            </a:r>
            <a:r>
              <a:rPr lang="fr-FR" sz="2400" dirty="0"/>
              <a:t>commande crée plusieurs fichiers :</a:t>
            </a:r>
          </a:p>
          <a:p>
            <a:pPr lvl="1" algn="just">
              <a:lnSpc>
                <a:spcPct val="150000"/>
              </a:lnSpc>
            </a:pPr>
            <a:r>
              <a:rPr lang="fr-FR" sz="2000" b="1" dirty="0"/>
              <a:t>nom-du-</a:t>
            </a:r>
            <a:r>
              <a:rPr lang="fr-FR" sz="2000" b="1" dirty="0" err="1"/>
              <a:t>composant.component.ts</a:t>
            </a:r>
            <a:r>
              <a:rPr lang="fr-FR" sz="2000" dirty="0"/>
              <a:t> : Contient la classe du composant</a:t>
            </a:r>
            <a:r>
              <a:rPr lang="fr-FR" sz="2000" dirty="0" smtClean="0"/>
              <a:t>.</a:t>
            </a:r>
          </a:p>
          <a:p>
            <a:pPr lvl="1" algn="just">
              <a:lnSpc>
                <a:spcPct val="150000"/>
              </a:lnSpc>
            </a:pPr>
            <a:r>
              <a:rPr lang="fr-FR" sz="2000" b="1" dirty="0" smtClean="0"/>
              <a:t>nom-du-composant.component.html</a:t>
            </a:r>
            <a:r>
              <a:rPr lang="fr-FR" sz="2000" dirty="0" smtClean="0"/>
              <a:t> </a:t>
            </a:r>
            <a:r>
              <a:rPr lang="fr-FR" sz="2000" dirty="0"/>
              <a:t>: Définit la structure de la vue</a:t>
            </a:r>
            <a:r>
              <a:rPr lang="fr-FR" sz="2000" dirty="0" smtClean="0"/>
              <a:t>.</a:t>
            </a:r>
          </a:p>
          <a:p>
            <a:pPr lvl="1" algn="just">
              <a:lnSpc>
                <a:spcPct val="150000"/>
              </a:lnSpc>
            </a:pPr>
            <a:r>
              <a:rPr lang="fr-FR" sz="2000" b="1" dirty="0" smtClean="0"/>
              <a:t>nom-du-composant.component.css</a:t>
            </a:r>
            <a:r>
              <a:rPr lang="fr-FR" sz="2000" dirty="0" smtClean="0"/>
              <a:t> </a:t>
            </a:r>
            <a:r>
              <a:rPr lang="fr-FR" sz="2000" dirty="0"/>
              <a:t>: Contient les styles propres au composant</a:t>
            </a:r>
            <a:r>
              <a:rPr lang="fr-FR" sz="2000" dirty="0" smtClean="0"/>
              <a:t>.</a:t>
            </a:r>
          </a:p>
          <a:p>
            <a:pPr lvl="1" algn="just">
              <a:lnSpc>
                <a:spcPct val="150000"/>
              </a:lnSpc>
            </a:pPr>
            <a:r>
              <a:rPr lang="fr-FR" sz="2000" b="1" dirty="0" smtClean="0"/>
              <a:t>nom-du-</a:t>
            </a:r>
            <a:r>
              <a:rPr lang="fr-FR" sz="2000" b="1" dirty="0" err="1" smtClean="0"/>
              <a:t>composant.component.spec.ts</a:t>
            </a:r>
            <a:r>
              <a:rPr lang="fr-FR" sz="2000" b="1" dirty="0" smtClean="0"/>
              <a:t> </a:t>
            </a:r>
            <a:r>
              <a:rPr lang="fr-FR" sz="2000" dirty="0"/>
              <a:t>: Fichier de tests unitaires.</a:t>
            </a:r>
          </a:p>
          <a:p>
            <a:pPr algn="just">
              <a:lnSpc>
                <a:spcPct val="150000"/>
              </a:lnSpc>
            </a:pPr>
            <a:endParaRPr lang="fr-FR" sz="2400" b="1" dirty="0"/>
          </a:p>
          <a:p>
            <a:pPr algn="just">
              <a:lnSpc>
                <a:spcPct val="150000"/>
              </a:lnSpc>
            </a:pPr>
            <a:endParaRPr lang="fr-FR" sz="2400" dirty="0"/>
          </a:p>
        </p:txBody>
      </p:sp>
      <p:pic>
        <p:nvPicPr>
          <p:cNvPr id="4" name="Image 3"/>
          <p:cNvPicPr>
            <a:picLocks noChangeAspect="1"/>
          </p:cNvPicPr>
          <p:nvPr/>
        </p:nvPicPr>
        <p:blipFill>
          <a:blip r:embed="rId2">
            <a:extLst>
              <a:ext uri="{BEBA8EAE-BF5A-486C-A8C5-ECC9F3942E4B}">
                <a14:imgProps xmlns:a14="http://schemas.microsoft.com/office/drawing/2010/main">
                  <a14:imgLayer r:embed="rId3">
                    <a14:imgEffect>
                      <a14:colorTemperature colorTemp="5300"/>
                    </a14:imgEffect>
                  </a14:imgLayer>
                </a14:imgProps>
              </a:ext>
            </a:extLst>
          </a:blip>
          <a:stretch>
            <a:fillRect/>
          </a:stretch>
        </p:blipFill>
        <p:spPr>
          <a:xfrm>
            <a:off x="4851510" y="2641216"/>
            <a:ext cx="5995166" cy="82719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897396864"/>
      </p:ext>
    </p:extLst>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a:t>Utilisation d’un </a:t>
            </a:r>
            <a:r>
              <a:rPr lang="fr-FR" dirty="0" smtClean="0"/>
              <a:t>composant</a:t>
            </a:r>
            <a:endParaRPr lang="fr-FR" dirty="0"/>
          </a:p>
        </p:txBody>
      </p:sp>
      <p:sp>
        <p:nvSpPr>
          <p:cNvPr id="3" name="Espace réservé du contenu 2"/>
          <p:cNvSpPr>
            <a:spLocks noGrp="1"/>
          </p:cNvSpPr>
          <p:nvPr>
            <p:ph idx="1"/>
          </p:nvPr>
        </p:nvSpPr>
        <p:spPr/>
        <p:txBody>
          <a:bodyPr/>
          <a:lstStyle/>
          <a:p>
            <a:r>
              <a:rPr lang="fr-FR" dirty="0"/>
              <a:t>Un composant est utilisé en l'intégrant dans un autre composant via son sélecteur :</a:t>
            </a:r>
          </a:p>
          <a:p>
            <a:endParaRPr lang="fr-FR" dirty="0"/>
          </a:p>
        </p:txBody>
      </p:sp>
      <p:pic>
        <p:nvPicPr>
          <p:cNvPr id="4" name="Image 3"/>
          <p:cNvPicPr>
            <a:picLocks noChangeAspect="1"/>
          </p:cNvPicPr>
          <p:nvPr/>
        </p:nvPicPr>
        <p:blipFill>
          <a:blip r:embed="rId2">
            <a:extLst>
              <a:ext uri="{BEBA8EAE-BF5A-486C-A8C5-ECC9F3942E4B}">
                <a14:imgProps xmlns:a14="http://schemas.microsoft.com/office/drawing/2010/main">
                  <a14:imgLayer r:embed="rId3">
                    <a14:imgEffect>
                      <a14:colorTemperature colorTemp="5300"/>
                    </a14:imgEffect>
                  </a14:imgLayer>
                </a14:imgProps>
              </a:ext>
            </a:extLst>
          </a:blip>
          <a:stretch>
            <a:fillRect/>
          </a:stretch>
        </p:blipFill>
        <p:spPr>
          <a:xfrm>
            <a:off x="3090041" y="3271837"/>
            <a:ext cx="5186856" cy="62224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597045493"/>
      </p:ext>
    </p:extLst>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4000" dirty="0"/>
              <a:t>Communication entre </a:t>
            </a:r>
            <a:r>
              <a:rPr lang="fr-FR" sz="4000" dirty="0" smtClean="0"/>
              <a:t>composants</a:t>
            </a:r>
            <a:endParaRPr lang="fr-FR" sz="4000" dirty="0"/>
          </a:p>
        </p:txBody>
      </p:sp>
      <p:sp>
        <p:nvSpPr>
          <p:cNvPr id="3" name="Espace réservé du contenu 2"/>
          <p:cNvSpPr>
            <a:spLocks noGrp="1"/>
          </p:cNvSpPr>
          <p:nvPr>
            <p:ph idx="1"/>
          </p:nvPr>
        </p:nvSpPr>
        <p:spPr/>
        <p:txBody>
          <a:bodyPr>
            <a:normAutofit/>
          </a:bodyPr>
          <a:lstStyle/>
          <a:p>
            <a:pPr algn="just">
              <a:lnSpc>
                <a:spcPct val="200000"/>
              </a:lnSpc>
            </a:pPr>
            <a:r>
              <a:rPr lang="fr-FR" sz="2400" dirty="0" err="1"/>
              <a:t>Angular</a:t>
            </a:r>
            <a:r>
              <a:rPr lang="fr-FR" sz="2400" dirty="0"/>
              <a:t> offre plusieurs mécanismes pour permettre la communication entre les composants.</a:t>
            </a:r>
          </a:p>
          <a:p>
            <a:pPr lvl="1" algn="just">
              <a:lnSpc>
                <a:spcPct val="200000"/>
              </a:lnSpc>
            </a:pPr>
            <a:r>
              <a:rPr lang="fr-FR" sz="2000" b="1" dirty="0"/>
              <a:t>Communication parent → enfant (Input)</a:t>
            </a:r>
          </a:p>
          <a:p>
            <a:pPr lvl="1" algn="just">
              <a:lnSpc>
                <a:spcPct val="200000"/>
              </a:lnSpc>
            </a:pPr>
            <a:r>
              <a:rPr lang="fr-FR" sz="2000" b="1" dirty="0" smtClean="0"/>
              <a:t>Communication </a:t>
            </a:r>
            <a:r>
              <a:rPr lang="fr-FR" sz="2000" b="1" dirty="0"/>
              <a:t>enfant → parent (Output)</a:t>
            </a:r>
          </a:p>
          <a:p>
            <a:pPr lvl="1" algn="just">
              <a:lnSpc>
                <a:spcPct val="200000"/>
              </a:lnSpc>
            </a:pPr>
            <a:endParaRPr lang="fr-FR" sz="2000" dirty="0"/>
          </a:p>
        </p:txBody>
      </p:sp>
    </p:spTree>
    <p:extLst>
      <p:ext uri="{BB962C8B-B14F-4D97-AF65-F5344CB8AC3E}">
        <p14:creationId xmlns:p14="http://schemas.microsoft.com/office/powerpoint/2010/main" val="3598004661"/>
      </p:ext>
    </p:extLst>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4000" dirty="0"/>
              <a:t>Communication parent → enfant (Input</a:t>
            </a:r>
            <a:r>
              <a:rPr lang="fr-FR" sz="4000" dirty="0" smtClean="0"/>
              <a:t>)</a:t>
            </a:r>
            <a:endParaRPr lang="fr-FR" sz="4000" dirty="0"/>
          </a:p>
        </p:txBody>
      </p:sp>
      <p:sp>
        <p:nvSpPr>
          <p:cNvPr id="3" name="Espace réservé du contenu 2"/>
          <p:cNvSpPr>
            <a:spLocks noGrp="1"/>
          </p:cNvSpPr>
          <p:nvPr>
            <p:ph idx="1"/>
          </p:nvPr>
        </p:nvSpPr>
        <p:spPr>
          <a:xfrm>
            <a:off x="1069847" y="2121408"/>
            <a:ext cx="10643931" cy="4050792"/>
          </a:xfrm>
        </p:spPr>
        <p:txBody>
          <a:bodyPr/>
          <a:lstStyle/>
          <a:p>
            <a:pPr algn="just">
              <a:lnSpc>
                <a:spcPct val="150000"/>
              </a:lnSpc>
            </a:pPr>
            <a:r>
              <a:rPr lang="fr-FR" dirty="0"/>
              <a:t>Le décorateur @Input permet de transmettre des données d’un composant parent à un composant enfant </a:t>
            </a:r>
            <a:r>
              <a:rPr lang="fr-FR" dirty="0" smtClean="0"/>
              <a:t>:</a:t>
            </a:r>
          </a:p>
          <a:p>
            <a:pPr lvl="1" algn="just">
              <a:lnSpc>
                <a:spcPct val="150000"/>
              </a:lnSpc>
            </a:pPr>
            <a:r>
              <a:rPr lang="fr-FR" dirty="0"/>
              <a:t>Composant enfant (</a:t>
            </a:r>
            <a:r>
              <a:rPr lang="fr-FR" dirty="0" err="1"/>
              <a:t>enfant.component.ts</a:t>
            </a:r>
            <a:r>
              <a:rPr lang="fr-FR" dirty="0"/>
              <a:t>) </a:t>
            </a:r>
            <a:r>
              <a:rPr lang="fr-FR" dirty="0" smtClean="0"/>
              <a:t>               Composant </a:t>
            </a:r>
            <a:r>
              <a:rPr lang="fr-FR" dirty="0"/>
              <a:t>parent (parent.component.html)</a:t>
            </a:r>
          </a:p>
        </p:txBody>
      </p:sp>
      <p:pic>
        <p:nvPicPr>
          <p:cNvPr id="7" name="Image 6"/>
          <p:cNvPicPr>
            <a:picLocks noChangeAspect="1"/>
          </p:cNvPicPr>
          <p:nvPr/>
        </p:nvPicPr>
        <p:blipFill>
          <a:blip r:embed="rId2">
            <a:extLst>
              <a:ext uri="{BEBA8EAE-BF5A-486C-A8C5-ECC9F3942E4B}">
                <a14:imgProps xmlns:a14="http://schemas.microsoft.com/office/drawing/2010/main">
                  <a14:imgLayer r:embed="rId3">
                    <a14:imgEffect>
                      <a14:colorTemperature colorTemp="5300"/>
                    </a14:imgEffect>
                  </a14:imgLayer>
                </a14:imgProps>
              </a:ext>
            </a:extLst>
          </a:blip>
          <a:stretch>
            <a:fillRect/>
          </a:stretch>
        </p:blipFill>
        <p:spPr>
          <a:xfrm>
            <a:off x="1069847" y="3656502"/>
            <a:ext cx="5139066" cy="252562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0" name="Image 9"/>
          <p:cNvPicPr>
            <a:picLocks noChangeAspect="1"/>
          </p:cNvPicPr>
          <p:nvPr/>
        </p:nvPicPr>
        <p:blipFill>
          <a:blip r:embed="rId4">
            <a:extLst>
              <a:ext uri="{BEBA8EAE-BF5A-486C-A8C5-ECC9F3942E4B}">
                <a14:imgProps xmlns:a14="http://schemas.microsoft.com/office/drawing/2010/main">
                  <a14:imgLayer r:embed="rId5">
                    <a14:imgEffect>
                      <a14:colorTemperature colorTemp="5300"/>
                    </a14:imgEffect>
                  </a14:imgLayer>
                </a14:imgProps>
              </a:ext>
            </a:extLst>
          </a:blip>
          <a:stretch>
            <a:fillRect/>
          </a:stretch>
        </p:blipFill>
        <p:spPr>
          <a:xfrm>
            <a:off x="6653049" y="3656502"/>
            <a:ext cx="5328744" cy="98060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795003279"/>
      </p:ext>
    </p:extLst>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153556"/>
            <a:ext cx="10058400" cy="839671"/>
          </a:xfrm>
        </p:spPr>
        <p:txBody>
          <a:bodyPr>
            <a:normAutofit/>
          </a:bodyPr>
          <a:lstStyle/>
          <a:p>
            <a:pPr algn="ctr"/>
            <a:r>
              <a:rPr lang="fr-FR" sz="3200" dirty="0"/>
              <a:t>Communication enfant → parent (Output</a:t>
            </a:r>
            <a:r>
              <a:rPr lang="fr-FR" sz="3200" dirty="0" smtClean="0"/>
              <a:t>)</a:t>
            </a:r>
            <a:endParaRPr lang="fr-FR" sz="3200" dirty="0"/>
          </a:p>
        </p:txBody>
      </p:sp>
      <p:sp>
        <p:nvSpPr>
          <p:cNvPr id="3" name="Espace réservé du contenu 2"/>
          <p:cNvSpPr>
            <a:spLocks noGrp="1"/>
          </p:cNvSpPr>
          <p:nvPr>
            <p:ph idx="1"/>
          </p:nvPr>
        </p:nvSpPr>
        <p:spPr>
          <a:xfrm>
            <a:off x="1069848" y="993227"/>
            <a:ext cx="10058400" cy="5178973"/>
          </a:xfrm>
        </p:spPr>
        <p:txBody>
          <a:bodyPr/>
          <a:lstStyle/>
          <a:p>
            <a:pPr algn="just">
              <a:lnSpc>
                <a:spcPct val="150000"/>
              </a:lnSpc>
            </a:pPr>
            <a:r>
              <a:rPr lang="fr-FR" dirty="0"/>
              <a:t>Le décorateur @Output et </a:t>
            </a:r>
            <a:r>
              <a:rPr lang="fr-FR" dirty="0" err="1"/>
              <a:t>EventEmitter</a:t>
            </a:r>
            <a:r>
              <a:rPr lang="fr-FR" dirty="0"/>
              <a:t> permettent d’envoyer des événements du composant enfant vers le parent :</a:t>
            </a:r>
          </a:p>
        </p:txBody>
      </p:sp>
      <p:pic>
        <p:nvPicPr>
          <p:cNvPr id="5" name="Image 4"/>
          <p:cNvPicPr>
            <a:picLocks noChangeAspect="1"/>
          </p:cNvPicPr>
          <p:nvPr/>
        </p:nvPicPr>
        <p:blipFill>
          <a:blip r:embed="rId2">
            <a:extLst>
              <a:ext uri="{BEBA8EAE-BF5A-486C-A8C5-ECC9F3942E4B}">
                <a14:imgProps xmlns:a14="http://schemas.microsoft.com/office/drawing/2010/main">
                  <a14:imgLayer r:embed="rId3">
                    <a14:imgEffect>
                      <a14:colorTemperature colorTemp="5300"/>
                    </a14:imgEffect>
                  </a14:imgLayer>
                </a14:imgProps>
              </a:ext>
            </a:extLst>
          </a:blip>
          <a:stretch>
            <a:fillRect/>
          </a:stretch>
        </p:blipFill>
        <p:spPr>
          <a:xfrm>
            <a:off x="1403131" y="2002220"/>
            <a:ext cx="9065171" cy="450893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807952545"/>
      </p:ext>
    </p:extLst>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pPr algn="ctr"/>
            <a:r>
              <a:rPr lang="fr-FR" sz="2400" dirty="0"/>
              <a:t>Mise en œuvre des crochets de cycle de vie des composants</a:t>
            </a:r>
            <a:br>
              <a:rPr lang="fr-FR" sz="2400" dirty="0"/>
            </a:br>
            <a:endParaRPr lang="fr-FR" sz="2400" dirty="0"/>
          </a:p>
        </p:txBody>
      </p:sp>
      <p:sp>
        <p:nvSpPr>
          <p:cNvPr id="3" name="Espace réservé du contenu 2"/>
          <p:cNvSpPr>
            <a:spLocks noGrp="1"/>
          </p:cNvSpPr>
          <p:nvPr>
            <p:ph idx="1"/>
          </p:nvPr>
        </p:nvSpPr>
        <p:spPr>
          <a:xfrm>
            <a:off x="1069848" y="1743035"/>
            <a:ext cx="10058400" cy="4050792"/>
          </a:xfrm>
        </p:spPr>
        <p:txBody>
          <a:bodyPr/>
          <a:lstStyle/>
          <a:p>
            <a:pPr algn="just">
              <a:lnSpc>
                <a:spcPct val="150000"/>
              </a:lnSpc>
            </a:pPr>
            <a:r>
              <a:rPr lang="fr-FR" b="1" dirty="0" err="1"/>
              <a:t>Angular</a:t>
            </a:r>
            <a:r>
              <a:rPr lang="fr-FR" dirty="0"/>
              <a:t> fournit plusieurs méthodes appelées </a:t>
            </a:r>
            <a:r>
              <a:rPr lang="fr-FR" b="1" dirty="0"/>
              <a:t>crochets de cycle de vie</a:t>
            </a:r>
            <a:r>
              <a:rPr lang="fr-FR" dirty="0"/>
              <a:t> permettant d'exécuter du code à des moments spécifiques du cycle de vie d'un composant.</a:t>
            </a:r>
          </a:p>
          <a:p>
            <a:pPr algn="just">
              <a:lnSpc>
                <a:spcPct val="150000"/>
              </a:lnSpc>
            </a:pPr>
            <a:endParaRPr lang="fr-FR" dirty="0"/>
          </a:p>
        </p:txBody>
      </p:sp>
      <p:pic>
        <p:nvPicPr>
          <p:cNvPr id="4" name="Image 3"/>
          <p:cNvPicPr>
            <a:picLocks noChangeAspect="1"/>
          </p:cNvPicPr>
          <p:nvPr/>
        </p:nvPicPr>
        <p:blipFill>
          <a:blip r:embed="rId2"/>
          <a:stretch>
            <a:fillRect/>
          </a:stretch>
        </p:blipFill>
        <p:spPr>
          <a:xfrm>
            <a:off x="1755648" y="2832847"/>
            <a:ext cx="8686800" cy="3284175"/>
          </a:xfrm>
          <a:prstGeom prst="rect">
            <a:avLst/>
          </a:prstGeom>
        </p:spPr>
      </p:pic>
    </p:spTree>
    <p:extLst>
      <p:ext uri="{BB962C8B-B14F-4D97-AF65-F5344CB8AC3E}">
        <p14:creationId xmlns:p14="http://schemas.microsoft.com/office/powerpoint/2010/main" val="3000403943"/>
      </p:ext>
    </p:extLst>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2800" dirty="0"/>
              <a:t>Exemple d'utilisation de </a:t>
            </a:r>
            <a:r>
              <a:rPr lang="fr-FR" sz="2800" dirty="0" err="1"/>
              <a:t>ngOnInit</a:t>
            </a:r>
            <a:r>
              <a:rPr lang="fr-FR" sz="2800" dirty="0"/>
              <a:t> et </a:t>
            </a:r>
            <a:r>
              <a:rPr lang="fr-FR" sz="2800" dirty="0" err="1"/>
              <a:t>ngOnDestroy</a:t>
            </a:r>
            <a:endParaRPr lang="fr-FR" sz="2800" dirty="0"/>
          </a:p>
        </p:txBody>
      </p:sp>
      <p:pic>
        <p:nvPicPr>
          <p:cNvPr id="5" name="Espace réservé du contenu 4"/>
          <p:cNvPicPr>
            <a:picLocks noGrp="1" noChangeAspect="1"/>
          </p:cNvPicPr>
          <p:nvPr>
            <p:ph idx="1"/>
          </p:nvPr>
        </p:nvPicPr>
        <p:blipFill>
          <a:blip r:embed="rId2">
            <a:extLst>
              <a:ext uri="{BEBA8EAE-BF5A-486C-A8C5-ECC9F3942E4B}">
                <a14:imgProps xmlns:a14="http://schemas.microsoft.com/office/drawing/2010/main">
                  <a14:imgLayer r:embed="rId3">
                    <a14:imgEffect>
                      <a14:colorTemperature colorTemp="5300"/>
                    </a14:imgEffect>
                  </a14:imgLayer>
                </a14:imgProps>
              </a:ext>
            </a:extLst>
          </a:blip>
          <a:stretch>
            <a:fillRect/>
          </a:stretch>
        </p:blipFill>
        <p:spPr>
          <a:xfrm>
            <a:off x="1781503" y="2093975"/>
            <a:ext cx="8387256" cy="433835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106219495"/>
      </p:ext>
    </p:extLst>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703142" y="144713"/>
            <a:ext cx="10058400" cy="780197"/>
          </a:xfrm>
        </p:spPr>
        <p:txBody>
          <a:bodyPr/>
          <a:lstStyle/>
          <a:p>
            <a:pPr algn="ctr"/>
            <a:r>
              <a:rPr lang="fr-FR" dirty="0" smtClean="0"/>
              <a:t>Data Binding</a:t>
            </a:r>
            <a:endParaRPr lang="fr-FR" dirty="0"/>
          </a:p>
        </p:txBody>
      </p:sp>
      <p:pic>
        <p:nvPicPr>
          <p:cNvPr id="4" name="Image 3"/>
          <p:cNvPicPr>
            <a:picLocks noChangeAspect="1"/>
          </p:cNvPicPr>
          <p:nvPr/>
        </p:nvPicPr>
        <p:blipFill>
          <a:blip r:embed="rId2"/>
          <a:stretch>
            <a:fillRect/>
          </a:stretch>
        </p:blipFill>
        <p:spPr>
          <a:xfrm>
            <a:off x="953248" y="1066800"/>
            <a:ext cx="10058400" cy="5029200"/>
          </a:xfrm>
          <a:prstGeom prst="rect">
            <a:avLst/>
          </a:prstGeom>
        </p:spPr>
      </p:pic>
    </p:spTree>
    <p:extLst>
      <p:ext uri="{BB962C8B-B14F-4D97-AF65-F5344CB8AC3E}">
        <p14:creationId xmlns:p14="http://schemas.microsoft.com/office/powerpoint/2010/main" val="3113459116"/>
      </p:ext>
    </p:extLst>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927958" y="431843"/>
            <a:ext cx="10058400" cy="725214"/>
          </a:xfrm>
        </p:spPr>
        <p:txBody>
          <a:bodyPr>
            <a:normAutofit fontScale="90000"/>
          </a:bodyPr>
          <a:lstStyle/>
          <a:p>
            <a:pPr algn="ctr"/>
            <a:r>
              <a:rPr lang="fr-FR" b="1" dirty="0" smtClean="0"/>
              <a:t>Atelier</a:t>
            </a:r>
            <a:endParaRPr lang="fr-FR" b="1" dirty="0"/>
          </a:p>
        </p:txBody>
      </p:sp>
      <p:sp>
        <p:nvSpPr>
          <p:cNvPr id="3" name="Espace réservé du contenu 2"/>
          <p:cNvSpPr>
            <a:spLocks noGrp="1"/>
          </p:cNvSpPr>
          <p:nvPr>
            <p:ph idx="1"/>
          </p:nvPr>
        </p:nvSpPr>
        <p:spPr>
          <a:xfrm>
            <a:off x="2400026" y="794450"/>
            <a:ext cx="8915400" cy="5480226"/>
          </a:xfrm>
        </p:spPr>
        <p:txBody>
          <a:bodyPr>
            <a:noAutofit/>
          </a:bodyPr>
          <a:lstStyle/>
          <a:p>
            <a:pPr>
              <a:lnSpc>
                <a:spcPct val="300000"/>
              </a:lnSpc>
            </a:pPr>
            <a:r>
              <a:rPr lang="fr-FR" sz="2800" dirty="0" smtClean="0"/>
              <a:t>Créer le composant </a:t>
            </a:r>
            <a:r>
              <a:rPr lang="fr-FR" sz="2800" dirty="0" err="1" smtClean="0"/>
              <a:t>weather</a:t>
            </a:r>
            <a:endParaRPr lang="fr-FR" sz="2800" dirty="0" smtClean="0"/>
          </a:p>
          <a:p>
            <a:pPr>
              <a:lnSpc>
                <a:spcPct val="300000"/>
              </a:lnSpc>
            </a:pPr>
            <a:r>
              <a:rPr lang="fr-FR" sz="2800" dirty="0" smtClean="0"/>
              <a:t>Développer la logique applicative</a:t>
            </a:r>
          </a:p>
          <a:p>
            <a:pPr>
              <a:lnSpc>
                <a:spcPct val="300000"/>
              </a:lnSpc>
            </a:pPr>
            <a:r>
              <a:rPr lang="fr-FR" sz="2800" dirty="0" smtClean="0"/>
              <a:t>Développer la Template principale</a:t>
            </a:r>
          </a:p>
          <a:p>
            <a:pPr>
              <a:lnSpc>
                <a:spcPct val="300000"/>
              </a:lnSpc>
            </a:pPr>
            <a:r>
              <a:rPr lang="fr-FR" sz="2800" dirty="0" smtClean="0"/>
              <a:t>Intégrer le sélecteur et tester le composant</a:t>
            </a:r>
            <a:endParaRPr lang="fr-FR" sz="2800" dirty="0"/>
          </a:p>
        </p:txBody>
      </p:sp>
    </p:spTree>
    <p:extLst>
      <p:ext uri="{BB962C8B-B14F-4D97-AF65-F5344CB8AC3E}">
        <p14:creationId xmlns:p14="http://schemas.microsoft.com/office/powerpoint/2010/main" val="381200494"/>
      </p:ext>
    </p:extLst>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z="3200" dirty="0" smtClean="0"/>
              <a:t>Mise à jour </a:t>
            </a:r>
            <a:r>
              <a:rPr lang="fr-FR" sz="3200" dirty="0"/>
              <a:t>du fichier </a:t>
            </a:r>
            <a:r>
              <a:rPr lang="fr-FR" sz="3200" b="1" dirty="0" err="1"/>
              <a:t>meteo.component.ts</a:t>
            </a:r>
            <a:endParaRPr lang="fr-FR" sz="3200" b="1" dirty="0"/>
          </a:p>
        </p:txBody>
      </p:sp>
      <p:pic>
        <p:nvPicPr>
          <p:cNvPr id="4" name="Image 3"/>
          <p:cNvPicPr>
            <a:picLocks noChangeAspect="1"/>
          </p:cNvPicPr>
          <p:nvPr/>
        </p:nvPicPr>
        <p:blipFill>
          <a:blip r:embed="rId2"/>
          <a:stretch>
            <a:fillRect/>
          </a:stretch>
        </p:blipFill>
        <p:spPr>
          <a:xfrm>
            <a:off x="1640991" y="1721595"/>
            <a:ext cx="8607295" cy="4251325"/>
          </a:xfrm>
          <a:prstGeom prst="rect">
            <a:avLst/>
          </a:prstGeom>
        </p:spPr>
      </p:pic>
    </p:spTree>
    <p:extLst>
      <p:ext uri="{BB962C8B-B14F-4D97-AF65-F5344CB8AC3E}">
        <p14:creationId xmlns:p14="http://schemas.microsoft.com/office/powerpoint/2010/main" val="2878358478"/>
      </p:ext>
    </p:extLst>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Mise à jour de la Template du composant</a:t>
            </a:r>
            <a:endParaRPr lang="fr-FR" dirty="0"/>
          </a:p>
        </p:txBody>
      </p:sp>
      <p:pic>
        <p:nvPicPr>
          <p:cNvPr id="4" name="Image 3"/>
          <p:cNvPicPr>
            <a:picLocks noChangeAspect="1"/>
          </p:cNvPicPr>
          <p:nvPr/>
        </p:nvPicPr>
        <p:blipFill>
          <a:blip r:embed="rId2"/>
          <a:stretch>
            <a:fillRect/>
          </a:stretch>
        </p:blipFill>
        <p:spPr>
          <a:xfrm>
            <a:off x="2163203" y="2093976"/>
            <a:ext cx="7871689" cy="3705225"/>
          </a:xfrm>
          <a:prstGeom prst="rect">
            <a:avLst/>
          </a:prstGeom>
        </p:spPr>
      </p:pic>
    </p:spTree>
    <p:extLst>
      <p:ext uri="{BB962C8B-B14F-4D97-AF65-F5344CB8AC3E}">
        <p14:creationId xmlns:p14="http://schemas.microsoft.com/office/powerpoint/2010/main" val="785465634"/>
      </p:ext>
    </p:extLst>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Mise à jour de la Template Principale</a:t>
            </a:r>
            <a:endParaRPr lang="fr-FR" dirty="0"/>
          </a:p>
        </p:txBody>
      </p:sp>
      <p:pic>
        <p:nvPicPr>
          <p:cNvPr id="4" name="Image 3"/>
          <p:cNvPicPr>
            <a:picLocks noChangeAspect="1"/>
          </p:cNvPicPr>
          <p:nvPr/>
        </p:nvPicPr>
        <p:blipFill>
          <a:blip r:embed="rId2"/>
          <a:stretch>
            <a:fillRect/>
          </a:stretch>
        </p:blipFill>
        <p:spPr>
          <a:xfrm>
            <a:off x="2991394" y="2932611"/>
            <a:ext cx="6244046" cy="192453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323601445"/>
      </p:ext>
    </p:extLst>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4000" b="1" dirty="0" smtClean="0"/>
              <a:t>Utilisation du Framework </a:t>
            </a:r>
            <a:r>
              <a:rPr lang="fr-FR" sz="4000" b="1" dirty="0" err="1" smtClean="0"/>
              <a:t>BootStrap</a:t>
            </a:r>
            <a:endParaRPr lang="fr-FR" sz="4000" b="1" dirty="0"/>
          </a:p>
        </p:txBody>
      </p:sp>
      <p:sp>
        <p:nvSpPr>
          <p:cNvPr id="3" name="Espace réservé du contenu 2"/>
          <p:cNvSpPr>
            <a:spLocks noGrp="1"/>
          </p:cNvSpPr>
          <p:nvPr>
            <p:ph idx="1"/>
          </p:nvPr>
        </p:nvSpPr>
        <p:spPr>
          <a:xfrm>
            <a:off x="614855" y="2225896"/>
            <a:ext cx="10667815" cy="3777622"/>
          </a:xfrm>
        </p:spPr>
        <p:txBody>
          <a:bodyPr>
            <a:normAutofit/>
          </a:bodyPr>
          <a:lstStyle/>
          <a:p>
            <a:pPr algn="just">
              <a:lnSpc>
                <a:spcPct val="200000"/>
              </a:lnSpc>
            </a:pPr>
            <a:r>
              <a:rPr lang="fr-FR" sz="2000" dirty="0" smtClean="0"/>
              <a:t>Vérifier l’</a:t>
            </a:r>
            <a:r>
              <a:rPr lang="fr-FR" sz="2000" dirty="0" err="1" smtClean="0"/>
              <a:t>existance</a:t>
            </a:r>
            <a:r>
              <a:rPr lang="fr-FR" sz="2000" dirty="0" smtClean="0"/>
              <a:t> de la bibliothèque </a:t>
            </a:r>
            <a:r>
              <a:rPr lang="fr-FR" sz="2000" b="1" dirty="0" err="1" smtClean="0"/>
              <a:t>BootStrap</a:t>
            </a:r>
            <a:endParaRPr lang="fr-FR" sz="2000" b="1" dirty="0"/>
          </a:p>
          <a:p>
            <a:pPr algn="just">
              <a:lnSpc>
                <a:spcPct val="200000"/>
              </a:lnSpc>
            </a:pPr>
            <a:r>
              <a:rPr lang="fr-FR" sz="2000" dirty="0" smtClean="0"/>
              <a:t>Si la dépendance est absente vous pouvez l’installer à l’aide de la commande:</a:t>
            </a:r>
          </a:p>
          <a:p>
            <a:pPr algn="just">
              <a:lnSpc>
                <a:spcPct val="200000"/>
              </a:lnSpc>
            </a:pPr>
            <a:r>
              <a:rPr lang="fr-FR" sz="3200" b="1" dirty="0" err="1"/>
              <a:t>npm</a:t>
            </a:r>
            <a:r>
              <a:rPr lang="fr-FR" sz="3200" b="1" dirty="0"/>
              <a:t> </a:t>
            </a:r>
            <a:r>
              <a:rPr lang="fr-FR" sz="3200" b="1" dirty="0" err="1"/>
              <a:t>install</a:t>
            </a:r>
            <a:r>
              <a:rPr lang="fr-FR" sz="3200" b="1" dirty="0"/>
              <a:t> </a:t>
            </a:r>
            <a:r>
              <a:rPr lang="fr-FR" sz="3200" b="1" dirty="0" err="1" smtClean="0"/>
              <a:t>bootstrap</a:t>
            </a:r>
            <a:endParaRPr lang="fr-FR" sz="3200" b="1" dirty="0"/>
          </a:p>
        </p:txBody>
      </p:sp>
    </p:spTree>
    <p:extLst>
      <p:ext uri="{BB962C8B-B14F-4D97-AF65-F5344CB8AC3E}">
        <p14:creationId xmlns:p14="http://schemas.microsoft.com/office/powerpoint/2010/main" val="40412809"/>
      </p:ext>
    </p:extLst>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Mise à jour </a:t>
            </a:r>
            <a:r>
              <a:rPr lang="fr-FR" b="1" dirty="0" smtClean="0"/>
              <a:t>style.css</a:t>
            </a:r>
            <a:endParaRPr lang="fr-FR" b="1" dirty="0"/>
          </a:p>
        </p:txBody>
      </p:sp>
      <p:sp>
        <p:nvSpPr>
          <p:cNvPr id="3" name="Espace réservé du contenu 2"/>
          <p:cNvSpPr>
            <a:spLocks noGrp="1"/>
          </p:cNvSpPr>
          <p:nvPr>
            <p:ph idx="1"/>
          </p:nvPr>
        </p:nvSpPr>
        <p:spPr/>
        <p:txBody>
          <a:bodyPr>
            <a:normAutofit/>
          </a:bodyPr>
          <a:lstStyle/>
          <a:p>
            <a:pPr marL="0" indent="0">
              <a:buNone/>
            </a:pPr>
            <a:r>
              <a:rPr lang="fr-FR" sz="3600" b="1" dirty="0"/>
              <a:t>@import "~</a:t>
            </a:r>
            <a:r>
              <a:rPr lang="fr-FR" sz="3600" b="1" dirty="0" err="1"/>
              <a:t>bootstrap</a:t>
            </a:r>
            <a:r>
              <a:rPr lang="fr-FR" sz="3600" b="1" dirty="0"/>
              <a:t>/</a:t>
            </a:r>
            <a:r>
              <a:rPr lang="fr-FR" sz="3600" b="1" dirty="0" err="1"/>
              <a:t>dist</a:t>
            </a:r>
            <a:r>
              <a:rPr lang="fr-FR" sz="3600" b="1" dirty="0"/>
              <a:t>/</a:t>
            </a:r>
            <a:r>
              <a:rPr lang="fr-FR" sz="3600" b="1" dirty="0" err="1"/>
              <a:t>css</a:t>
            </a:r>
            <a:r>
              <a:rPr lang="fr-FR" sz="3600" b="1" dirty="0"/>
              <a:t>/bootstrap.css";</a:t>
            </a:r>
          </a:p>
        </p:txBody>
      </p:sp>
    </p:spTree>
    <p:extLst>
      <p:ext uri="{BB962C8B-B14F-4D97-AF65-F5344CB8AC3E}">
        <p14:creationId xmlns:p14="http://schemas.microsoft.com/office/powerpoint/2010/main" val="3090356202"/>
      </p:ext>
    </p:extLst>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Appliquer les styles</a:t>
            </a:r>
            <a:endParaRPr lang="fr-FR" dirty="0"/>
          </a:p>
        </p:txBody>
      </p:sp>
      <p:sp>
        <p:nvSpPr>
          <p:cNvPr id="3" name="Espace réservé du contenu 2"/>
          <p:cNvSpPr>
            <a:spLocks noGrp="1"/>
          </p:cNvSpPr>
          <p:nvPr>
            <p:ph idx="1"/>
          </p:nvPr>
        </p:nvSpPr>
        <p:spPr/>
        <p:txBody>
          <a:bodyPr>
            <a:normAutofit/>
          </a:bodyPr>
          <a:lstStyle/>
          <a:p>
            <a:pPr>
              <a:lnSpc>
                <a:spcPct val="300000"/>
              </a:lnSpc>
              <a:buFont typeface="Wingdings" panose="05000000000000000000" pitchFamily="2" charset="2"/>
              <a:buChar char="ü"/>
            </a:pPr>
            <a:r>
              <a:rPr lang="fr-FR" sz="2800" dirty="0" smtClean="0"/>
              <a:t> P class=h5</a:t>
            </a:r>
          </a:p>
          <a:p>
            <a:pPr>
              <a:lnSpc>
                <a:spcPct val="300000"/>
              </a:lnSpc>
              <a:buFont typeface="Wingdings" panose="05000000000000000000" pitchFamily="2" charset="2"/>
              <a:buChar char="ü"/>
            </a:pPr>
            <a:r>
              <a:rPr lang="fr-FR" sz="2800" dirty="0"/>
              <a:t> </a:t>
            </a:r>
            <a:r>
              <a:rPr lang="fr-FR" sz="2800" dirty="0" err="1" smtClean="0"/>
              <a:t>Boutton</a:t>
            </a:r>
            <a:r>
              <a:rPr lang="fr-FR" sz="2800" dirty="0" smtClean="0"/>
              <a:t> class=</a:t>
            </a:r>
            <a:r>
              <a:rPr lang="fr-FR" sz="2800" dirty="0" err="1" smtClean="0"/>
              <a:t>btn</a:t>
            </a:r>
            <a:r>
              <a:rPr lang="fr-FR" sz="2800" dirty="0" smtClean="0"/>
              <a:t> </a:t>
            </a:r>
            <a:r>
              <a:rPr lang="fr-FR" sz="2800" dirty="0" err="1" smtClean="0"/>
              <a:t>btn-primary</a:t>
            </a:r>
            <a:endParaRPr lang="fr-FR" sz="2800" dirty="0"/>
          </a:p>
        </p:txBody>
      </p:sp>
    </p:spTree>
    <p:extLst>
      <p:ext uri="{BB962C8B-B14F-4D97-AF65-F5344CB8AC3E}">
        <p14:creationId xmlns:p14="http://schemas.microsoft.com/office/powerpoint/2010/main" val="2774733870"/>
      </p:ext>
    </p:extLst>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pPr algn="ctr"/>
            <a:r>
              <a:rPr lang="fr-FR" sz="6000" dirty="0" smtClean="0"/>
              <a:t>Les Directives</a:t>
            </a:r>
            <a:endParaRPr lang="fr-FR" sz="6000" dirty="0"/>
          </a:p>
        </p:txBody>
      </p:sp>
      <p:pic>
        <p:nvPicPr>
          <p:cNvPr id="4" name="Image 3"/>
          <p:cNvPicPr>
            <a:picLocks noChangeAspect="1"/>
          </p:cNvPicPr>
          <p:nvPr/>
        </p:nvPicPr>
        <p:blipFill>
          <a:blip r:embed="rId2"/>
          <a:stretch>
            <a:fillRect/>
          </a:stretch>
        </p:blipFill>
        <p:spPr>
          <a:xfrm>
            <a:off x="2538249" y="3941379"/>
            <a:ext cx="6117020" cy="2758965"/>
          </a:xfrm>
          <a:prstGeom prst="rect">
            <a:avLst/>
          </a:prstGeom>
        </p:spPr>
      </p:pic>
    </p:spTree>
    <p:extLst>
      <p:ext uri="{BB962C8B-B14F-4D97-AF65-F5344CB8AC3E}">
        <p14:creationId xmlns:p14="http://schemas.microsoft.com/office/powerpoint/2010/main" val="4038848300"/>
      </p:ext>
    </p:extLst>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b="1" dirty="0" smtClean="0"/>
              <a:t>Directive</a:t>
            </a:r>
            <a:r>
              <a:rPr lang="fr-FR" b="1" dirty="0"/>
              <a:t/>
            </a:r>
            <a:br>
              <a:rPr lang="fr-FR" b="1" dirty="0"/>
            </a:br>
            <a:endParaRPr lang="fr-FR" dirty="0"/>
          </a:p>
        </p:txBody>
      </p:sp>
      <p:sp>
        <p:nvSpPr>
          <p:cNvPr id="3" name="Espace réservé du contenu 2"/>
          <p:cNvSpPr>
            <a:spLocks noGrp="1"/>
          </p:cNvSpPr>
          <p:nvPr>
            <p:ph idx="1"/>
          </p:nvPr>
        </p:nvSpPr>
        <p:spPr/>
        <p:txBody>
          <a:bodyPr>
            <a:normAutofit/>
          </a:bodyPr>
          <a:lstStyle/>
          <a:p>
            <a:pPr algn="just">
              <a:lnSpc>
                <a:spcPct val="150000"/>
              </a:lnSpc>
            </a:pPr>
            <a:r>
              <a:rPr lang="fr-FR" sz="2400" dirty="0"/>
              <a:t>Pour commencer, une définition : les directives </a:t>
            </a:r>
            <a:r>
              <a:rPr lang="fr-FR" sz="2400" b="1" dirty="0"/>
              <a:t>d'</a:t>
            </a:r>
            <a:r>
              <a:rPr lang="fr-FR" sz="2400" b="1" dirty="0" err="1"/>
              <a:t>Angular</a:t>
            </a:r>
            <a:r>
              <a:rPr lang="fr-FR" sz="2400" dirty="0"/>
              <a:t> sont des classes qui ajoutent un comportement supplémentaire aux éléments du </a:t>
            </a:r>
            <a:r>
              <a:rPr lang="fr-FR" sz="2400" b="1" dirty="0"/>
              <a:t>DOM</a:t>
            </a:r>
            <a:r>
              <a:rPr lang="fr-FR" sz="2400" dirty="0"/>
              <a:t>.</a:t>
            </a:r>
          </a:p>
          <a:p>
            <a:pPr algn="just">
              <a:lnSpc>
                <a:spcPct val="150000"/>
              </a:lnSpc>
            </a:pPr>
            <a:r>
              <a:rPr lang="fr-FR" sz="2400" dirty="0" smtClean="0"/>
              <a:t>Ces </a:t>
            </a:r>
            <a:r>
              <a:rPr lang="fr-FR" sz="2400" dirty="0"/>
              <a:t>directives s'appliqueront dans vos fichiers </a:t>
            </a:r>
            <a:r>
              <a:rPr lang="fr-FR" sz="2400" b="1" dirty="0"/>
              <a:t>HTML</a:t>
            </a:r>
            <a:r>
              <a:rPr lang="fr-FR" sz="2400" dirty="0"/>
              <a:t>, sur les balises de composants et/ou balises </a:t>
            </a:r>
            <a:r>
              <a:rPr lang="fr-FR" sz="2400" b="1" dirty="0"/>
              <a:t>HTML</a:t>
            </a:r>
            <a:r>
              <a:rPr lang="fr-FR" sz="2400" dirty="0"/>
              <a:t>.</a:t>
            </a:r>
          </a:p>
        </p:txBody>
      </p:sp>
    </p:spTree>
    <p:extLst>
      <p:ext uri="{BB962C8B-B14F-4D97-AF65-F5344CB8AC3E}">
        <p14:creationId xmlns:p14="http://schemas.microsoft.com/office/powerpoint/2010/main" val="277807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4000" b="1" dirty="0" smtClean="0"/>
              <a:t>Les </a:t>
            </a:r>
            <a:r>
              <a:rPr lang="fr-FR" sz="4000" b="1" dirty="0"/>
              <a:t>directives structurelles</a:t>
            </a:r>
          </a:p>
        </p:txBody>
      </p:sp>
      <p:sp>
        <p:nvSpPr>
          <p:cNvPr id="3" name="Espace réservé du contenu 2"/>
          <p:cNvSpPr>
            <a:spLocks noGrp="1"/>
          </p:cNvSpPr>
          <p:nvPr>
            <p:ph idx="1"/>
          </p:nvPr>
        </p:nvSpPr>
        <p:spPr/>
        <p:txBody>
          <a:bodyPr>
            <a:normAutofit/>
          </a:bodyPr>
          <a:lstStyle/>
          <a:p>
            <a:pPr>
              <a:lnSpc>
                <a:spcPct val="200000"/>
              </a:lnSpc>
            </a:pPr>
            <a:r>
              <a:rPr lang="fr-FR" sz="2800" b="1" dirty="0"/>
              <a:t>*</a:t>
            </a:r>
            <a:r>
              <a:rPr lang="fr-FR" sz="2800" b="1" dirty="0" err="1"/>
              <a:t>NgIf</a:t>
            </a:r>
            <a:endParaRPr lang="fr-FR" sz="2800" b="1" dirty="0"/>
          </a:p>
          <a:p>
            <a:pPr>
              <a:lnSpc>
                <a:spcPct val="200000"/>
              </a:lnSpc>
            </a:pPr>
            <a:r>
              <a:rPr lang="fr-FR" sz="2800" b="1" dirty="0"/>
              <a:t>*</a:t>
            </a:r>
            <a:r>
              <a:rPr lang="fr-FR" sz="2800" b="1" dirty="0" err="1"/>
              <a:t>NgFor</a:t>
            </a:r>
            <a:endParaRPr lang="fr-FR" sz="2800" b="1" dirty="0"/>
          </a:p>
          <a:p>
            <a:pPr>
              <a:lnSpc>
                <a:spcPct val="200000"/>
              </a:lnSpc>
            </a:pPr>
            <a:r>
              <a:rPr lang="fr-FR" sz="2800" b="1" dirty="0"/>
              <a:t>[</a:t>
            </a:r>
            <a:r>
              <a:rPr lang="fr-FR" sz="2800" b="1" dirty="0" err="1"/>
              <a:t>NgSwitch</a:t>
            </a:r>
            <a:r>
              <a:rPr lang="fr-FR" sz="2800" b="1" dirty="0"/>
              <a:t>], *</a:t>
            </a:r>
            <a:r>
              <a:rPr lang="fr-FR" sz="2800" b="1" dirty="0" err="1"/>
              <a:t>NgSwitchCase</a:t>
            </a:r>
            <a:r>
              <a:rPr lang="fr-FR" sz="2800" b="1" dirty="0"/>
              <a:t>, *</a:t>
            </a:r>
            <a:r>
              <a:rPr lang="fr-FR" sz="2800" b="1" dirty="0" err="1"/>
              <a:t>NgSwitchDefault</a:t>
            </a:r>
            <a:endParaRPr lang="fr-FR" sz="2800" b="1" dirty="0"/>
          </a:p>
          <a:p>
            <a:pPr marL="0" indent="0">
              <a:lnSpc>
                <a:spcPct val="200000"/>
              </a:lnSpc>
              <a:buNone/>
            </a:pPr>
            <a:endParaRPr lang="fr-FR" sz="2800" b="1" dirty="0"/>
          </a:p>
        </p:txBody>
      </p:sp>
    </p:spTree>
    <p:extLst>
      <p:ext uri="{BB962C8B-B14F-4D97-AF65-F5344CB8AC3E}">
        <p14:creationId xmlns:p14="http://schemas.microsoft.com/office/powerpoint/2010/main" val="4221069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err="1"/>
              <a:t>NgIf</a:t>
            </a:r>
            <a:r>
              <a:rPr lang="fr-FR" dirty="0"/>
              <a:t/>
            </a:r>
            <a:br>
              <a:rPr lang="fr-FR" dirty="0"/>
            </a:br>
            <a:endParaRPr lang="fr-FR" dirty="0"/>
          </a:p>
        </p:txBody>
      </p:sp>
      <p:sp>
        <p:nvSpPr>
          <p:cNvPr id="3" name="Espace réservé du contenu 2"/>
          <p:cNvSpPr>
            <a:spLocks noGrp="1"/>
          </p:cNvSpPr>
          <p:nvPr>
            <p:ph idx="1"/>
          </p:nvPr>
        </p:nvSpPr>
        <p:spPr/>
        <p:txBody>
          <a:bodyPr>
            <a:normAutofit/>
          </a:bodyPr>
          <a:lstStyle/>
          <a:p>
            <a:r>
              <a:rPr lang="fr-FR" sz="2000" dirty="0"/>
              <a:t>Charge une balise sur la page uniquement si la condition est vraie.</a:t>
            </a:r>
          </a:p>
        </p:txBody>
      </p:sp>
      <p:pic>
        <p:nvPicPr>
          <p:cNvPr id="4" name="Image 3"/>
          <p:cNvPicPr>
            <a:picLocks noChangeAspect="1"/>
          </p:cNvPicPr>
          <p:nvPr/>
        </p:nvPicPr>
        <p:blipFill>
          <a:blip r:embed="rId2"/>
          <a:stretch>
            <a:fillRect/>
          </a:stretch>
        </p:blipFill>
        <p:spPr>
          <a:xfrm>
            <a:off x="2974019" y="3281033"/>
            <a:ext cx="7785717" cy="767184"/>
          </a:xfrm>
          <a:prstGeom prst="rect">
            <a:avLst/>
          </a:prstGeom>
        </p:spPr>
      </p:pic>
    </p:spTree>
    <p:extLst>
      <p:ext uri="{BB962C8B-B14F-4D97-AF65-F5344CB8AC3E}">
        <p14:creationId xmlns:p14="http://schemas.microsoft.com/office/powerpoint/2010/main" val="2301071037"/>
      </p:ext>
    </p:extLst>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b="1" dirty="0" err="1"/>
              <a:t>NgFor</a:t>
            </a:r>
            <a:r>
              <a:rPr lang="fr-FR" b="1" dirty="0"/>
              <a:t/>
            </a:r>
            <a:br>
              <a:rPr lang="fr-FR" b="1" dirty="0"/>
            </a:br>
            <a:endParaRPr lang="fr-FR" b="1" dirty="0"/>
          </a:p>
        </p:txBody>
      </p:sp>
      <p:sp>
        <p:nvSpPr>
          <p:cNvPr id="3" name="Espace réservé du contenu 2"/>
          <p:cNvSpPr>
            <a:spLocks noGrp="1"/>
          </p:cNvSpPr>
          <p:nvPr>
            <p:ph idx="1"/>
          </p:nvPr>
        </p:nvSpPr>
        <p:spPr/>
        <p:txBody>
          <a:bodyPr>
            <a:normAutofit/>
          </a:bodyPr>
          <a:lstStyle/>
          <a:p>
            <a:r>
              <a:rPr lang="fr-FR" sz="2400" dirty="0"/>
              <a:t>Permet de dupliquer une balise.</a:t>
            </a:r>
          </a:p>
        </p:txBody>
      </p:sp>
      <p:pic>
        <p:nvPicPr>
          <p:cNvPr id="4" name="Image 3"/>
          <p:cNvPicPr>
            <a:picLocks noChangeAspect="1"/>
          </p:cNvPicPr>
          <p:nvPr/>
        </p:nvPicPr>
        <p:blipFill>
          <a:blip r:embed="rId2"/>
          <a:stretch>
            <a:fillRect/>
          </a:stretch>
        </p:blipFill>
        <p:spPr>
          <a:xfrm>
            <a:off x="1069848" y="3139499"/>
            <a:ext cx="10058400" cy="1353673"/>
          </a:xfrm>
          <a:prstGeom prst="rect">
            <a:avLst/>
          </a:prstGeom>
        </p:spPr>
      </p:pic>
    </p:spTree>
    <p:extLst>
      <p:ext uri="{BB962C8B-B14F-4D97-AF65-F5344CB8AC3E}">
        <p14:creationId xmlns:p14="http://schemas.microsoft.com/office/powerpoint/2010/main" val="2755106435"/>
      </p:ext>
    </p:extLst>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b="1" dirty="0" err="1"/>
              <a:t>NgSwitch</a:t>
            </a:r>
            <a:r>
              <a:rPr lang="fr-FR" dirty="0"/>
              <a:t/>
            </a:r>
            <a:br>
              <a:rPr lang="fr-FR" dirty="0"/>
            </a:br>
            <a:endParaRPr lang="fr-FR" dirty="0"/>
          </a:p>
        </p:txBody>
      </p:sp>
      <p:sp>
        <p:nvSpPr>
          <p:cNvPr id="3" name="Espace réservé du contenu 2"/>
          <p:cNvSpPr>
            <a:spLocks noGrp="1"/>
          </p:cNvSpPr>
          <p:nvPr>
            <p:ph idx="1"/>
          </p:nvPr>
        </p:nvSpPr>
        <p:spPr/>
        <p:txBody>
          <a:bodyPr>
            <a:normAutofit/>
          </a:bodyPr>
          <a:lstStyle/>
          <a:p>
            <a:r>
              <a:rPr lang="fr-FR" sz="2000" i="1" dirty="0"/>
              <a:t>Plusieurs affichages différents selon la valeur d'une expression</a:t>
            </a:r>
            <a:endParaRPr lang="fr-FR" sz="2000" dirty="0"/>
          </a:p>
        </p:txBody>
      </p:sp>
      <p:pic>
        <p:nvPicPr>
          <p:cNvPr id="4" name="Image 3"/>
          <p:cNvPicPr>
            <a:picLocks noChangeAspect="1"/>
          </p:cNvPicPr>
          <p:nvPr/>
        </p:nvPicPr>
        <p:blipFill>
          <a:blip r:embed="rId2"/>
          <a:stretch>
            <a:fillRect/>
          </a:stretch>
        </p:blipFill>
        <p:spPr>
          <a:xfrm>
            <a:off x="1069848" y="2933633"/>
            <a:ext cx="9494580" cy="2726188"/>
          </a:xfrm>
          <a:prstGeom prst="rect">
            <a:avLst/>
          </a:prstGeom>
        </p:spPr>
      </p:pic>
    </p:spTree>
    <p:extLst>
      <p:ext uri="{BB962C8B-B14F-4D97-AF65-F5344CB8AC3E}">
        <p14:creationId xmlns:p14="http://schemas.microsoft.com/office/powerpoint/2010/main" val="410758629"/>
      </p:ext>
    </p:extLst>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b="1" dirty="0"/>
              <a:t>Directives d'attributs intégrées</a:t>
            </a:r>
            <a:br>
              <a:rPr lang="fr-FR" b="1" dirty="0"/>
            </a:br>
            <a:endParaRPr lang="fr-FR" dirty="0"/>
          </a:p>
        </p:txBody>
      </p:sp>
      <p:sp>
        <p:nvSpPr>
          <p:cNvPr id="3" name="Espace réservé du contenu 2"/>
          <p:cNvSpPr>
            <a:spLocks noGrp="1"/>
          </p:cNvSpPr>
          <p:nvPr>
            <p:ph idx="1"/>
          </p:nvPr>
        </p:nvSpPr>
        <p:spPr>
          <a:xfrm>
            <a:off x="268014" y="1725227"/>
            <a:ext cx="11236598" cy="3777622"/>
          </a:xfrm>
        </p:spPr>
        <p:txBody>
          <a:bodyPr>
            <a:noAutofit/>
          </a:bodyPr>
          <a:lstStyle/>
          <a:p>
            <a:pPr algn="just">
              <a:lnSpc>
                <a:spcPct val="200000"/>
              </a:lnSpc>
            </a:pPr>
            <a:r>
              <a:rPr lang="fr-FR" sz="2400" dirty="0"/>
              <a:t>Avec les directives d’attributs intégrées </a:t>
            </a:r>
            <a:r>
              <a:rPr lang="fr-FR" sz="2400" b="1" dirty="0"/>
              <a:t>d'</a:t>
            </a:r>
            <a:r>
              <a:rPr lang="fr-FR" sz="2400" b="1" dirty="0" err="1"/>
              <a:t>Angular</a:t>
            </a:r>
            <a:r>
              <a:rPr lang="fr-FR" sz="2400" dirty="0"/>
              <a:t>, vous pouvez gérer certains éléments de votre DOM tels que les formulaires, les styles et les classes</a:t>
            </a:r>
            <a:r>
              <a:rPr lang="fr-FR" sz="2400" dirty="0" smtClean="0"/>
              <a:t>.</a:t>
            </a:r>
          </a:p>
          <a:p>
            <a:pPr lvl="1" algn="just">
              <a:lnSpc>
                <a:spcPct val="200000"/>
              </a:lnSpc>
            </a:pPr>
            <a:r>
              <a:rPr lang="fr-FR" sz="2000" b="1" dirty="0" err="1" smtClean="0"/>
              <a:t>NgClass</a:t>
            </a:r>
            <a:r>
              <a:rPr lang="fr-FR" sz="2000" b="1" dirty="0" smtClean="0"/>
              <a:t> </a:t>
            </a:r>
            <a:r>
              <a:rPr lang="fr-FR" sz="2000" dirty="0" smtClean="0"/>
              <a:t>: </a:t>
            </a:r>
            <a:r>
              <a:rPr lang="fr-FR" sz="2000" dirty="0"/>
              <a:t>On peut ajouter ou supprimer plusieurs classes CSS simultanément avec </a:t>
            </a:r>
            <a:r>
              <a:rPr lang="fr-FR" sz="2000" b="1" dirty="0" err="1" smtClean="0"/>
              <a:t>ngClass</a:t>
            </a:r>
            <a:r>
              <a:rPr lang="fr-FR" sz="2000" dirty="0" smtClean="0"/>
              <a:t>.</a:t>
            </a:r>
            <a:r>
              <a:rPr lang="fr-FR" sz="2000" dirty="0"/>
              <a:t> </a:t>
            </a:r>
          </a:p>
          <a:p>
            <a:pPr lvl="1" algn="just">
              <a:lnSpc>
                <a:spcPct val="200000"/>
              </a:lnSpc>
            </a:pPr>
            <a:r>
              <a:rPr lang="fr-FR" sz="2000" b="1" dirty="0" err="1" smtClean="0"/>
              <a:t>NgStyle</a:t>
            </a:r>
            <a:r>
              <a:rPr lang="fr-FR" sz="2000" dirty="0" smtClean="0"/>
              <a:t> : </a:t>
            </a:r>
            <a:r>
              <a:rPr lang="fr-FR" sz="2000" dirty="0"/>
              <a:t>permet de définir plusieurs styles, selon l'état du composant.</a:t>
            </a:r>
          </a:p>
          <a:p>
            <a:pPr lvl="1" algn="just">
              <a:lnSpc>
                <a:spcPct val="200000"/>
              </a:lnSpc>
            </a:pPr>
            <a:r>
              <a:rPr lang="fr-FR" sz="2000" b="1" dirty="0" err="1" smtClean="0"/>
              <a:t>NgModel</a:t>
            </a:r>
            <a:r>
              <a:rPr lang="fr-FR" sz="2000" dirty="0" smtClean="0"/>
              <a:t> :</a:t>
            </a:r>
            <a:r>
              <a:rPr lang="fr-FR" sz="2000" dirty="0"/>
              <a:t>La directive </a:t>
            </a:r>
            <a:r>
              <a:rPr lang="fr-FR" sz="2000" b="1" dirty="0" err="1"/>
              <a:t>NgModel</a:t>
            </a:r>
            <a:r>
              <a:rPr lang="fr-FR" sz="2000" dirty="0"/>
              <a:t> nous permet d'agir sur l'attribut "value" de nos balises</a:t>
            </a:r>
          </a:p>
          <a:p>
            <a:pPr lvl="1" algn="just">
              <a:lnSpc>
                <a:spcPct val="200000"/>
              </a:lnSpc>
            </a:pPr>
            <a:endParaRPr lang="fr-FR" sz="2000" dirty="0"/>
          </a:p>
        </p:txBody>
      </p:sp>
    </p:spTree>
    <p:extLst>
      <p:ext uri="{BB962C8B-B14F-4D97-AF65-F5344CB8AC3E}">
        <p14:creationId xmlns:p14="http://schemas.microsoft.com/office/powerpoint/2010/main" val="3402481154"/>
      </p:ext>
    </p:extLst>
  </p:cSld>
  <p:clrMapOvr>
    <a:masterClrMapping/>
  </p:clrMapOvr>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pPr algn="ctr"/>
            <a:r>
              <a:rPr lang="fr-FR" b="1" dirty="0"/>
              <a:t>Créer </a:t>
            </a:r>
            <a:r>
              <a:rPr lang="fr-FR" b="1" dirty="0" smtClean="0"/>
              <a:t>vos propres directives </a:t>
            </a:r>
            <a:r>
              <a:rPr lang="fr-FR" b="1" dirty="0"/>
              <a:t>d'attribut</a:t>
            </a:r>
            <a:br>
              <a:rPr lang="fr-FR" b="1" dirty="0"/>
            </a:br>
            <a:endParaRPr lang="fr-FR" dirty="0"/>
          </a:p>
        </p:txBody>
      </p:sp>
      <p:sp>
        <p:nvSpPr>
          <p:cNvPr id="3" name="Espace réservé du contenu 2"/>
          <p:cNvSpPr>
            <a:spLocks noGrp="1"/>
          </p:cNvSpPr>
          <p:nvPr>
            <p:ph idx="1"/>
          </p:nvPr>
        </p:nvSpPr>
        <p:spPr/>
        <p:txBody>
          <a:bodyPr/>
          <a:lstStyle/>
          <a:p>
            <a:r>
              <a:rPr lang="fr-FR" dirty="0"/>
              <a:t>pour créer une directive, utilisez la commande de la CLI :</a:t>
            </a:r>
          </a:p>
        </p:txBody>
      </p:sp>
      <p:pic>
        <p:nvPicPr>
          <p:cNvPr id="4" name="Image 3"/>
          <p:cNvPicPr>
            <a:picLocks noChangeAspect="1"/>
          </p:cNvPicPr>
          <p:nvPr/>
        </p:nvPicPr>
        <p:blipFill>
          <a:blip r:embed="rId2"/>
          <a:stretch>
            <a:fillRect/>
          </a:stretch>
        </p:blipFill>
        <p:spPr>
          <a:xfrm>
            <a:off x="1466194" y="2943163"/>
            <a:ext cx="8103476" cy="1266229"/>
          </a:xfrm>
          <a:prstGeom prst="rect">
            <a:avLst/>
          </a:prstGeom>
        </p:spPr>
      </p:pic>
    </p:spTree>
    <p:extLst>
      <p:ext uri="{BB962C8B-B14F-4D97-AF65-F5344CB8AC3E}">
        <p14:creationId xmlns:p14="http://schemas.microsoft.com/office/powerpoint/2010/main" val="1284146854"/>
      </p:ext>
    </p:extLst>
  </p:cSld>
  <p:clrMapOvr>
    <a:masterClrMapping/>
  </p:clrMapOvr>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4400" dirty="0" smtClean="0"/>
              <a:t>Atelier : Gestion des utilisateurs</a:t>
            </a:r>
            <a:endParaRPr lang="fr-FR" sz="4400" dirty="0"/>
          </a:p>
        </p:txBody>
      </p:sp>
      <p:sp>
        <p:nvSpPr>
          <p:cNvPr id="3" name="Espace réservé du contenu 2"/>
          <p:cNvSpPr>
            <a:spLocks noGrp="1"/>
          </p:cNvSpPr>
          <p:nvPr>
            <p:ph idx="1"/>
          </p:nvPr>
        </p:nvSpPr>
        <p:spPr/>
        <p:txBody>
          <a:bodyPr>
            <a:normAutofit fontScale="92500"/>
          </a:bodyPr>
          <a:lstStyle/>
          <a:p>
            <a:pPr algn="just">
              <a:lnSpc>
                <a:spcPct val="150000"/>
              </a:lnSpc>
            </a:pPr>
            <a:r>
              <a:rPr lang="fr-FR" sz="2400" dirty="0"/>
              <a:t>Le </a:t>
            </a:r>
            <a:r>
              <a:rPr lang="fr-FR" sz="2400" dirty="0" smtClean="0"/>
              <a:t>composant User </a:t>
            </a:r>
            <a:r>
              <a:rPr lang="fr-FR" sz="2400" dirty="0"/>
              <a:t>est conçu pour </a:t>
            </a:r>
            <a:r>
              <a:rPr lang="fr-FR" sz="2400" dirty="0" smtClean="0"/>
              <a:t>:</a:t>
            </a:r>
          </a:p>
          <a:p>
            <a:pPr lvl="1" algn="just">
              <a:lnSpc>
                <a:spcPct val="150000"/>
              </a:lnSpc>
            </a:pPr>
            <a:r>
              <a:rPr lang="fr-FR" sz="2000" dirty="0"/>
              <a:t>Gérer l'affichage conditionnel avec *</a:t>
            </a:r>
            <a:r>
              <a:rPr lang="fr-FR" sz="2000" dirty="0" err="1"/>
              <a:t>ngIf</a:t>
            </a:r>
            <a:r>
              <a:rPr lang="fr-FR" sz="2000" dirty="0"/>
              <a:t> pour montrer un message selon l'état de connexion</a:t>
            </a:r>
            <a:r>
              <a:rPr lang="fr-FR" sz="2000" dirty="0" smtClean="0"/>
              <a:t>.</a:t>
            </a:r>
          </a:p>
          <a:p>
            <a:pPr lvl="1" algn="just">
              <a:lnSpc>
                <a:spcPct val="150000"/>
              </a:lnSpc>
            </a:pPr>
            <a:r>
              <a:rPr lang="fr-FR" sz="2000" dirty="0"/>
              <a:t>Afficher dynamiquement une liste d’utilisateurs avec *</a:t>
            </a:r>
            <a:r>
              <a:rPr lang="fr-FR" sz="2000" dirty="0" err="1"/>
              <a:t>ngFor</a:t>
            </a:r>
            <a:r>
              <a:rPr lang="fr-FR" sz="2000" dirty="0" smtClean="0"/>
              <a:t>.</a:t>
            </a:r>
          </a:p>
          <a:p>
            <a:pPr lvl="1" algn="just">
              <a:lnSpc>
                <a:spcPct val="150000"/>
              </a:lnSpc>
            </a:pPr>
            <a:r>
              <a:rPr lang="fr-FR" sz="2000" dirty="0"/>
              <a:t>Utiliser *</a:t>
            </a:r>
            <a:r>
              <a:rPr lang="fr-FR" sz="2000" dirty="0" err="1"/>
              <a:t>ngSwitch</a:t>
            </a:r>
            <a:r>
              <a:rPr lang="fr-FR" sz="2000" dirty="0"/>
              <a:t> pour afficher un message en fonction du rôle de l’utilisateur</a:t>
            </a:r>
            <a:r>
              <a:rPr lang="fr-FR" sz="2000" dirty="0" smtClean="0"/>
              <a:t>.</a:t>
            </a:r>
          </a:p>
          <a:p>
            <a:pPr lvl="1" algn="just">
              <a:lnSpc>
                <a:spcPct val="150000"/>
              </a:lnSpc>
            </a:pPr>
            <a:r>
              <a:rPr lang="fr-FR" sz="2000" dirty="0"/>
              <a:t>Appliquer des styles dynamiques avec </a:t>
            </a:r>
            <a:r>
              <a:rPr lang="fr-FR" sz="2000" dirty="0" smtClean="0"/>
              <a:t>[</a:t>
            </a:r>
            <a:r>
              <a:rPr lang="fr-FR" sz="2000" dirty="0" err="1"/>
              <a:t>ngStyle</a:t>
            </a:r>
            <a:r>
              <a:rPr lang="fr-FR" sz="2000" dirty="0"/>
              <a:t>] pour mettre en avant du contenu</a:t>
            </a:r>
            <a:r>
              <a:rPr lang="fr-FR" sz="2000" dirty="0" smtClean="0"/>
              <a:t>.</a:t>
            </a:r>
          </a:p>
          <a:p>
            <a:pPr lvl="1" algn="just">
              <a:lnSpc>
                <a:spcPct val="150000"/>
              </a:lnSpc>
            </a:pPr>
            <a:r>
              <a:rPr lang="fr-FR" sz="2000" b="1" dirty="0"/>
              <a:t>Interagir avec l'utilisateur</a:t>
            </a:r>
            <a:r>
              <a:rPr lang="fr-FR" sz="2000" dirty="0"/>
              <a:t> grâce à un bouton qui change l’état de connexion.</a:t>
            </a:r>
          </a:p>
        </p:txBody>
      </p:sp>
    </p:spTree>
    <p:extLst>
      <p:ext uri="{BB962C8B-B14F-4D97-AF65-F5344CB8AC3E}">
        <p14:creationId xmlns:p14="http://schemas.microsoft.com/office/powerpoint/2010/main" val="3230612130"/>
      </p:ext>
    </p:extLst>
  </p:cSld>
  <p:clrMapOvr>
    <a:masterClrMapping/>
  </p:clrMapOvr>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135116" y="153556"/>
            <a:ext cx="10058400" cy="776609"/>
          </a:xfrm>
        </p:spPr>
        <p:txBody>
          <a:bodyPr/>
          <a:lstStyle/>
          <a:p>
            <a:pPr algn="ctr"/>
            <a:r>
              <a:rPr lang="fr-FR" dirty="0" smtClean="0"/>
              <a:t>La logique applicative</a:t>
            </a:r>
            <a:endParaRPr lang="fr-FR" dirty="0"/>
          </a:p>
        </p:txBody>
      </p:sp>
      <p:pic>
        <p:nvPicPr>
          <p:cNvPr id="4" name="Espace réservé du contenu 3"/>
          <p:cNvPicPr>
            <a:picLocks noGrp="1" noChangeAspect="1"/>
          </p:cNvPicPr>
          <p:nvPr>
            <p:ph idx="1"/>
          </p:nvPr>
        </p:nvPicPr>
        <p:blipFill>
          <a:blip r:embed="rId2">
            <a:extLst>
              <a:ext uri="{BEBA8EAE-BF5A-486C-A8C5-ECC9F3942E4B}">
                <a14:imgProps xmlns:a14="http://schemas.microsoft.com/office/drawing/2010/main">
                  <a14:imgLayer r:embed="rId3">
                    <a14:imgEffect>
                      <a14:colorTemperature colorTemp="5300"/>
                    </a14:imgEffect>
                  </a14:imgLayer>
                </a14:imgProps>
              </a:ext>
            </a:extLst>
          </a:blip>
          <a:stretch>
            <a:fillRect/>
          </a:stretch>
        </p:blipFill>
        <p:spPr>
          <a:xfrm>
            <a:off x="536028" y="1198179"/>
            <a:ext cx="10657487" cy="502919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191228496"/>
      </p:ext>
    </p:extLst>
  </p:cSld>
  <p:clrMapOvr>
    <a:masterClrMapping/>
  </p:clrMapOvr>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3200" dirty="0"/>
              <a:t>Affichage conditionnel avec *</a:t>
            </a:r>
            <a:r>
              <a:rPr lang="fr-FR" sz="3200" dirty="0" err="1"/>
              <a:t>ngIf</a:t>
            </a:r>
            <a:endParaRPr lang="fr-FR" sz="3200" dirty="0"/>
          </a:p>
        </p:txBody>
      </p:sp>
      <p:pic>
        <p:nvPicPr>
          <p:cNvPr id="6" name="Espace réservé du contenu 5"/>
          <p:cNvPicPr>
            <a:picLocks noGrp="1" noChangeAspect="1"/>
          </p:cNvPicPr>
          <p:nvPr>
            <p:ph idx="1"/>
          </p:nvPr>
        </p:nvPicPr>
        <p:blipFill>
          <a:blip r:embed="rId2">
            <a:extLst>
              <a:ext uri="{BEBA8EAE-BF5A-486C-A8C5-ECC9F3942E4B}">
                <a14:imgProps xmlns:a14="http://schemas.microsoft.com/office/drawing/2010/main">
                  <a14:imgLayer r:embed="rId3">
                    <a14:imgEffect>
                      <a14:colorTemperature colorTemp="5300"/>
                    </a14:imgEffect>
                  </a14:imgLayer>
                </a14:imgProps>
              </a:ext>
            </a:extLst>
          </a:blip>
          <a:stretch>
            <a:fillRect/>
          </a:stretch>
        </p:blipFill>
        <p:spPr>
          <a:xfrm>
            <a:off x="1844566" y="2285562"/>
            <a:ext cx="8403020" cy="286976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962575748"/>
      </p:ext>
    </p:extLst>
  </p:cSld>
  <p:clrMapOvr>
    <a:masterClrMapping/>
  </p:clrMapOvr>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4000" dirty="0"/>
              <a:t> Affichage d'une liste avec *</a:t>
            </a:r>
            <a:r>
              <a:rPr lang="fr-FR" sz="4000" dirty="0" err="1"/>
              <a:t>ngFor</a:t>
            </a:r>
            <a:endParaRPr lang="fr-FR" sz="4000" dirty="0"/>
          </a:p>
        </p:txBody>
      </p:sp>
      <p:pic>
        <p:nvPicPr>
          <p:cNvPr id="5" name="Espace réservé du contenu 4"/>
          <p:cNvPicPr>
            <a:picLocks noGrp="1" noChangeAspect="1"/>
          </p:cNvPicPr>
          <p:nvPr>
            <p:ph idx="1"/>
          </p:nvPr>
        </p:nvPicPr>
        <p:blipFill>
          <a:blip r:embed="rId2">
            <a:extLst>
              <a:ext uri="{BEBA8EAE-BF5A-486C-A8C5-ECC9F3942E4B}">
                <a14:imgProps xmlns:a14="http://schemas.microsoft.com/office/drawing/2010/main">
                  <a14:imgLayer r:embed="rId3">
                    <a14:imgEffect>
                      <a14:colorTemperature colorTemp="5300"/>
                    </a14:imgEffect>
                  </a14:imgLayer>
                </a14:imgProps>
              </a:ext>
            </a:extLst>
          </a:blip>
          <a:stretch>
            <a:fillRect/>
          </a:stretch>
        </p:blipFill>
        <p:spPr>
          <a:xfrm>
            <a:off x="1749973" y="2695904"/>
            <a:ext cx="7457090" cy="187609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804186480"/>
      </p:ext>
    </p:extLst>
  </p:cSld>
  <p:clrMapOvr>
    <a:masterClrMapping/>
  </p:clrMapOvr>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a:t>Utilisation de *</a:t>
            </a:r>
            <a:r>
              <a:rPr lang="fr-FR" dirty="0" err="1"/>
              <a:t>ngSwitch</a:t>
            </a:r>
            <a:endParaRPr lang="fr-FR" dirty="0"/>
          </a:p>
        </p:txBody>
      </p:sp>
      <p:pic>
        <p:nvPicPr>
          <p:cNvPr id="4" name="Espace réservé du contenu 3"/>
          <p:cNvPicPr>
            <a:picLocks noGrp="1" noChangeAspect="1"/>
          </p:cNvPicPr>
          <p:nvPr>
            <p:ph idx="1"/>
          </p:nvPr>
        </p:nvPicPr>
        <p:blipFill>
          <a:blip r:embed="rId2">
            <a:extLst>
              <a:ext uri="{BEBA8EAE-BF5A-486C-A8C5-ECC9F3942E4B}">
                <a14:imgProps xmlns:a14="http://schemas.microsoft.com/office/drawing/2010/main">
                  <a14:imgLayer r:embed="rId3">
                    <a14:imgEffect>
                      <a14:colorTemperature colorTemp="5300"/>
                    </a14:imgEffect>
                  </a14:imgLayer>
                </a14:imgProps>
              </a:ext>
            </a:extLst>
          </a:blip>
          <a:stretch>
            <a:fillRect/>
          </a:stretch>
        </p:blipFill>
        <p:spPr>
          <a:xfrm>
            <a:off x="2396359" y="2443654"/>
            <a:ext cx="7551682" cy="238059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463730495"/>
      </p:ext>
    </p:extLst>
  </p:cSld>
  <p:clrMapOvr>
    <a:masterClrMapping/>
  </p:clrMapOvr>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2800" dirty="0"/>
              <a:t> Application de styles dynamiques avec [</a:t>
            </a:r>
            <a:r>
              <a:rPr lang="fr-FR" sz="2800" dirty="0" err="1"/>
              <a:t>ngStyle</a:t>
            </a:r>
            <a:r>
              <a:rPr lang="fr-FR" sz="2800" dirty="0"/>
              <a:t>]</a:t>
            </a:r>
          </a:p>
        </p:txBody>
      </p:sp>
      <p:pic>
        <p:nvPicPr>
          <p:cNvPr id="5" name="Espace réservé du contenu 4"/>
          <p:cNvPicPr>
            <a:picLocks noGrp="1" noChangeAspect="1"/>
          </p:cNvPicPr>
          <p:nvPr>
            <p:ph idx="1"/>
          </p:nvPr>
        </p:nvPicPr>
        <p:blipFill>
          <a:blip r:embed="rId2">
            <a:extLst>
              <a:ext uri="{BEBA8EAE-BF5A-486C-A8C5-ECC9F3942E4B}">
                <a14:imgProps xmlns:a14="http://schemas.microsoft.com/office/drawing/2010/main">
                  <a14:imgLayer r:embed="rId3">
                    <a14:imgEffect>
                      <a14:colorTemperature colorTemp="5300"/>
                    </a14:imgEffect>
                  </a14:imgLayer>
                </a14:imgProps>
              </a:ext>
            </a:extLst>
          </a:blip>
          <a:stretch>
            <a:fillRect/>
          </a:stretch>
        </p:blipFill>
        <p:spPr>
          <a:xfrm>
            <a:off x="2701579" y="2806263"/>
            <a:ext cx="6794938" cy="89507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292774968"/>
      </p:ext>
    </p:extLst>
  </p:cSld>
  <p:clrMapOvr>
    <a:masterClrMapping/>
  </p:clrMapOvr>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974" y="232384"/>
            <a:ext cx="10058400" cy="729313"/>
          </a:xfrm>
        </p:spPr>
        <p:txBody>
          <a:bodyPr>
            <a:normAutofit fontScale="90000"/>
          </a:bodyPr>
          <a:lstStyle/>
          <a:p>
            <a:pPr algn="ctr"/>
            <a:r>
              <a:rPr lang="fr-FR" dirty="0"/>
              <a:t>Création d'une directive</a:t>
            </a:r>
          </a:p>
        </p:txBody>
      </p:sp>
      <p:pic>
        <p:nvPicPr>
          <p:cNvPr id="4" name="Espace réservé du contenu 3"/>
          <p:cNvPicPr>
            <a:picLocks noGrp="1" noChangeAspect="1"/>
          </p:cNvPicPr>
          <p:nvPr>
            <p:ph idx="1"/>
          </p:nvPr>
        </p:nvPicPr>
        <p:blipFill>
          <a:blip r:embed="rId2">
            <a:extLst>
              <a:ext uri="{BEBA8EAE-BF5A-486C-A8C5-ECC9F3942E4B}">
                <a14:imgProps xmlns:a14="http://schemas.microsoft.com/office/drawing/2010/main">
                  <a14:imgLayer r:embed="rId3">
                    <a14:imgEffect>
                      <a14:colorTemperature colorTemp="5300"/>
                    </a14:imgEffect>
                  </a14:imgLayer>
                </a14:imgProps>
              </a:ext>
            </a:extLst>
          </a:blip>
          <a:stretch>
            <a:fillRect/>
          </a:stretch>
        </p:blipFill>
        <p:spPr>
          <a:xfrm>
            <a:off x="2301766" y="1166649"/>
            <a:ext cx="7504385" cy="55179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5" name="Image 4"/>
          <p:cNvPicPr>
            <a:picLocks noChangeAspect="1"/>
          </p:cNvPicPr>
          <p:nvPr/>
        </p:nvPicPr>
        <p:blipFill>
          <a:blip r:embed="rId4">
            <a:extLst>
              <a:ext uri="{BEBA8EAE-BF5A-486C-A8C5-ECC9F3942E4B}">
                <a14:imgProps xmlns:a14="http://schemas.microsoft.com/office/drawing/2010/main">
                  <a14:imgLayer r:embed="rId5">
                    <a14:imgEffect>
                      <a14:colorTemperature colorTemp="5300"/>
                    </a14:imgEffect>
                  </a14:imgLayer>
                </a14:imgProps>
              </a:ext>
            </a:extLst>
          </a:blip>
          <a:stretch>
            <a:fillRect/>
          </a:stretch>
        </p:blipFill>
        <p:spPr>
          <a:xfrm>
            <a:off x="2301766" y="1923393"/>
            <a:ext cx="7504386" cy="364183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6" name="Image 5"/>
          <p:cNvPicPr>
            <a:picLocks noChangeAspect="1"/>
          </p:cNvPicPr>
          <p:nvPr/>
        </p:nvPicPr>
        <p:blipFill>
          <a:blip r:embed="rId6"/>
          <a:stretch>
            <a:fillRect/>
          </a:stretch>
        </p:blipFill>
        <p:spPr>
          <a:xfrm>
            <a:off x="2301766" y="5770180"/>
            <a:ext cx="7504386" cy="567558"/>
          </a:xfrm>
          <a:prstGeom prst="rect">
            <a:avLst/>
          </a:prstGeom>
        </p:spPr>
      </p:pic>
    </p:spTree>
    <p:extLst>
      <p:ext uri="{BB962C8B-B14F-4D97-AF65-F5344CB8AC3E}">
        <p14:creationId xmlns:p14="http://schemas.microsoft.com/office/powerpoint/2010/main" val="3837046024"/>
      </p:ext>
    </p:extLst>
  </p:cSld>
  <p:clrMapOvr>
    <a:masterClrMapping/>
  </p:clrMapOvr>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ctrTitle"/>
          </p:nvPr>
        </p:nvSpPr>
        <p:spPr/>
        <p:txBody>
          <a:bodyPr/>
          <a:lstStyle/>
          <a:p>
            <a:pPr algn="ctr"/>
            <a:r>
              <a:rPr lang="fr-FR" dirty="0"/>
              <a:t>Communication entre composants</a:t>
            </a:r>
          </a:p>
        </p:txBody>
      </p:sp>
      <p:sp>
        <p:nvSpPr>
          <p:cNvPr id="5" name="Sous-titre 4"/>
          <p:cNvSpPr>
            <a:spLocks noGrp="1"/>
          </p:cNvSpPr>
          <p:nvPr>
            <p:ph type="subTitle" idx="1"/>
          </p:nvPr>
        </p:nvSpPr>
        <p:spPr/>
        <p:txBody>
          <a:bodyPr>
            <a:normAutofit/>
          </a:bodyPr>
          <a:lstStyle/>
          <a:p>
            <a:r>
              <a:rPr lang="fr-FR" sz="2800" dirty="0" smtClean="0"/>
              <a:t>@Input &amp; @Output</a:t>
            </a:r>
            <a:endParaRPr lang="fr-FR" sz="2800" dirty="0"/>
          </a:p>
        </p:txBody>
      </p:sp>
    </p:spTree>
    <p:extLst>
      <p:ext uri="{BB962C8B-B14F-4D97-AF65-F5344CB8AC3E}">
        <p14:creationId xmlns:p14="http://schemas.microsoft.com/office/powerpoint/2010/main" val="3168501926"/>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@Input()</a:t>
            </a:r>
          </a:p>
        </p:txBody>
      </p:sp>
      <p:sp>
        <p:nvSpPr>
          <p:cNvPr id="3" name="Content Placeholder 2"/>
          <p:cNvSpPr>
            <a:spLocks noGrp="1"/>
          </p:cNvSpPr>
          <p:nvPr>
            <p:ph idx="1"/>
          </p:nvPr>
        </p:nvSpPr>
        <p:spPr/>
        <p:txBody>
          <a:bodyPr>
            <a:normAutofit/>
          </a:bodyPr>
          <a:lstStyle/>
          <a:p>
            <a:pPr algn="just">
              <a:lnSpc>
                <a:spcPct val="150000"/>
              </a:lnSpc>
            </a:pPr>
            <a:r>
              <a:rPr sz="2400" dirty="0" err="1" smtClean="0"/>
              <a:t>Permet</a:t>
            </a:r>
            <a:r>
              <a:rPr sz="2400" dirty="0" smtClean="0"/>
              <a:t> </a:t>
            </a:r>
            <a:r>
              <a:rPr sz="2400" dirty="0"/>
              <a:t>de passer des </a:t>
            </a:r>
            <a:r>
              <a:rPr sz="2400" dirty="0" err="1"/>
              <a:t>données</a:t>
            </a:r>
            <a:r>
              <a:rPr sz="2400" dirty="0"/>
              <a:t> du parent </a:t>
            </a:r>
            <a:r>
              <a:rPr sz="2400" dirty="0" err="1"/>
              <a:t>vers</a:t>
            </a:r>
            <a:r>
              <a:rPr sz="2400" dirty="0"/>
              <a:t> </a:t>
            </a:r>
            <a:r>
              <a:rPr sz="2400" dirty="0" err="1"/>
              <a:t>l’enfant</a:t>
            </a:r>
            <a:endParaRPr sz="2400" dirty="0"/>
          </a:p>
          <a:p>
            <a:pPr algn="just">
              <a:lnSpc>
                <a:spcPct val="150000"/>
              </a:lnSpc>
            </a:pPr>
            <a:r>
              <a:rPr sz="2400" dirty="0" err="1" smtClean="0"/>
              <a:t>Utilisé</a:t>
            </a:r>
            <a:r>
              <a:rPr sz="2400" dirty="0" smtClean="0"/>
              <a:t> </a:t>
            </a:r>
            <a:r>
              <a:rPr sz="2400" dirty="0"/>
              <a:t>pour la communication </a:t>
            </a:r>
            <a:r>
              <a:rPr sz="2400" dirty="0" err="1"/>
              <a:t>descendante</a:t>
            </a:r>
            <a:endParaRPr sz="2400" dirty="0"/>
          </a:p>
          <a:p>
            <a:pPr algn="just">
              <a:lnSpc>
                <a:spcPct val="150000"/>
              </a:lnSpc>
            </a:pPr>
            <a:endParaRPr sz="2400" dirty="0"/>
          </a:p>
          <a:p>
            <a:pPr algn="just">
              <a:lnSpc>
                <a:spcPct val="150000"/>
              </a:lnSpc>
            </a:pPr>
            <a:r>
              <a:rPr sz="2400" dirty="0" err="1"/>
              <a:t>Exemple</a:t>
            </a:r>
            <a:r>
              <a:rPr sz="2400" dirty="0"/>
              <a:t> :</a:t>
            </a:r>
          </a:p>
          <a:p>
            <a:pPr lvl="1" algn="just">
              <a:lnSpc>
                <a:spcPct val="150000"/>
              </a:lnSpc>
            </a:pPr>
            <a:r>
              <a:rPr sz="2000" b="1" dirty="0"/>
              <a:t>@Input() title: string;</a:t>
            </a:r>
          </a:p>
        </p:txBody>
      </p:sp>
    </p:spTree>
    <p:extLst>
      <p:ext uri="{BB962C8B-B14F-4D97-AF65-F5344CB8AC3E}">
        <p14:creationId xmlns:p14="http://schemas.microsoft.com/office/powerpoint/2010/main" val="223182461"/>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@Output()</a:t>
            </a:r>
          </a:p>
        </p:txBody>
      </p:sp>
      <p:sp>
        <p:nvSpPr>
          <p:cNvPr id="3" name="Content Placeholder 2"/>
          <p:cNvSpPr>
            <a:spLocks noGrp="1"/>
          </p:cNvSpPr>
          <p:nvPr>
            <p:ph idx="1"/>
          </p:nvPr>
        </p:nvSpPr>
        <p:spPr/>
        <p:txBody>
          <a:bodyPr>
            <a:noAutofit/>
          </a:bodyPr>
          <a:lstStyle/>
          <a:p>
            <a:pPr algn="just">
              <a:lnSpc>
                <a:spcPct val="150000"/>
              </a:lnSpc>
            </a:pPr>
            <a:r>
              <a:rPr sz="2400" dirty="0" err="1" smtClean="0"/>
              <a:t>Permet</a:t>
            </a:r>
            <a:r>
              <a:rPr sz="2400" dirty="0" smtClean="0"/>
              <a:t> </a:t>
            </a:r>
            <a:r>
              <a:rPr sz="2400" dirty="0" err="1"/>
              <a:t>d’émettre</a:t>
            </a:r>
            <a:r>
              <a:rPr sz="2400" dirty="0"/>
              <a:t> des </a:t>
            </a:r>
            <a:r>
              <a:rPr sz="2400" dirty="0" err="1"/>
              <a:t>événements</a:t>
            </a:r>
            <a:r>
              <a:rPr sz="2400" dirty="0"/>
              <a:t> de </a:t>
            </a:r>
            <a:r>
              <a:rPr sz="2400" dirty="0" err="1"/>
              <a:t>l’enfant</a:t>
            </a:r>
            <a:r>
              <a:rPr sz="2400" dirty="0"/>
              <a:t> </a:t>
            </a:r>
            <a:r>
              <a:rPr sz="2400" dirty="0" err="1"/>
              <a:t>vers</a:t>
            </a:r>
            <a:r>
              <a:rPr sz="2400" dirty="0"/>
              <a:t> le parent</a:t>
            </a:r>
          </a:p>
          <a:p>
            <a:pPr algn="just">
              <a:lnSpc>
                <a:spcPct val="150000"/>
              </a:lnSpc>
            </a:pPr>
            <a:r>
              <a:rPr sz="2400" dirty="0" err="1" smtClean="0"/>
              <a:t>Basé</a:t>
            </a:r>
            <a:r>
              <a:rPr sz="2400" dirty="0" smtClean="0"/>
              <a:t> </a:t>
            </a:r>
            <a:r>
              <a:rPr sz="2400" dirty="0"/>
              <a:t>sur </a:t>
            </a:r>
            <a:r>
              <a:rPr sz="2400" dirty="0" err="1"/>
              <a:t>EventEmitter</a:t>
            </a:r>
            <a:endParaRPr sz="2400" dirty="0"/>
          </a:p>
          <a:p>
            <a:pPr algn="just">
              <a:lnSpc>
                <a:spcPct val="150000"/>
              </a:lnSpc>
            </a:pPr>
            <a:endParaRPr sz="2400" dirty="0"/>
          </a:p>
          <a:p>
            <a:pPr algn="just">
              <a:lnSpc>
                <a:spcPct val="150000"/>
              </a:lnSpc>
            </a:pPr>
            <a:r>
              <a:rPr sz="2400" dirty="0" err="1"/>
              <a:t>Exemple</a:t>
            </a:r>
            <a:r>
              <a:rPr sz="2400" dirty="0"/>
              <a:t> :</a:t>
            </a:r>
          </a:p>
          <a:p>
            <a:pPr lvl="1" algn="just">
              <a:lnSpc>
                <a:spcPct val="150000"/>
              </a:lnSpc>
            </a:pPr>
            <a:r>
              <a:rPr sz="2000" b="1" dirty="0"/>
              <a:t>@Output() delete = new </a:t>
            </a:r>
            <a:r>
              <a:rPr sz="2000" b="1" dirty="0" err="1"/>
              <a:t>EventEmitter</a:t>
            </a:r>
            <a:r>
              <a:rPr sz="2000" b="1" dirty="0"/>
              <a:t>&lt;number&gt;();</a:t>
            </a:r>
          </a:p>
        </p:txBody>
      </p:sp>
    </p:spTree>
    <p:extLst>
      <p:ext uri="{BB962C8B-B14F-4D97-AF65-F5344CB8AC3E}">
        <p14:creationId xmlns:p14="http://schemas.microsoft.com/office/powerpoint/2010/main" val="1741343986"/>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EventEmitter</a:t>
            </a:r>
          </a:p>
        </p:txBody>
      </p:sp>
      <p:sp>
        <p:nvSpPr>
          <p:cNvPr id="3" name="Content Placeholder 2"/>
          <p:cNvSpPr>
            <a:spLocks noGrp="1"/>
          </p:cNvSpPr>
          <p:nvPr>
            <p:ph idx="1"/>
          </p:nvPr>
        </p:nvSpPr>
        <p:spPr/>
        <p:txBody>
          <a:bodyPr>
            <a:normAutofit/>
          </a:bodyPr>
          <a:lstStyle/>
          <a:p>
            <a:pPr algn="just">
              <a:lnSpc>
                <a:spcPct val="150000"/>
              </a:lnSpc>
            </a:pPr>
            <a:r>
              <a:rPr sz="2800" dirty="0" err="1" smtClean="0"/>
              <a:t>Classe</a:t>
            </a:r>
            <a:r>
              <a:rPr sz="2800" dirty="0" smtClean="0"/>
              <a:t> </a:t>
            </a:r>
            <a:r>
              <a:rPr sz="2800" dirty="0"/>
              <a:t>Angular pour </a:t>
            </a:r>
            <a:r>
              <a:rPr sz="2800" dirty="0" err="1"/>
              <a:t>émettre</a:t>
            </a:r>
            <a:r>
              <a:rPr sz="2800" dirty="0"/>
              <a:t> des </a:t>
            </a:r>
            <a:r>
              <a:rPr sz="2800" dirty="0" err="1"/>
              <a:t>événements</a:t>
            </a:r>
            <a:endParaRPr sz="2800" dirty="0"/>
          </a:p>
          <a:p>
            <a:pPr algn="just">
              <a:lnSpc>
                <a:spcPct val="150000"/>
              </a:lnSpc>
            </a:pPr>
            <a:r>
              <a:rPr sz="2800" dirty="0" err="1" smtClean="0"/>
              <a:t>Utilisée</a:t>
            </a:r>
            <a:r>
              <a:rPr sz="2800" dirty="0" smtClean="0"/>
              <a:t> </a:t>
            </a:r>
            <a:r>
              <a:rPr sz="2800" dirty="0"/>
              <a:t>avec </a:t>
            </a:r>
            <a:r>
              <a:rPr sz="2800" b="1" dirty="0"/>
              <a:t>@Output</a:t>
            </a:r>
          </a:p>
          <a:p>
            <a:pPr algn="just">
              <a:lnSpc>
                <a:spcPct val="150000"/>
              </a:lnSpc>
            </a:pPr>
            <a:r>
              <a:rPr sz="2800" dirty="0" smtClean="0"/>
              <a:t>Communication </a:t>
            </a:r>
            <a:r>
              <a:rPr sz="2800" dirty="0" err="1"/>
              <a:t>ascendante</a:t>
            </a:r>
            <a:endParaRPr sz="2800" dirty="0"/>
          </a:p>
          <a:p>
            <a:pPr algn="just">
              <a:lnSpc>
                <a:spcPct val="150000"/>
              </a:lnSpc>
            </a:pPr>
            <a:endParaRPr sz="2800" dirty="0"/>
          </a:p>
          <a:p>
            <a:pPr algn="just">
              <a:lnSpc>
                <a:spcPct val="150000"/>
              </a:lnSpc>
            </a:pPr>
            <a:r>
              <a:rPr sz="2800" b="1" dirty="0" err="1"/>
              <a:t>this.delete.emit</a:t>
            </a:r>
            <a:r>
              <a:rPr sz="2800" b="1" dirty="0"/>
              <a:t>(id);</a:t>
            </a:r>
          </a:p>
        </p:txBody>
      </p:sp>
    </p:spTree>
    <p:extLst>
      <p:ext uri="{BB962C8B-B14F-4D97-AF65-F5344CB8AC3E}">
        <p14:creationId xmlns:p14="http://schemas.microsoft.com/office/powerpoint/2010/main" val="847382467"/>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Communication bidirectionnelle</a:t>
            </a:r>
          </a:p>
        </p:txBody>
      </p:sp>
      <p:sp>
        <p:nvSpPr>
          <p:cNvPr id="3" name="Content Placeholder 2"/>
          <p:cNvSpPr>
            <a:spLocks noGrp="1"/>
          </p:cNvSpPr>
          <p:nvPr>
            <p:ph idx="1"/>
          </p:nvPr>
        </p:nvSpPr>
        <p:spPr/>
        <p:txBody>
          <a:bodyPr>
            <a:normAutofit/>
          </a:bodyPr>
          <a:lstStyle/>
          <a:p>
            <a:pPr algn="just">
              <a:lnSpc>
                <a:spcPct val="150000"/>
              </a:lnSpc>
            </a:pPr>
            <a:r>
              <a:rPr sz="2800" dirty="0" err="1" smtClean="0"/>
              <a:t>Combinaison</a:t>
            </a:r>
            <a:r>
              <a:rPr sz="2800" dirty="0" smtClean="0"/>
              <a:t> </a:t>
            </a:r>
            <a:r>
              <a:rPr sz="2800" dirty="0"/>
              <a:t>de </a:t>
            </a:r>
            <a:r>
              <a:rPr sz="2800" b="1" dirty="0"/>
              <a:t>@Input </a:t>
            </a:r>
            <a:r>
              <a:rPr sz="2800" dirty="0"/>
              <a:t>et </a:t>
            </a:r>
            <a:r>
              <a:rPr sz="2800" b="1" dirty="0"/>
              <a:t>@Output</a:t>
            </a:r>
          </a:p>
          <a:p>
            <a:pPr algn="just">
              <a:lnSpc>
                <a:spcPct val="150000"/>
              </a:lnSpc>
            </a:pPr>
            <a:r>
              <a:rPr sz="2800" dirty="0" err="1" smtClean="0"/>
              <a:t>Synchronisation</a:t>
            </a:r>
            <a:r>
              <a:rPr sz="2800" dirty="0" smtClean="0"/>
              <a:t> </a:t>
            </a:r>
            <a:r>
              <a:rPr sz="2800" dirty="0"/>
              <a:t>des </a:t>
            </a:r>
            <a:r>
              <a:rPr sz="2800" dirty="0" err="1"/>
              <a:t>données</a:t>
            </a:r>
            <a:endParaRPr sz="2800" dirty="0"/>
          </a:p>
          <a:p>
            <a:pPr algn="just">
              <a:lnSpc>
                <a:spcPct val="150000"/>
              </a:lnSpc>
            </a:pPr>
            <a:r>
              <a:rPr sz="2800" dirty="0" smtClean="0"/>
              <a:t>Alternative </a:t>
            </a:r>
            <a:r>
              <a:rPr sz="2800" dirty="0"/>
              <a:t>: </a:t>
            </a:r>
            <a:r>
              <a:rPr sz="2800" b="1" dirty="0"/>
              <a:t>[(</a:t>
            </a:r>
            <a:r>
              <a:rPr sz="2800" b="1" dirty="0" err="1"/>
              <a:t>ngModel</a:t>
            </a:r>
            <a:r>
              <a:rPr sz="2800" b="1" dirty="0"/>
              <a:t>)]</a:t>
            </a:r>
          </a:p>
        </p:txBody>
      </p:sp>
    </p:spTree>
    <p:extLst>
      <p:ext uri="{BB962C8B-B14F-4D97-AF65-F5344CB8AC3E}">
        <p14:creationId xmlns:p14="http://schemas.microsoft.com/office/powerpoint/2010/main" val="2217856954"/>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ViewChild</a:t>
            </a:r>
          </a:p>
        </p:txBody>
      </p:sp>
      <p:sp>
        <p:nvSpPr>
          <p:cNvPr id="3" name="Content Placeholder 2"/>
          <p:cNvSpPr>
            <a:spLocks noGrp="1"/>
          </p:cNvSpPr>
          <p:nvPr>
            <p:ph idx="1"/>
          </p:nvPr>
        </p:nvSpPr>
        <p:spPr/>
        <p:txBody>
          <a:bodyPr>
            <a:normAutofit/>
          </a:bodyPr>
          <a:lstStyle/>
          <a:p>
            <a:pPr algn="just">
              <a:lnSpc>
                <a:spcPct val="150000"/>
              </a:lnSpc>
            </a:pPr>
            <a:r>
              <a:rPr sz="2400" dirty="0" err="1" smtClean="0"/>
              <a:t>Accéder</a:t>
            </a:r>
            <a:r>
              <a:rPr sz="2400" dirty="0" smtClean="0"/>
              <a:t> </a:t>
            </a:r>
            <a:r>
              <a:rPr sz="2400" dirty="0"/>
              <a:t>à un </a:t>
            </a:r>
            <a:r>
              <a:rPr sz="2400" dirty="0" err="1"/>
              <a:t>composant</a:t>
            </a:r>
            <a:r>
              <a:rPr sz="2400" dirty="0"/>
              <a:t> enfant </a:t>
            </a:r>
            <a:r>
              <a:rPr sz="2400" dirty="0" err="1"/>
              <a:t>ou</a:t>
            </a:r>
            <a:r>
              <a:rPr sz="2400" dirty="0"/>
              <a:t> </a:t>
            </a:r>
            <a:r>
              <a:rPr sz="2400" dirty="0" err="1"/>
              <a:t>élément</a:t>
            </a:r>
            <a:r>
              <a:rPr sz="2400" dirty="0"/>
              <a:t> DOM</a:t>
            </a:r>
          </a:p>
          <a:p>
            <a:pPr algn="just">
              <a:lnSpc>
                <a:spcPct val="150000"/>
              </a:lnSpc>
            </a:pPr>
            <a:r>
              <a:rPr sz="2400" dirty="0" err="1" smtClean="0"/>
              <a:t>Utilisé</a:t>
            </a:r>
            <a:r>
              <a:rPr sz="2400" dirty="0" smtClean="0"/>
              <a:t> </a:t>
            </a:r>
            <a:r>
              <a:rPr sz="2400" dirty="0"/>
              <a:t>après </a:t>
            </a:r>
            <a:r>
              <a:rPr sz="2400" dirty="0" err="1"/>
              <a:t>l’initialisation</a:t>
            </a:r>
            <a:r>
              <a:rPr sz="2400" dirty="0"/>
              <a:t> de la </a:t>
            </a:r>
            <a:r>
              <a:rPr sz="2400" dirty="0" err="1"/>
              <a:t>vue</a:t>
            </a:r>
            <a:endParaRPr sz="2400" dirty="0"/>
          </a:p>
          <a:p>
            <a:pPr algn="just">
              <a:lnSpc>
                <a:spcPct val="150000"/>
              </a:lnSpc>
            </a:pPr>
            <a:endParaRPr sz="2400" dirty="0"/>
          </a:p>
          <a:p>
            <a:pPr algn="just">
              <a:lnSpc>
                <a:spcPct val="150000"/>
              </a:lnSpc>
            </a:pPr>
            <a:r>
              <a:rPr sz="2400" b="1" dirty="0"/>
              <a:t>@</a:t>
            </a:r>
            <a:r>
              <a:rPr sz="2400" b="1" dirty="0" err="1"/>
              <a:t>ViewChild</a:t>
            </a:r>
            <a:r>
              <a:rPr sz="2400" b="1" dirty="0"/>
              <a:t>(</a:t>
            </a:r>
            <a:r>
              <a:rPr sz="2400" b="1" dirty="0" err="1"/>
              <a:t>ChildComponent</a:t>
            </a:r>
            <a:r>
              <a:rPr sz="2400" b="1" dirty="0"/>
              <a:t>) child!: </a:t>
            </a:r>
            <a:r>
              <a:rPr sz="2400" b="1" dirty="0" err="1"/>
              <a:t>ChildComponent</a:t>
            </a:r>
            <a:r>
              <a:rPr sz="2400" b="1" dirty="0"/>
              <a:t>;</a:t>
            </a:r>
          </a:p>
        </p:txBody>
      </p:sp>
    </p:spTree>
    <p:extLst>
      <p:ext uri="{BB962C8B-B14F-4D97-AF65-F5344CB8AC3E}">
        <p14:creationId xmlns:p14="http://schemas.microsoft.com/office/powerpoint/2010/main" val="3130777981"/>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ViewChildren</a:t>
            </a:r>
          </a:p>
        </p:txBody>
      </p:sp>
      <p:sp>
        <p:nvSpPr>
          <p:cNvPr id="3" name="Content Placeholder 2"/>
          <p:cNvSpPr>
            <a:spLocks noGrp="1"/>
          </p:cNvSpPr>
          <p:nvPr>
            <p:ph idx="1"/>
          </p:nvPr>
        </p:nvSpPr>
        <p:spPr>
          <a:xfrm>
            <a:off x="523982" y="2121408"/>
            <a:ext cx="10604266" cy="4050792"/>
          </a:xfrm>
        </p:spPr>
        <p:txBody>
          <a:bodyPr/>
          <a:lstStyle/>
          <a:p>
            <a:pPr>
              <a:lnSpc>
                <a:spcPct val="150000"/>
              </a:lnSpc>
            </a:pPr>
            <a:r>
              <a:rPr dirty="0" err="1" smtClean="0"/>
              <a:t>Accéder</a:t>
            </a:r>
            <a:r>
              <a:rPr dirty="0" smtClean="0"/>
              <a:t> </a:t>
            </a:r>
            <a:r>
              <a:rPr dirty="0"/>
              <a:t>à </a:t>
            </a:r>
            <a:r>
              <a:rPr dirty="0" err="1"/>
              <a:t>plusieurs</a:t>
            </a:r>
            <a:r>
              <a:rPr dirty="0"/>
              <a:t> </a:t>
            </a:r>
            <a:r>
              <a:rPr dirty="0" err="1"/>
              <a:t>composants</a:t>
            </a:r>
            <a:r>
              <a:rPr dirty="0"/>
              <a:t> </a:t>
            </a:r>
            <a:r>
              <a:rPr dirty="0" err="1"/>
              <a:t>enfants</a:t>
            </a:r>
            <a:endParaRPr dirty="0"/>
          </a:p>
          <a:p>
            <a:pPr>
              <a:lnSpc>
                <a:spcPct val="150000"/>
              </a:lnSpc>
            </a:pPr>
            <a:r>
              <a:rPr dirty="0" err="1" smtClean="0"/>
              <a:t>Retourne</a:t>
            </a:r>
            <a:r>
              <a:rPr dirty="0" smtClean="0"/>
              <a:t> </a:t>
            </a:r>
            <a:r>
              <a:rPr dirty="0" err="1"/>
              <a:t>une</a:t>
            </a:r>
            <a:r>
              <a:rPr dirty="0"/>
              <a:t> </a:t>
            </a:r>
            <a:r>
              <a:rPr b="1" dirty="0" err="1"/>
              <a:t>QueryList</a:t>
            </a:r>
            <a:endParaRPr b="1" dirty="0"/>
          </a:p>
          <a:p>
            <a:pPr>
              <a:lnSpc>
                <a:spcPct val="150000"/>
              </a:lnSpc>
            </a:pPr>
            <a:endParaRPr dirty="0"/>
          </a:p>
          <a:p>
            <a:pPr>
              <a:lnSpc>
                <a:spcPct val="150000"/>
              </a:lnSpc>
            </a:pPr>
            <a:r>
              <a:rPr b="1" dirty="0"/>
              <a:t>@</a:t>
            </a:r>
            <a:r>
              <a:rPr b="1" dirty="0" err="1"/>
              <a:t>ViewChildren</a:t>
            </a:r>
            <a:r>
              <a:rPr b="1" dirty="0"/>
              <a:t>(</a:t>
            </a:r>
            <a:r>
              <a:rPr b="1" dirty="0" err="1"/>
              <a:t>ChildComponent</a:t>
            </a:r>
            <a:r>
              <a:rPr b="1" dirty="0"/>
              <a:t>) children!: </a:t>
            </a:r>
            <a:r>
              <a:rPr b="1" dirty="0" err="1"/>
              <a:t>QueryList</a:t>
            </a:r>
            <a:r>
              <a:rPr b="1" dirty="0"/>
              <a:t>&lt;</a:t>
            </a:r>
            <a:r>
              <a:rPr b="1" dirty="0" err="1"/>
              <a:t>ChildComponent</a:t>
            </a:r>
            <a:r>
              <a:rPr b="1" dirty="0"/>
              <a:t>&gt;;</a:t>
            </a:r>
          </a:p>
        </p:txBody>
      </p:sp>
    </p:spTree>
    <p:extLst>
      <p:ext uri="{BB962C8B-B14F-4D97-AF65-F5344CB8AC3E}">
        <p14:creationId xmlns:p14="http://schemas.microsoft.com/office/powerpoint/2010/main" val="1047456478"/>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Interaction Parent / Enfant</a:t>
            </a:r>
          </a:p>
        </p:txBody>
      </p:sp>
      <p:sp>
        <p:nvSpPr>
          <p:cNvPr id="3" name="Content Placeholder 2"/>
          <p:cNvSpPr>
            <a:spLocks noGrp="1"/>
          </p:cNvSpPr>
          <p:nvPr>
            <p:ph idx="1"/>
          </p:nvPr>
        </p:nvSpPr>
        <p:spPr/>
        <p:txBody>
          <a:bodyPr>
            <a:normAutofit/>
          </a:bodyPr>
          <a:lstStyle/>
          <a:p>
            <a:pPr algn="just">
              <a:lnSpc>
                <a:spcPct val="150000"/>
              </a:lnSpc>
            </a:pPr>
            <a:r>
              <a:rPr sz="3200" dirty="0" smtClean="0"/>
              <a:t>Parent </a:t>
            </a:r>
            <a:r>
              <a:rPr sz="3200" dirty="0"/>
              <a:t>→ Enfant : </a:t>
            </a:r>
            <a:r>
              <a:rPr sz="3200" b="1" dirty="0"/>
              <a:t>@Input</a:t>
            </a:r>
          </a:p>
          <a:p>
            <a:pPr algn="just">
              <a:lnSpc>
                <a:spcPct val="150000"/>
              </a:lnSpc>
            </a:pPr>
            <a:r>
              <a:rPr sz="3200" dirty="0" smtClean="0"/>
              <a:t>Enfant </a:t>
            </a:r>
            <a:r>
              <a:rPr sz="3200" dirty="0"/>
              <a:t>→ Parent : </a:t>
            </a:r>
            <a:r>
              <a:rPr sz="3200" b="1" dirty="0"/>
              <a:t>@Output</a:t>
            </a:r>
          </a:p>
          <a:p>
            <a:pPr algn="just">
              <a:lnSpc>
                <a:spcPct val="150000"/>
              </a:lnSpc>
            </a:pPr>
            <a:r>
              <a:rPr sz="3200" dirty="0" err="1" smtClean="0"/>
              <a:t>Accès</a:t>
            </a:r>
            <a:r>
              <a:rPr sz="3200" dirty="0" smtClean="0"/>
              <a:t> </a:t>
            </a:r>
            <a:r>
              <a:rPr sz="3200" dirty="0"/>
              <a:t>direct : </a:t>
            </a:r>
            <a:r>
              <a:rPr sz="3200" b="1" dirty="0" err="1"/>
              <a:t>ViewChild</a:t>
            </a:r>
            <a:r>
              <a:rPr sz="3200" b="1" dirty="0"/>
              <a:t> / </a:t>
            </a:r>
            <a:r>
              <a:rPr sz="3200" b="1" dirty="0" err="1"/>
              <a:t>ViewChildren</a:t>
            </a:r>
            <a:endParaRPr sz="3200" b="1" dirty="0"/>
          </a:p>
        </p:txBody>
      </p:sp>
    </p:spTree>
    <p:extLst>
      <p:ext uri="{BB962C8B-B14F-4D97-AF65-F5344CB8AC3E}">
        <p14:creationId xmlns:p14="http://schemas.microsoft.com/office/powerpoint/2010/main" val="71229596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Type de bois">
  <a:themeElements>
    <a:clrScheme name="Wood Type">
      <a:dk1>
        <a:sysClr val="windowText" lastClr="000000"/>
      </a:dk1>
      <a:lt1>
        <a:sysClr val="window" lastClr="FFFFFF"/>
      </a:lt1>
      <a:dk2>
        <a:srgbClr val="84ACB6"/>
      </a:dk2>
      <a:lt2>
        <a:srgbClr val="EBE9DD"/>
      </a:lt2>
      <a:accent1>
        <a:srgbClr val="6F8183"/>
      </a:accent1>
      <a:accent2>
        <a:srgbClr val="967E96"/>
      </a:accent2>
      <a:accent3>
        <a:srgbClr val="CCC893"/>
      </a:accent3>
      <a:accent4>
        <a:srgbClr val="A54D74"/>
      </a:accent4>
      <a:accent5>
        <a:srgbClr val="949C6B"/>
      </a:accent5>
      <a:accent6>
        <a:srgbClr val="766A50"/>
      </a:accent6>
      <a:hlink>
        <a:srgbClr val="CC6600"/>
      </a:hlink>
      <a:folHlink>
        <a:srgbClr val="777777"/>
      </a:folHlink>
    </a:clrScheme>
    <a:fontScheme name="Wood Type">
      <a:majorFont>
        <a:latin typeface="Century Gothic" panose="020B0502020202020204"/>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Bookman Old Style" panose="02050604050505020204"/>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8E89CD47-BF55-4DDE-B823-2283AA7E7695}"/>
    </a:ext>
  </a:extLst>
</a:theme>
</file>

<file path=docProps/app.xml><?xml version="1.0" encoding="utf-8"?>
<Properties xmlns="http://schemas.openxmlformats.org/officeDocument/2006/extended-properties" xmlns:vt="http://schemas.openxmlformats.org/officeDocument/2006/docPropsVTypes">
  <Template>Type de bois</Template>
  <TotalTime>109</TotalTime>
  <Words>4892</Words>
  <Application>Microsoft Office PowerPoint</Application>
  <PresentationFormat>Grand écran</PresentationFormat>
  <Paragraphs>607</Paragraphs>
  <Slides>161</Slides>
  <Notes>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161</vt:i4>
      </vt:variant>
    </vt:vector>
  </HeadingPairs>
  <TitlesOfParts>
    <vt:vector size="167" baseType="lpstr">
      <vt:lpstr>Agency FB</vt:lpstr>
      <vt:lpstr>Arial</vt:lpstr>
      <vt:lpstr>Bookman Old Style</vt:lpstr>
      <vt:lpstr>Century Gothic</vt:lpstr>
      <vt:lpstr>Wingdings</vt:lpstr>
      <vt:lpstr>Type de bois</vt:lpstr>
      <vt:lpstr>Framework Angular</vt:lpstr>
      <vt:lpstr>Partie I</vt:lpstr>
      <vt:lpstr>Plan </vt:lpstr>
      <vt:lpstr>Exigences en terme des architectures</vt:lpstr>
      <vt:lpstr>Architecture </vt:lpstr>
      <vt:lpstr>Tableau comparatif  des grandes architectures logicielles</vt:lpstr>
      <vt:lpstr>Comment positionner l’Architecture Full-Stack</vt:lpstr>
      <vt:lpstr>Pourquoi le full-stack ?</vt:lpstr>
      <vt:lpstr>Contexte général</vt:lpstr>
      <vt:lpstr>Qu’est-ce qu’une architecture fullstack ?</vt:lpstr>
      <vt:lpstr>Principe de communication</vt:lpstr>
      <vt:lpstr>Pourquoi combiner Spring Boot et Angular ?</vt:lpstr>
      <vt:lpstr>Vue d’ensemble des couches</vt:lpstr>
      <vt:lpstr>Architecture type</vt:lpstr>
      <vt:lpstr>Avantages de telles architectures</vt:lpstr>
      <vt:lpstr>Exemple de l’architecture  Full stack sur un PMS</vt:lpstr>
      <vt:lpstr>Vue d'ensemble d'Angular et de ses fonctionnalités </vt:lpstr>
      <vt:lpstr>Introduction</vt:lpstr>
      <vt:lpstr>Qu'est-ce qu'Angular ?</vt:lpstr>
      <vt:lpstr>Quelques caractéristiques principales d'Angular</vt:lpstr>
      <vt:lpstr>Présentation PowerPoint</vt:lpstr>
      <vt:lpstr>Différences avec d'autres Framework front-end (React, Vue). </vt:lpstr>
      <vt:lpstr>Philosophie et approche</vt:lpstr>
      <vt:lpstr>POIDS DES FRAMEWORKS </vt:lpstr>
      <vt:lpstr>UTILISATION PAR LES MARQUES </vt:lpstr>
      <vt:lpstr>Evolutions Angular</vt:lpstr>
      <vt:lpstr>Angular 14 (Juin 2022)</vt:lpstr>
      <vt:lpstr>Angular 15 (Novembre 2022)</vt:lpstr>
      <vt:lpstr>Standalone Components (stabilisé)</vt:lpstr>
      <vt:lpstr>Directive Composition API</vt:lpstr>
      <vt:lpstr>Optimisation de l'API des routes</vt:lpstr>
      <vt:lpstr>Amélioration des performances</vt:lpstr>
      <vt:lpstr>Meilleure gestion du rendu SSR (Server-Side Rendering)</vt:lpstr>
      <vt:lpstr>REACP ANGULAR 15</vt:lpstr>
      <vt:lpstr>Angular 16 (Mai 2023)</vt:lpstr>
      <vt:lpstr>Signals (expérimental)</vt:lpstr>
      <vt:lpstr>Principales Fonctions des Signals</vt:lpstr>
      <vt:lpstr>Déclaration d'un Signal</vt:lpstr>
      <vt:lpstr>computed() : Signal dérivé</vt:lpstr>
      <vt:lpstr>effect() : Exécuter un effet sur changement de signal</vt:lpstr>
      <vt:lpstr>Améliorations du Server-Side Rendering (SSR)</vt:lpstr>
      <vt:lpstr>Amélioration des formulaires avec Standalone Forms</vt:lpstr>
      <vt:lpstr>Résumé des nouveautés d'Angular 16</vt:lpstr>
      <vt:lpstr>Angular 17 (Novembre 2023)</vt:lpstr>
      <vt:lpstr>Migration Material 16 vers 17</vt:lpstr>
      <vt:lpstr>Angular Material 16</vt:lpstr>
      <vt:lpstr>Angular Material 17</vt:lpstr>
      <vt:lpstr>Résumé des changements clés</vt:lpstr>
      <vt:lpstr>Angular 18 (Mai 2024)</vt:lpstr>
      <vt:lpstr>Simplification des formulaires Angular</vt:lpstr>
      <vt:lpstr>Exemple de formulaire réactif avec Signal</vt:lpstr>
      <vt:lpstr>Meilleur typage pour la gestion des valeurs dans les formulaires</vt:lpstr>
      <vt:lpstr>Chargement dynamique optimisé avec ng render</vt:lpstr>
      <vt:lpstr>Résumé des nouveautés d'Angular 18</vt:lpstr>
      <vt:lpstr>Angular 19 novembre 2024</vt:lpstr>
      <vt:lpstr>RECAP Angular 19</vt:lpstr>
      <vt:lpstr>Priorités pour un ingénieur frontend Angular :</vt:lpstr>
      <vt:lpstr>Angular 20 : le 28 Mai 2025</vt:lpstr>
      <vt:lpstr>Améliorations</vt:lpstr>
      <vt:lpstr>Angular 21 : Le 19 Novembre 2025</vt:lpstr>
      <vt:lpstr>Points forts</vt:lpstr>
      <vt:lpstr>Comprendre les avantages de l'utilisation d'Angular </vt:lpstr>
      <vt:lpstr>Points Forts</vt:lpstr>
      <vt:lpstr>Architecture Modulaire et Organisation du Code</vt:lpstr>
      <vt:lpstr>Programmation Réactive avec RxJS</vt:lpstr>
      <vt:lpstr>Optimisation des Performances</vt:lpstr>
      <vt:lpstr>Formulaires Puissants et Structurés</vt:lpstr>
      <vt:lpstr>Tests et Qualité du Code</vt:lpstr>
      <vt:lpstr>Écosystème Complet et Outillage</vt:lpstr>
      <vt:lpstr>Support à Long Terme (LTS) et Mises à Jour Régulières</vt:lpstr>
      <vt:lpstr>Support à Long Terme (LTS)</vt:lpstr>
      <vt:lpstr>Mises à Jour Régulières</vt:lpstr>
      <vt:lpstr>Sécurité Intégrée</vt:lpstr>
      <vt:lpstr>Solutions Angular</vt:lpstr>
      <vt:lpstr>Meilleures pratiques pour sécuriser Angular</vt:lpstr>
      <vt:lpstr>Ne jamais utiliser [innerHTML] sans DomSanitizer</vt:lpstr>
      <vt:lpstr>Solution avec DomSanitizer</vt:lpstr>
      <vt:lpstr>Désactiver le "template injection" en interdisant le code non sécurisé</vt:lpstr>
      <vt:lpstr>Bonne pratique : Désactiver l'évaluation dynamique</vt:lpstr>
      <vt:lpstr>Expérience Développeur Améliorée</vt:lpstr>
      <vt:lpstr>Conclusion</vt:lpstr>
      <vt:lpstr>INCONVÉNIENTS du Framework </vt:lpstr>
      <vt:lpstr>Comprendre le cadre et l'architecture d'Angular </vt:lpstr>
      <vt:lpstr>Cadre général</vt:lpstr>
      <vt:lpstr>Fonctionnalités</vt:lpstr>
      <vt:lpstr>L’ARCHITECTURE D’ANGULAR </vt:lpstr>
      <vt:lpstr>Mise en place de l'environnement de développement </vt:lpstr>
      <vt:lpstr>Angular</vt:lpstr>
      <vt:lpstr>Angular –Environnement de développement -</vt:lpstr>
      <vt:lpstr>NodeJS</vt:lpstr>
      <vt:lpstr>NPM</vt:lpstr>
      <vt:lpstr>Angular CLI </vt:lpstr>
      <vt:lpstr>Liens</vt:lpstr>
      <vt:lpstr>Atelier</vt:lpstr>
      <vt:lpstr>Choix du processus style</vt:lpstr>
      <vt:lpstr>Critères de choix</vt:lpstr>
      <vt:lpstr>Exemple </vt:lpstr>
      <vt:lpstr>Pourquoi SCSS est puissant ?</vt:lpstr>
      <vt:lpstr>SSR</vt:lpstr>
      <vt:lpstr>Sans SSR (Mode classique)</vt:lpstr>
      <vt:lpstr>Avec SSR (Server-Side Rendering) On appelle aussi Angular Universal.</vt:lpstr>
      <vt:lpstr>SSG / Prerendering (Static Site Generation)</vt:lpstr>
      <vt:lpstr>Comment choisir ?</vt:lpstr>
      <vt:lpstr>Structure d’un Projet Angular</vt:lpstr>
      <vt:lpstr>Processus d’exécution</vt:lpstr>
      <vt:lpstr>Partie 2: TypeScript</vt:lpstr>
      <vt:lpstr>TypeScript</vt:lpstr>
      <vt:lpstr>TypeScript – Introduction-</vt:lpstr>
      <vt:lpstr>Angular avec Type Script</vt:lpstr>
      <vt:lpstr>Pour quoi le TypeScript</vt:lpstr>
      <vt:lpstr>Nouvelles fonctionnalités avec ES6</vt:lpstr>
      <vt:lpstr>Les types</vt:lpstr>
      <vt:lpstr>Comprendre la syntaxe TypeScript</vt:lpstr>
      <vt:lpstr>Définir les variables, les tableaux, les interfaces et les génériques </vt:lpstr>
      <vt:lpstr>Fonction</vt:lpstr>
      <vt:lpstr>Les composants</vt:lpstr>
      <vt:lpstr>Partie 3: Les Composants</vt:lpstr>
      <vt:lpstr>Les composants Angular</vt:lpstr>
      <vt:lpstr>Notion de Composant </vt:lpstr>
      <vt:lpstr>Composant Angular</vt:lpstr>
      <vt:lpstr>Components</vt:lpstr>
      <vt:lpstr>Anatomie d'un composant Angular</vt:lpstr>
      <vt:lpstr>Exemple </vt:lpstr>
      <vt:lpstr>Création de composants</vt:lpstr>
      <vt:lpstr>Utilisation d’un composant</vt:lpstr>
      <vt:lpstr>Communication entre composants</vt:lpstr>
      <vt:lpstr>Communication parent → enfant (Input)</vt:lpstr>
      <vt:lpstr>Communication enfant → parent (Output)</vt:lpstr>
      <vt:lpstr>Mise en œuvre des crochets de cycle de vie des composants </vt:lpstr>
      <vt:lpstr>Exemple d'utilisation de ngOnInit et ngOnDestroy</vt:lpstr>
      <vt:lpstr>Data Binding</vt:lpstr>
      <vt:lpstr>Atelier</vt:lpstr>
      <vt:lpstr>Mise à jour du fichier meteo.component.ts</vt:lpstr>
      <vt:lpstr>Mise à jour de la Template du composant</vt:lpstr>
      <vt:lpstr>Mise à jour de la Template Principale</vt:lpstr>
      <vt:lpstr>Utilisation du Framework BootStrap</vt:lpstr>
      <vt:lpstr>Mise à jour style.css</vt:lpstr>
      <vt:lpstr>Appliquer les styles</vt:lpstr>
      <vt:lpstr>Les Directives</vt:lpstr>
      <vt:lpstr>Directive </vt:lpstr>
      <vt:lpstr>Les directives structurelles</vt:lpstr>
      <vt:lpstr>NgIf </vt:lpstr>
      <vt:lpstr>NgFor </vt:lpstr>
      <vt:lpstr>NgSwitch </vt:lpstr>
      <vt:lpstr>Directives d'attributs intégrées </vt:lpstr>
      <vt:lpstr>Créer vos propres directives d'attribut </vt:lpstr>
      <vt:lpstr>Atelier : Gestion des utilisateurs</vt:lpstr>
      <vt:lpstr>La logique applicative</vt:lpstr>
      <vt:lpstr>Affichage conditionnel avec *ngIf</vt:lpstr>
      <vt:lpstr> Affichage d'une liste avec *ngFor</vt:lpstr>
      <vt:lpstr>Utilisation de *ngSwitch</vt:lpstr>
      <vt:lpstr> Application de styles dynamiques avec [ngStyle]</vt:lpstr>
      <vt:lpstr>Création d'une directive</vt:lpstr>
      <vt:lpstr>Communication entre composants</vt:lpstr>
      <vt:lpstr>@Input()</vt:lpstr>
      <vt:lpstr>@Output()</vt:lpstr>
      <vt:lpstr>EventEmitter</vt:lpstr>
      <vt:lpstr>Communication bidirectionnelle</vt:lpstr>
      <vt:lpstr>ViewChild</vt:lpstr>
      <vt:lpstr>ViewChildren</vt:lpstr>
      <vt:lpstr>Interaction Parent / Enfant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Framework Angular</dc:title>
  <dc:creator>admin</dc:creator>
  <cp:lastModifiedBy>admin</cp:lastModifiedBy>
  <cp:revision>12</cp:revision>
  <dcterms:created xsi:type="dcterms:W3CDTF">2026-01-05T23:27:48Z</dcterms:created>
  <dcterms:modified xsi:type="dcterms:W3CDTF">2026-01-06T09:10:44Z</dcterms:modified>
</cp:coreProperties>
</file>