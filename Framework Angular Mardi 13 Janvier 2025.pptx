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84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268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266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  <p:sldId id="281" r:id="rId42"/>
    <p:sldId id="282" r:id="rId43"/>
    <p:sldId id="283" r:id="rId44"/>
    <p:sldId id="284" r:id="rId45"/>
    <p:sldId id="285" r:id="rId46"/>
    <p:sldId id="286" r:id="rId47"/>
    <p:sldId id="287" r:id="rId48"/>
    <p:sldId id="288" r:id="rId49"/>
    <p:sldId id="290" r:id="rId50"/>
    <p:sldId id="291" r:id="rId51"/>
    <p:sldId id="292" r:id="rId52"/>
    <p:sldId id="293" r:id="rId53"/>
    <p:sldId id="294" r:id="rId54"/>
    <p:sldId id="295" r:id="rId55"/>
    <p:sldId id="296" r:id="rId56"/>
    <p:sldId id="297" r:id="rId57"/>
    <p:sldId id="298" r:id="rId58"/>
    <p:sldId id="299" r:id="rId59"/>
    <p:sldId id="289" r:id="rId6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920834" y="1346946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0834" y="4282762"/>
            <a:ext cx="10222992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920834" y="1484779"/>
            <a:ext cx="10222992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/>
          <p:nvPr/>
        </p:nvGrpSpPr>
        <p:grpSpPr>
          <a:xfrm>
            <a:off x="9649215" y="4068923"/>
            <a:ext cx="1080904" cy="1080902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51560" y="1432223"/>
            <a:ext cx="9966960" cy="3035808"/>
          </a:xfrm>
        </p:spPr>
        <p:txBody>
          <a:bodyPr anchor="ctr">
            <a:noAutofit/>
          </a:bodyPr>
          <a:lstStyle>
            <a:lvl1pPr algn="l">
              <a:lnSpc>
                <a:spcPct val="85000"/>
              </a:lnSpc>
              <a:defRPr sz="7200" b="1" cap="none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9848" y="4389120"/>
            <a:ext cx="7891272" cy="1069848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20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B805F-FF0F-4BAA-A3A3-E4F945D687F8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592733" y="4289334"/>
            <a:ext cx="1193868" cy="640080"/>
          </a:xfrm>
        </p:spPr>
        <p:txBody>
          <a:bodyPr/>
          <a:lstStyle>
            <a:lvl1pPr>
              <a:defRPr sz="2800" b="1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61F3A6-CC5D-4649-8527-DB0C21FDDFD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12192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7128" y="1225296"/>
            <a:ext cx="9281160" cy="3520440"/>
          </a:xfrm>
        </p:spPr>
        <p:txBody>
          <a:bodyPr anchor="ctr">
            <a:normAutofit/>
          </a:bodyPr>
          <a:lstStyle>
            <a:lvl1pPr>
              <a:lnSpc>
                <a:spcPct val="85000"/>
              </a:lnSpc>
              <a:defRPr sz="7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165774" y="5020056"/>
            <a:ext cx="9052560" cy="1066800"/>
          </a:xfrm>
        </p:spPr>
        <p:txBody>
          <a:bodyPr anchor="t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593667" y="6272784"/>
            <a:ext cx="2644309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5B6F927C-B73E-4F9D-ADFE-F6E23BD7CEE8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182708" y="6272784"/>
            <a:ext cx="6327648" cy="365125"/>
          </a:xfrm>
        </p:spPr>
        <p:txBody>
          <a:bodyPr/>
          <a:lstStyle>
            <a:lvl1pPr>
              <a:defRPr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8" name="Group 7"/>
          <p:cNvGrpSpPr/>
          <p:nvPr/>
        </p:nvGrpSpPr>
        <p:grpSpPr>
          <a:xfrm>
            <a:off x="897399" y="2325848"/>
            <a:ext cx="1080904" cy="1080902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3702" y="2506133"/>
            <a:ext cx="1188298" cy="720332"/>
          </a:xfrm>
        </p:spPr>
        <p:txBody>
          <a:bodyPr/>
          <a:lstStyle>
            <a:lvl1pPr>
              <a:defRPr sz="2800"/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9848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64224" y="2194560"/>
            <a:ext cx="475488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B1FFFF-984A-4EE5-9BF2-EC9310C878F1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4224" y="2048256"/>
            <a:ext cx="475488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4224" y="2743200"/>
            <a:ext cx="475488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3271C1-B42E-4A60-A25F-0185B888604B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416292-3725-4763-8973-4C59F0403D9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6996D1-8909-469F-911A-4C12C68BF5D9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685800"/>
            <a:ext cx="6711696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6A73BC-5D11-4675-B334-102E1E8C9B5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10" name="Oval 9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1" name="Oval 10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8303740" y="0"/>
            <a:ext cx="3888259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49640" y="685800"/>
            <a:ext cx="3200400" cy="1737360"/>
          </a:xfrm>
        </p:spPr>
        <p:txBody>
          <a:bodyPr anchor="b">
            <a:normAutofit/>
          </a:bodyPr>
          <a:lstStyle>
            <a:lvl1pPr>
              <a:defRPr sz="3200" b="1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303740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49640" y="2423160"/>
            <a:ext cx="32004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400">
                <a:solidFill>
                  <a:schemeClr val="accent2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2">
                    <a:lumMod val="75000"/>
                  </a:schemeClr>
                </a:solidFill>
              </a:defRPr>
            </a:lvl1pPr>
          </a:lstStyle>
          <a:p>
            <a:fld id="{27B8E45F-652B-4E89-8925-000B0AB8FD98}" type="datetimeFigureOut">
              <a:rPr lang="en-US" dirty="0"/>
              <a:t>1/12/2026</a:t>
            </a:fld>
            <a:endParaRPr lang="en-US" dirty="0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9" name="Oval 8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0B5C51-60B3-48EF-AA78-DB950F30DBA2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533400"/>
            <a:ext cx="2552700" cy="5638800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800" y="533400"/>
            <a:ext cx="7505700" cy="5638800"/>
          </a:xfrm>
        </p:spPr>
        <p:txBody>
          <a:bodyPr vert="eaVer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5D676B-6E73-4E3B-A9B3-4966DB9B52A5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121408"/>
            <a:ext cx="10058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64424" y="6272784"/>
            <a:ext cx="327355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fld id="{C4A3462A-2D5B-48AF-A3D4-EF8A90A50A80}" type="datetimeFigureOut">
              <a:rPr lang="en-US" dirty="0"/>
              <a:t>1/12/2026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88136" y="6272784"/>
            <a:ext cx="632764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2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grpSp>
        <p:nvGrpSpPr>
          <p:cNvPr id="7" name="Group 6"/>
          <p:cNvGrpSpPr>
            <a:grpSpLocks noChangeAspect="1"/>
          </p:cNvGrpSpPr>
          <p:nvPr/>
        </p:nvGrpSpPr>
        <p:grpSpPr>
          <a:xfrm>
            <a:off x="11401725" y="6229681"/>
            <a:ext cx="457200" cy="457200"/>
            <a:chOff x="11361456" y="6195813"/>
            <a:chExt cx="548640" cy="548640"/>
          </a:xfrm>
        </p:grpSpPr>
        <p:sp>
          <p:nvSpPr>
            <p:cNvPr id="8" name="Oval 7"/>
            <p:cNvSpPr/>
            <p:nvPr/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13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/>
            <p:nvPr/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11128" y="6272784"/>
            <a:ext cx="6400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 b="1">
                <a:solidFill>
                  <a:srgbClr val="FFFFFF"/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b="1" kern="1200" cap="none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2"/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2"/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microsoft.com/office/2007/relationships/hdphoto" Target="../media/hdphoto5.wdp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microsoft.com/office/2007/relationships/hdphoto" Target="../media/hdphoto12.wdp"/><Relationship Id="rId7" Type="http://schemas.microsoft.com/office/2007/relationships/hdphoto" Target="../media/hdphoto14.wdp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microsoft.com/office/2007/relationships/hdphoto" Target="../media/hdphoto13.wdp"/><Relationship Id="rId4" Type="http://schemas.openxmlformats.org/officeDocument/2006/relationships/image" Target="../media/image17.png"/><Relationship Id="rId9" Type="http://schemas.microsoft.com/office/2007/relationships/hdphoto" Target="../media/hdphoto15.wdp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microsoft.com/office/2007/relationships/hdphoto" Target="../media/hdphoto16.wdp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microsoft.com/office/2007/relationships/hdphoto" Target="../media/hdphoto17.wdp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microsoft.com/office/2007/relationships/hdphoto" Target="../media/hdphoto18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microsoft.com/office/2007/relationships/hdphoto" Target="../media/hdphoto19.wdp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microsoft.com/office/2007/relationships/hdphoto" Target="../media/hdphoto20.wdp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microsoft.com/office/2007/relationships/hdphoto" Target="../media/hdphoto21.wdp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microsoft.com/office/2007/relationships/hdphoto" Target="../media/hdphoto22.wdp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microsoft.com/office/2007/relationships/hdphoto" Target="../media/hdphoto23.wdp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3" Type="http://schemas.microsoft.com/office/2007/relationships/hdphoto" Target="../media/hdphoto24.wdp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microsoft.com/office/2007/relationships/hdphoto" Target="../media/hdphoto25.wdp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microsoft.com/office/2007/relationships/hdphoto" Target="../media/hdphoto26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3200" dirty="0" smtClean="0"/>
              <a:t>Services </a:t>
            </a:r>
            <a:r>
              <a:rPr lang="fr-FR" sz="3200" dirty="0"/>
              <a:t>et injection de dépendance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1" y="4468031"/>
            <a:ext cx="7982080" cy="2248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776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Les 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Anatomie d'un service </a:t>
            </a:r>
            <a:r>
              <a:rPr lang="fr-FR" sz="2800" dirty="0" err="1" smtClean="0"/>
              <a:t>Angular</a:t>
            </a:r>
            <a:endParaRPr lang="fr-FR" sz="2800" dirty="0" smtClean="0"/>
          </a:p>
          <a:p>
            <a:pPr algn="just">
              <a:lnSpc>
                <a:spcPct val="200000"/>
              </a:lnSpc>
            </a:pPr>
            <a:r>
              <a:rPr lang="fr-FR" sz="2800" dirty="0"/>
              <a:t>Créer et utiliser des </a:t>
            </a:r>
            <a:r>
              <a:rPr lang="fr-FR" sz="2800" dirty="0" smtClean="0"/>
              <a:t>services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Utiliser l'injection de dépendance pour gérer les services</a:t>
            </a:r>
          </a:p>
        </p:txBody>
      </p:sp>
    </p:spTree>
    <p:extLst>
      <p:ext uri="{BB962C8B-B14F-4D97-AF65-F5344CB8AC3E}">
        <p14:creationId xmlns:p14="http://schemas.microsoft.com/office/powerpoint/2010/main" val="1778764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564476" y="182217"/>
            <a:ext cx="8911687" cy="495701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Concept de service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36027" y="817052"/>
            <a:ext cx="10968584" cy="4810391"/>
          </a:xfrm>
        </p:spPr>
        <p:txBody>
          <a:bodyPr>
            <a:noAutofit/>
          </a:bodyPr>
          <a:lstStyle/>
          <a:p>
            <a:pPr algn="just">
              <a:lnSpc>
                <a:spcPct val="160000"/>
              </a:lnSpc>
            </a:pPr>
            <a:r>
              <a:rPr lang="fr-FR" dirty="0"/>
              <a:t>Un service est une classe </a:t>
            </a:r>
            <a:r>
              <a:rPr lang="fr-FR" b="1" dirty="0"/>
              <a:t>TS</a:t>
            </a:r>
            <a:r>
              <a:rPr lang="fr-FR" dirty="0"/>
              <a:t> composée d'attributs et de méthodes, dont l'instanciation est gérée par </a:t>
            </a:r>
            <a:r>
              <a:rPr lang="fr-FR" b="1" dirty="0" err="1"/>
              <a:t>Angular</a:t>
            </a:r>
            <a:r>
              <a:rPr lang="fr-FR" dirty="0"/>
              <a:t>.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Un service est, sauf cas spécifique, un </a:t>
            </a:r>
            <a:r>
              <a:rPr lang="fr-FR" b="1" dirty="0"/>
              <a:t>singleton</a:t>
            </a:r>
            <a:r>
              <a:rPr lang="fr-FR" dirty="0"/>
              <a:t> (</a:t>
            </a:r>
            <a:r>
              <a:rPr lang="fr-FR" b="1" dirty="0"/>
              <a:t>design pattern</a:t>
            </a:r>
            <a:r>
              <a:rPr lang="fr-FR" dirty="0"/>
              <a:t>) : une seule instance de l’objet est utilisée à travers toute l’application.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Une fois instancié, il est injectable dans n'importe lequel de vos composants ou dans un autre service</a:t>
            </a:r>
            <a:r>
              <a:rPr lang="fr-FR" dirty="0" smtClean="0"/>
              <a:t>.</a:t>
            </a:r>
          </a:p>
          <a:p>
            <a:pPr algn="just">
              <a:lnSpc>
                <a:spcPct val="160000"/>
              </a:lnSpc>
            </a:pPr>
            <a:r>
              <a:rPr lang="fr-FR" dirty="0"/>
              <a:t>Ils permettent de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60000"/>
              </a:lnSpc>
            </a:pPr>
            <a:r>
              <a:rPr lang="fr-FR" dirty="0"/>
              <a:t>réutiliser du code entre différents composants</a:t>
            </a:r>
          </a:p>
          <a:p>
            <a:pPr lvl="1" algn="just">
              <a:lnSpc>
                <a:spcPct val="160000"/>
              </a:lnSpc>
            </a:pPr>
            <a:r>
              <a:rPr lang="fr-FR" dirty="0"/>
              <a:t>faciliter l'échange des données</a:t>
            </a:r>
          </a:p>
          <a:p>
            <a:pPr lvl="1" algn="just">
              <a:lnSpc>
                <a:spcPct val="160000"/>
              </a:lnSpc>
            </a:pPr>
            <a:r>
              <a:rPr lang="fr-FR" dirty="0"/>
              <a:t>centraliser les appels de service</a:t>
            </a:r>
          </a:p>
          <a:p>
            <a:pPr lvl="1" algn="just">
              <a:lnSpc>
                <a:spcPct val="160000"/>
              </a:lnSpc>
            </a:pPr>
            <a:r>
              <a:rPr lang="fr-FR" dirty="0"/>
              <a:t>séparer les responsabilités visuelles (component) et fonctionnelles/techniques (service)</a:t>
            </a:r>
          </a:p>
          <a:p>
            <a:pPr lvl="1" algn="just">
              <a:lnSpc>
                <a:spcPct val="160000"/>
              </a:lnSpc>
            </a:pPr>
            <a:endParaRPr lang="fr-FR" dirty="0"/>
          </a:p>
          <a:p>
            <a:pPr algn="just">
              <a:lnSpc>
                <a:spcPct val="16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488274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378980" y="385178"/>
            <a:ext cx="8911687" cy="751929"/>
          </a:xfrm>
        </p:spPr>
        <p:txBody>
          <a:bodyPr>
            <a:normAutofit fontScale="90000"/>
          </a:bodyPr>
          <a:lstStyle/>
          <a:p>
            <a:pPr algn="ctr"/>
            <a:r>
              <a:rPr lang="fr-FR" b="1" dirty="0" smtClean="0"/>
              <a:t>Service</a:t>
            </a:r>
            <a:r>
              <a:rPr lang="fr-FR" dirty="0" smtClean="0"/>
              <a:t> </a:t>
            </a:r>
            <a:r>
              <a:rPr lang="fr-FR" b="1" dirty="0"/>
              <a:t>Cas d’utilisation</a:t>
            </a:r>
            <a:br>
              <a:rPr lang="fr-FR" b="1" dirty="0"/>
            </a:b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14855" y="1455938"/>
            <a:ext cx="10889757" cy="4455284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000" dirty="0"/>
              <a:t>Communication avec une API</a:t>
            </a:r>
          </a:p>
          <a:p>
            <a:pPr algn="just">
              <a:lnSpc>
                <a:spcPct val="150000"/>
              </a:lnSpc>
            </a:pPr>
            <a:r>
              <a:rPr lang="fr-FR" sz="2000" dirty="0"/>
              <a:t>Communication avec une base de données</a:t>
            </a:r>
          </a:p>
          <a:p>
            <a:pPr algn="just">
              <a:lnSpc>
                <a:spcPct val="150000"/>
              </a:lnSpc>
            </a:pPr>
            <a:r>
              <a:rPr lang="fr-FR" sz="2000" dirty="0"/>
              <a:t>Implémentation d’un cache d’objets</a:t>
            </a:r>
          </a:p>
          <a:p>
            <a:pPr algn="just">
              <a:lnSpc>
                <a:spcPct val="150000"/>
              </a:lnSpc>
            </a:pPr>
            <a:r>
              <a:rPr lang="fr-FR" sz="2000" dirty="0"/>
              <a:t>Gestion de la session utilisateur côté </a:t>
            </a:r>
            <a:r>
              <a:rPr lang="fr-FR" sz="2000" dirty="0" smtClean="0"/>
              <a:t>client</a:t>
            </a:r>
          </a:p>
          <a:p>
            <a:pPr algn="just">
              <a:lnSpc>
                <a:spcPct val="150000"/>
              </a:lnSpc>
            </a:pPr>
            <a:r>
              <a:rPr lang="fr-FR" sz="2000" dirty="0"/>
              <a:t>Pour faire simple, la responsabilité des </a:t>
            </a:r>
            <a:r>
              <a:rPr lang="fr-FR" sz="2000" b="1" dirty="0"/>
              <a:t>@Component </a:t>
            </a:r>
            <a:r>
              <a:rPr lang="fr-FR" sz="2000" dirty="0"/>
              <a:t>se limite à afficher et formater la donnée, toute autre opération doit être déléguée à un service.</a:t>
            </a:r>
          </a:p>
          <a:p>
            <a:pPr algn="just">
              <a:lnSpc>
                <a:spcPct val="150000"/>
              </a:lnSpc>
            </a:pPr>
            <a:endParaRPr lang="fr-FR" sz="2000" dirty="0"/>
          </a:p>
        </p:txBody>
      </p:sp>
    </p:spTree>
    <p:extLst>
      <p:ext uri="{BB962C8B-B14F-4D97-AF65-F5344CB8AC3E}">
        <p14:creationId xmlns:p14="http://schemas.microsoft.com/office/powerpoint/2010/main" val="17551417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Architecture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02944" y="2317531"/>
            <a:ext cx="8592207" cy="33265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4970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27234" y="232383"/>
            <a:ext cx="10058400" cy="697782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Exemple d’un service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702675" y="1292772"/>
            <a:ext cx="8907517" cy="454046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4149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Création d'un </a:t>
            </a:r>
            <a:r>
              <a:rPr lang="fr-FR" dirty="0" smtClean="0"/>
              <a:t>service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0565" y="2093976"/>
            <a:ext cx="10058400" cy="4243762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dirty="0"/>
              <a:t>Pour générer un service, </a:t>
            </a:r>
            <a:r>
              <a:rPr lang="fr-FR" b="1" dirty="0" err="1"/>
              <a:t>Angular</a:t>
            </a:r>
            <a:r>
              <a:rPr lang="fr-FR" dirty="0"/>
              <a:t> </a:t>
            </a:r>
            <a:r>
              <a:rPr lang="fr-FR" b="1" dirty="0"/>
              <a:t>CLI</a:t>
            </a:r>
            <a:r>
              <a:rPr lang="fr-FR" dirty="0"/>
              <a:t> offre la commande suivante </a:t>
            </a:r>
            <a:r>
              <a:rPr lang="fr-FR" dirty="0" smtClean="0"/>
              <a:t>:</a:t>
            </a:r>
          </a:p>
          <a:p>
            <a:pPr>
              <a:lnSpc>
                <a:spcPct val="200000"/>
              </a:lnSpc>
            </a:pPr>
            <a:endParaRPr lang="fr-FR" dirty="0"/>
          </a:p>
          <a:p>
            <a:pPr>
              <a:lnSpc>
                <a:spcPct val="200000"/>
              </a:lnSpc>
            </a:pPr>
            <a:endParaRPr lang="fr-FR" dirty="0" smtClean="0"/>
          </a:p>
          <a:p>
            <a:pPr>
              <a:lnSpc>
                <a:spcPct val="200000"/>
              </a:lnSpc>
            </a:pPr>
            <a:r>
              <a:rPr lang="fr-FR" dirty="0"/>
              <a:t>Ceci Cela crée deux fichiers </a:t>
            </a:r>
            <a:r>
              <a:rPr lang="fr-FR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fr-FR" b="1" dirty="0" err="1"/>
              <a:t>my-service.service.ts</a:t>
            </a:r>
            <a:r>
              <a:rPr lang="fr-FR" dirty="0"/>
              <a:t> : Contient la logique du service</a:t>
            </a:r>
            <a:r>
              <a:rPr lang="fr-FR" dirty="0" smtClean="0"/>
              <a:t>.</a:t>
            </a:r>
          </a:p>
          <a:p>
            <a:pPr lvl="1">
              <a:lnSpc>
                <a:spcPct val="200000"/>
              </a:lnSpc>
            </a:pPr>
            <a:r>
              <a:rPr lang="fr-FR" b="1" dirty="0" err="1" smtClean="0"/>
              <a:t>my-service.service.spec.ts</a:t>
            </a:r>
            <a:r>
              <a:rPr lang="fr-FR" dirty="0" smtClean="0"/>
              <a:t> </a:t>
            </a:r>
            <a:r>
              <a:rPr lang="fr-FR" dirty="0"/>
              <a:t>: Fichier de test pour le service.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57428" y="3183057"/>
            <a:ext cx="4055095" cy="725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848474" y="3183057"/>
            <a:ext cx="3336049" cy="7252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34828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Utilisation d'un service dans un </a:t>
            </a:r>
            <a:r>
              <a:rPr lang="fr-FR" sz="3200" dirty="0" smtClean="0"/>
              <a:t>composant</a:t>
            </a:r>
            <a:endParaRPr lang="fr-FR" sz="3200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4566" y="1939159"/>
            <a:ext cx="8466082" cy="409903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89775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200" dirty="0"/>
              <a:t>Injection Au niveau global </a:t>
            </a:r>
            <a:r>
              <a:rPr lang="fr-FR" sz="3200" dirty="0">
                <a:solidFill>
                  <a:srgbClr val="FF0000"/>
                </a:solidFill>
              </a:rPr>
              <a:t>(</a:t>
            </a:r>
            <a:r>
              <a:rPr lang="fr-FR" sz="3200" dirty="0" err="1">
                <a:solidFill>
                  <a:srgbClr val="FF0000"/>
                </a:solidFill>
              </a:rPr>
              <a:t>providedIn</a:t>
            </a:r>
            <a:r>
              <a:rPr lang="fr-FR" sz="3200" dirty="0">
                <a:solidFill>
                  <a:srgbClr val="FF0000"/>
                </a:solidFill>
              </a:rPr>
              <a:t>: '</a:t>
            </a:r>
            <a:r>
              <a:rPr lang="fr-FR" sz="3200" dirty="0" err="1">
                <a:solidFill>
                  <a:srgbClr val="FF0000"/>
                </a:solidFill>
              </a:rPr>
              <a:t>root</a:t>
            </a:r>
            <a:r>
              <a:rPr lang="fr-FR" sz="3200" dirty="0">
                <a:solidFill>
                  <a:srgbClr val="FF0000"/>
                </a:solidFill>
              </a:rPr>
              <a:t>')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Le service est disponible dans toute l'application et est instancié une seule fois (singleton).Recommandé pour les services partagés.</a:t>
            </a:r>
          </a:p>
        </p:txBody>
      </p:sp>
    </p:spTree>
    <p:extLst>
      <p:ext uri="{BB962C8B-B14F-4D97-AF65-F5344CB8AC3E}">
        <p14:creationId xmlns:p14="http://schemas.microsoft.com/office/powerpoint/2010/main" val="7125250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algn="ctr"/>
            <a:r>
              <a:rPr lang="fr-FR" dirty="0"/>
              <a:t>Arborescence de providers et scope des </a:t>
            </a:r>
            <a:r>
              <a:rPr lang="fr-FR" dirty="0" smtClean="0"/>
              <a:t>services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fr-FR" dirty="0"/>
              <a:t>Un </a:t>
            </a:r>
            <a:r>
              <a:rPr lang="fr-FR" b="1" dirty="0"/>
              <a:t>service</a:t>
            </a:r>
            <a:r>
              <a:rPr lang="fr-FR" dirty="0"/>
              <a:t> est une classe </a:t>
            </a:r>
            <a:r>
              <a:rPr lang="fr-FR" dirty="0" err="1"/>
              <a:t>TypeScript</a:t>
            </a:r>
            <a:r>
              <a:rPr lang="fr-FR" dirty="0"/>
              <a:t> utilisée pour </a:t>
            </a:r>
            <a:r>
              <a:rPr lang="fr-FR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partager des </a:t>
            </a:r>
            <a:r>
              <a:rPr lang="fr-FR" dirty="0" smtClean="0"/>
              <a:t>données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centraliser la logique </a:t>
            </a:r>
            <a:r>
              <a:rPr lang="fr-FR" dirty="0" smtClean="0"/>
              <a:t>métier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communiquer avec une </a:t>
            </a:r>
            <a:r>
              <a:rPr lang="fr-FR" dirty="0" smtClean="0"/>
              <a:t>API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éviter la duplication de </a:t>
            </a:r>
            <a:r>
              <a:rPr lang="fr-FR" dirty="0" smtClean="0"/>
              <a:t>code</a:t>
            </a:r>
          </a:p>
          <a:p>
            <a:pPr>
              <a:lnSpc>
                <a:spcPct val="150000"/>
              </a:lnSpc>
            </a:pPr>
            <a:r>
              <a:rPr lang="fr-FR" dirty="0" smtClean="0"/>
              <a:t>Provider</a:t>
            </a:r>
          </a:p>
          <a:p>
            <a:pPr lvl="1">
              <a:lnSpc>
                <a:spcPct val="150000"/>
              </a:lnSpc>
            </a:pPr>
            <a:r>
              <a:rPr lang="fr-FR" dirty="0"/>
              <a:t>Un </a:t>
            </a:r>
            <a:r>
              <a:rPr lang="fr-FR" b="1" dirty="0"/>
              <a:t>provider</a:t>
            </a:r>
            <a:r>
              <a:rPr lang="fr-FR" dirty="0"/>
              <a:t> indique à </a:t>
            </a:r>
            <a:r>
              <a:rPr lang="fr-FR" dirty="0" err="1"/>
              <a:t>Angular</a:t>
            </a:r>
            <a:r>
              <a:rPr lang="fr-FR" dirty="0"/>
              <a:t> </a:t>
            </a:r>
            <a:r>
              <a:rPr lang="fr-FR" b="1" dirty="0"/>
              <a:t>comment créer et fournir une instance</a:t>
            </a:r>
            <a:r>
              <a:rPr lang="fr-FR" dirty="0"/>
              <a:t> d’un service via l’Injection de Dépendances (DI</a:t>
            </a:r>
            <a:r>
              <a:rPr lang="fr-FR" dirty="0" smtClean="0"/>
              <a:t>).</a:t>
            </a:r>
          </a:p>
          <a:p>
            <a:pPr lvl="1">
              <a:lnSpc>
                <a:spcPct val="150000"/>
              </a:lnSpc>
            </a:pPr>
            <a:r>
              <a:rPr lang="fr-FR" dirty="0" err="1"/>
              <a:t>Angular</a:t>
            </a:r>
            <a:r>
              <a:rPr lang="fr-FR" dirty="0"/>
              <a:t> crée les services </a:t>
            </a:r>
            <a:r>
              <a:rPr lang="fr-FR" b="1" dirty="0"/>
              <a:t>selon une arborescence hiérarchique</a:t>
            </a:r>
            <a:r>
              <a:rPr lang="fr-FR" dirty="0"/>
              <a:t>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841038" y="2698929"/>
            <a:ext cx="4494764" cy="180115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7688885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Principe clé : l’Injection de Dépendances hiérarchique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 err="1"/>
              <a:t>Angular</a:t>
            </a:r>
            <a:r>
              <a:rPr lang="fr-FR" dirty="0"/>
              <a:t> utilise une </a:t>
            </a:r>
            <a:r>
              <a:rPr lang="fr-FR" b="1" dirty="0"/>
              <a:t>hiérarchie d’injecteurs</a:t>
            </a:r>
            <a:r>
              <a:rPr lang="fr-FR" dirty="0"/>
              <a:t>, similaire à l’arbre des composants </a:t>
            </a:r>
            <a:r>
              <a:rPr lang="fr-FR" dirty="0" smtClean="0"/>
              <a:t>:</a:t>
            </a:r>
          </a:p>
          <a:p>
            <a:pPr algn="just">
              <a:lnSpc>
                <a:spcPct val="150000"/>
              </a:lnSpc>
            </a:pPr>
            <a:endParaRPr lang="fr-FR" dirty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endParaRPr lang="fr-FR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Un composant cherche le service </a:t>
            </a:r>
            <a:r>
              <a:rPr lang="fr-FR" dirty="0" smtClean="0"/>
              <a:t>: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dans son injecteur </a:t>
            </a:r>
            <a:r>
              <a:rPr lang="fr-FR" dirty="0" smtClean="0"/>
              <a:t>local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puis chez le </a:t>
            </a:r>
            <a:r>
              <a:rPr lang="fr-FR" dirty="0" smtClean="0"/>
              <a:t>parent</a:t>
            </a:r>
          </a:p>
          <a:p>
            <a:pPr marL="617220" lvl="1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fr-FR" dirty="0"/>
              <a:t>jusqu’à la racine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364271" y="2684722"/>
            <a:ext cx="4392772" cy="20002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24027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3600" dirty="0"/>
              <a:t>Scope des services : où fournir un service ?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fr-FR" dirty="0"/>
              <a:t>Scope Global (Singleton</a:t>
            </a:r>
            <a:r>
              <a:rPr lang="fr-FR" dirty="0" smtClean="0"/>
              <a:t>)</a:t>
            </a:r>
          </a:p>
          <a:p>
            <a:pPr>
              <a:lnSpc>
                <a:spcPct val="200000"/>
              </a:lnSpc>
            </a:pPr>
            <a:r>
              <a:rPr lang="fr-FR" dirty="0"/>
              <a:t>Scope </a:t>
            </a:r>
            <a:r>
              <a:rPr lang="fr-FR" dirty="0" smtClean="0"/>
              <a:t>Module</a:t>
            </a:r>
          </a:p>
          <a:p>
            <a:pPr>
              <a:lnSpc>
                <a:spcPct val="200000"/>
              </a:lnSpc>
            </a:pPr>
            <a:r>
              <a:rPr lang="fr-FR" dirty="0"/>
              <a:t>Scope </a:t>
            </a:r>
            <a:r>
              <a:rPr lang="fr-FR" dirty="0" smtClean="0"/>
              <a:t>Composant</a:t>
            </a:r>
          </a:p>
          <a:p>
            <a:pPr>
              <a:lnSpc>
                <a:spcPct val="200000"/>
              </a:lnSpc>
            </a:pPr>
            <a:r>
              <a:rPr lang="fr-FR" dirty="0"/>
              <a:t>Redéfinition dans un composant enfant</a:t>
            </a:r>
          </a:p>
        </p:txBody>
      </p:sp>
    </p:spTree>
    <p:extLst>
      <p:ext uri="{BB962C8B-B14F-4D97-AF65-F5344CB8AC3E}">
        <p14:creationId xmlns:p14="http://schemas.microsoft.com/office/powerpoint/2010/main" val="149501184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76407"/>
            <a:ext cx="10058400" cy="696896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Scope Global (Singleton)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43983"/>
            <a:ext cx="10058400" cy="4050792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1600" b="1" dirty="0" err="1"/>
              <a:t>providedIn</a:t>
            </a:r>
            <a:r>
              <a:rPr lang="fr-FR" sz="1600" b="1" dirty="0"/>
              <a:t>: </a:t>
            </a:r>
            <a:r>
              <a:rPr lang="fr-FR" sz="1600" b="1" dirty="0" smtClean="0"/>
              <a:t>'</a:t>
            </a:r>
            <a:r>
              <a:rPr lang="fr-FR" sz="1600" b="1" dirty="0" err="1" smtClean="0"/>
              <a:t>root</a:t>
            </a:r>
            <a:r>
              <a:rPr lang="fr-FR" sz="1600" b="1" dirty="0" smtClean="0"/>
              <a:t>‘</a:t>
            </a:r>
          </a:p>
          <a:p>
            <a:pPr>
              <a:lnSpc>
                <a:spcPct val="150000"/>
              </a:lnSpc>
            </a:pPr>
            <a:endParaRPr lang="fr-FR" sz="1600" b="1" dirty="0"/>
          </a:p>
          <a:p>
            <a:pPr>
              <a:lnSpc>
                <a:spcPct val="150000"/>
              </a:lnSpc>
            </a:pPr>
            <a:endParaRPr lang="fr-FR" sz="1600" b="1" dirty="0" smtClean="0"/>
          </a:p>
          <a:p>
            <a:pPr>
              <a:lnSpc>
                <a:spcPct val="150000"/>
              </a:lnSpc>
            </a:pPr>
            <a:r>
              <a:rPr lang="fr-FR" sz="1600" dirty="0"/>
              <a:t>Une seule instance dans toute </a:t>
            </a:r>
            <a:r>
              <a:rPr lang="fr-FR" sz="1600" dirty="0" smtClean="0"/>
              <a:t>l’application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Recommandé dans 90 % des </a:t>
            </a:r>
            <a:r>
              <a:rPr lang="fr-FR" sz="1600" dirty="0" smtClean="0"/>
              <a:t>cas</a:t>
            </a:r>
          </a:p>
          <a:p>
            <a:pPr>
              <a:lnSpc>
                <a:spcPct val="150000"/>
              </a:lnSpc>
            </a:pPr>
            <a:r>
              <a:rPr lang="fr-FR" sz="1600" dirty="0" err="1"/>
              <a:t>Lazy-loading</a:t>
            </a:r>
            <a:r>
              <a:rPr lang="fr-FR" sz="1600" dirty="0"/>
              <a:t> </a:t>
            </a:r>
            <a:r>
              <a:rPr lang="fr-FR" sz="1600" dirty="0" smtClean="0"/>
              <a:t>compatible</a:t>
            </a:r>
          </a:p>
          <a:p>
            <a:pPr>
              <a:lnSpc>
                <a:spcPct val="150000"/>
              </a:lnSpc>
            </a:pPr>
            <a:r>
              <a:rPr lang="fr-FR" sz="1600" dirty="0"/>
              <a:t>Cas d’usage </a:t>
            </a:r>
            <a:r>
              <a:rPr lang="fr-FR" sz="1600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sz="1400" b="1" dirty="0" smtClean="0"/>
              <a:t>Authentification</a:t>
            </a:r>
          </a:p>
          <a:p>
            <a:pPr lvl="1">
              <a:lnSpc>
                <a:spcPct val="150000"/>
              </a:lnSpc>
            </a:pPr>
            <a:r>
              <a:rPr lang="fr-FR" sz="1400" b="1" dirty="0" err="1" smtClean="0"/>
              <a:t>Logging</a:t>
            </a:r>
            <a:endParaRPr lang="fr-FR" sz="1400" b="1" dirty="0" smtClean="0"/>
          </a:p>
          <a:p>
            <a:pPr lvl="1">
              <a:lnSpc>
                <a:spcPct val="150000"/>
              </a:lnSpc>
            </a:pPr>
            <a:r>
              <a:rPr lang="fr-FR" sz="1400" b="1" dirty="0" smtClean="0"/>
              <a:t>Configuration </a:t>
            </a:r>
            <a:r>
              <a:rPr lang="fr-FR" sz="1400" b="1" dirty="0"/>
              <a:t>globale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022667" y="1643983"/>
            <a:ext cx="3176111" cy="131497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24899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141767" y="0"/>
            <a:ext cx="10058400" cy="1609344"/>
          </a:xfrm>
        </p:spPr>
        <p:txBody>
          <a:bodyPr/>
          <a:lstStyle/>
          <a:p>
            <a:pPr algn="ctr"/>
            <a:r>
              <a:rPr lang="fr-FR" dirty="0"/>
              <a:t>Scope Module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3205536"/>
            <a:ext cx="10058400" cy="2966663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Une instance par </a:t>
            </a:r>
            <a:r>
              <a:rPr lang="fr-FR" sz="2400" dirty="0" smtClean="0"/>
              <a:t>module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Attention avec les modules </a:t>
            </a:r>
            <a:r>
              <a:rPr lang="fr-FR" sz="2400" dirty="0" err="1"/>
              <a:t>lazy-loaded</a:t>
            </a:r>
            <a:r>
              <a:rPr lang="fr-FR" sz="2400" dirty="0"/>
              <a:t> → instance </a:t>
            </a:r>
            <a:r>
              <a:rPr lang="fr-FR" sz="2400" dirty="0" smtClean="0"/>
              <a:t>distincte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Cas d’usage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000" dirty="0"/>
              <a:t>Services spécifiques à un module fonctionnel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22679" y="1304818"/>
            <a:ext cx="3472665" cy="15411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918086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07229"/>
            <a:ext cx="10058400" cy="717444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Scope Composant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712378"/>
            <a:ext cx="10058400" cy="3459822"/>
          </a:xfrm>
        </p:spPr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Une instance par </a:t>
            </a:r>
            <a:r>
              <a:rPr lang="fr-FR" dirty="0" smtClean="0"/>
              <a:t>composant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Les composants enfants héritent de </a:t>
            </a:r>
            <a:r>
              <a:rPr lang="fr-FR" dirty="0" smtClean="0"/>
              <a:t>l’instance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Cas d’usage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État </a:t>
            </a:r>
            <a:r>
              <a:rPr lang="fr-FR" dirty="0" smtClean="0"/>
              <a:t>local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Compteurs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Formulaires indépendants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397339" y="924673"/>
            <a:ext cx="3534309" cy="16438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51511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76407"/>
            <a:ext cx="10058400" cy="779089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Redéfinition dans un composant enfant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345915"/>
            <a:ext cx="10058400" cy="5147352"/>
          </a:xfrm>
        </p:spPr>
        <p:txBody>
          <a:bodyPr>
            <a:normAutofit/>
          </a:bodyPr>
          <a:lstStyle/>
          <a:p>
            <a:r>
              <a:rPr lang="fr-FR" dirty="0" smtClean="0"/>
              <a:t>Service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Parent</a:t>
            </a:r>
          </a:p>
          <a:p>
            <a:endParaRPr lang="fr-FR" dirty="0"/>
          </a:p>
          <a:p>
            <a:endParaRPr lang="fr-FR" dirty="0" smtClean="0"/>
          </a:p>
          <a:p>
            <a:endParaRPr lang="fr-FR" dirty="0"/>
          </a:p>
          <a:p>
            <a:r>
              <a:rPr lang="fr-FR" dirty="0" smtClean="0"/>
              <a:t>Enfant</a:t>
            </a:r>
          </a:p>
          <a:p>
            <a:endParaRPr lang="fr-FR" dirty="0"/>
          </a:p>
          <a:p>
            <a:endParaRPr lang="fr-FR" dirty="0" smtClean="0"/>
          </a:p>
          <a:p>
            <a:r>
              <a:rPr lang="fr-FR" dirty="0"/>
              <a:t>Parent et enfant </a:t>
            </a:r>
            <a:r>
              <a:rPr lang="fr-FR" b="1" dirty="0"/>
              <a:t>partagent la même instance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270922" y="955496"/>
            <a:ext cx="2890166" cy="129454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Image 4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68060" y="2566384"/>
            <a:ext cx="3695890" cy="164473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887111" y="4354529"/>
            <a:ext cx="3657788" cy="14161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7" name="Rectangle 6"/>
          <p:cNvSpPr/>
          <p:nvPr/>
        </p:nvSpPr>
        <p:spPr>
          <a:xfrm>
            <a:off x="8088219" y="3711597"/>
            <a:ext cx="37417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Si l’enfant redéfinit le provider :</a:t>
            </a: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363163" y="4211119"/>
            <a:ext cx="3184989" cy="11622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Rectangle 8"/>
          <p:cNvSpPr/>
          <p:nvPr/>
        </p:nvSpPr>
        <p:spPr>
          <a:xfrm>
            <a:off x="7676020" y="5585986"/>
            <a:ext cx="45159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fr-FR" dirty="0"/>
              <a:t>Instances </a:t>
            </a:r>
            <a:r>
              <a:rPr lang="fr-FR" b="1" dirty="0"/>
              <a:t>totalement indépendantes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8925462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Utiliser </a:t>
            </a:r>
            <a:r>
              <a:rPr lang="fr-FR" b="1" dirty="0" err="1"/>
              <a:t>providedIn</a:t>
            </a:r>
            <a:r>
              <a:rPr lang="fr-FR" b="1" dirty="0"/>
              <a:t>: '</a:t>
            </a:r>
            <a:r>
              <a:rPr lang="fr-FR" b="1" dirty="0" err="1"/>
              <a:t>root</a:t>
            </a:r>
            <a:r>
              <a:rPr lang="fr-FR" b="1" dirty="0"/>
              <a:t>' </a:t>
            </a:r>
            <a:r>
              <a:rPr lang="fr-FR" dirty="0"/>
              <a:t>par </a:t>
            </a:r>
            <a:r>
              <a:rPr lang="fr-FR" dirty="0" smtClean="0"/>
              <a:t>défaut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Provider au niveau composant pour état </a:t>
            </a:r>
            <a:r>
              <a:rPr lang="fr-FR" dirty="0" smtClean="0"/>
              <a:t>local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Éviter les providers dans </a:t>
            </a:r>
            <a:r>
              <a:rPr lang="fr-FR" b="1" dirty="0" err="1"/>
              <a:t>AppModule</a:t>
            </a:r>
            <a:r>
              <a:rPr lang="fr-FR" dirty="0"/>
              <a:t> (obsolète depuis </a:t>
            </a:r>
            <a:r>
              <a:rPr lang="fr-FR" b="1" dirty="0" err="1"/>
              <a:t>Angular</a:t>
            </a:r>
            <a:r>
              <a:rPr lang="fr-FR" dirty="0"/>
              <a:t> </a:t>
            </a:r>
            <a:r>
              <a:rPr lang="fr-FR" b="1" dirty="0"/>
              <a:t>15</a:t>
            </a:r>
            <a:r>
              <a:rPr lang="fr-FR" b="1" dirty="0" smtClean="0"/>
              <a:t>+</a:t>
            </a:r>
            <a:r>
              <a:rPr lang="fr-FR" dirty="0" smtClean="0"/>
              <a:t>)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Bien comprendre l’impact du </a:t>
            </a:r>
            <a:r>
              <a:rPr lang="fr-FR" b="1" dirty="0" err="1"/>
              <a:t>lazy</a:t>
            </a:r>
            <a:r>
              <a:rPr lang="fr-FR" dirty="0"/>
              <a:t> </a:t>
            </a:r>
            <a:r>
              <a:rPr lang="fr-FR" b="1" dirty="0" err="1"/>
              <a:t>loading</a:t>
            </a:r>
            <a:endParaRPr lang="fr-FR" b="1" dirty="0"/>
          </a:p>
        </p:txBody>
      </p:sp>
    </p:spTree>
    <p:extLst>
      <p:ext uri="{BB962C8B-B14F-4D97-AF65-F5344CB8AC3E}">
        <p14:creationId xmlns:p14="http://schemas.microsoft.com/office/powerpoint/2010/main" val="2806660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58601"/>
            <a:ext cx="10058400" cy="779089"/>
          </a:xfrm>
        </p:spPr>
        <p:txBody>
          <a:bodyPr/>
          <a:lstStyle/>
          <a:p>
            <a:pPr algn="ctr"/>
            <a:r>
              <a:rPr lang="fr-FR" dirty="0" smtClean="0"/>
              <a:t>RECAP</a:t>
            </a:r>
            <a:endParaRPr lang="fr-FR" dirty="0"/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60980" y="1530849"/>
            <a:ext cx="9811820" cy="430487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07902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5400" dirty="0" smtClean="0"/>
              <a:t>pourquoi </a:t>
            </a:r>
            <a:r>
              <a:rPr lang="fr-FR" sz="5400" dirty="0"/>
              <a:t>une nouvelle API ?</a:t>
            </a:r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 anchor="ctr"/>
          <a:lstStyle/>
          <a:p>
            <a:pPr algn="ctr"/>
            <a:r>
              <a:rPr lang="fr-FR" dirty="0"/>
              <a:t>Nouveauté </a:t>
            </a:r>
            <a:r>
              <a:rPr lang="fr-FR" dirty="0" err="1"/>
              <a:t>Angular</a:t>
            </a:r>
            <a:r>
              <a:rPr lang="fr-FR" dirty="0"/>
              <a:t> : API </a:t>
            </a:r>
            <a:r>
              <a:rPr lang="fr-FR" dirty="0" err="1"/>
              <a:t>inject</a:t>
            </a:r>
            <a:r>
              <a:rPr lang="fr-FR" dirty="0"/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8553056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55859"/>
            <a:ext cx="10058400" cy="128252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Ancienne </a:t>
            </a:r>
            <a:r>
              <a:rPr lang="fr-FR" dirty="0" smtClean="0"/>
              <a:t>façon</a:t>
            </a:r>
            <a:br>
              <a:rPr lang="fr-FR" dirty="0" smtClean="0"/>
            </a:br>
            <a:r>
              <a:rPr lang="fr-FR" dirty="0" smtClean="0"/>
              <a:t> </a:t>
            </a:r>
            <a:r>
              <a:rPr lang="fr-FR" dirty="0"/>
              <a:t>(constructeur obligatoire)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3133617"/>
            <a:ext cx="10058400" cy="3441843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Limitations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Injection </a:t>
            </a:r>
            <a:r>
              <a:rPr lang="fr-FR" b="1" dirty="0"/>
              <a:t>uniquement</a:t>
            </a:r>
            <a:r>
              <a:rPr lang="fr-FR" dirty="0"/>
              <a:t> dans le </a:t>
            </a:r>
            <a:r>
              <a:rPr lang="fr-FR" dirty="0" smtClean="0"/>
              <a:t>constructeur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Peu </a:t>
            </a:r>
            <a:r>
              <a:rPr lang="fr-FR" dirty="0" smtClean="0"/>
              <a:t>flexible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Problématique avec </a:t>
            </a:r>
            <a:r>
              <a:rPr lang="fr-FR" dirty="0" smtClean="0"/>
              <a:t>:</a:t>
            </a:r>
          </a:p>
          <a:p>
            <a:pPr lvl="2" algn="just">
              <a:lnSpc>
                <a:spcPct val="150000"/>
              </a:lnSpc>
            </a:pPr>
            <a:r>
              <a:rPr lang="fr-FR" dirty="0"/>
              <a:t>fonctions </a:t>
            </a:r>
            <a:r>
              <a:rPr lang="fr-FR" dirty="0" smtClean="0"/>
              <a:t>utilitaires</a:t>
            </a:r>
          </a:p>
          <a:p>
            <a:pPr lvl="2" algn="just">
              <a:lnSpc>
                <a:spcPct val="150000"/>
              </a:lnSpc>
            </a:pPr>
            <a:r>
              <a:rPr lang="fr-FR" dirty="0" err="1"/>
              <a:t>guards</a:t>
            </a:r>
            <a:r>
              <a:rPr lang="fr-FR" dirty="0"/>
              <a:t> </a:t>
            </a:r>
            <a:r>
              <a:rPr lang="fr-FR" dirty="0" smtClean="0"/>
              <a:t>fonctionnels</a:t>
            </a:r>
          </a:p>
          <a:p>
            <a:pPr lvl="2" algn="just">
              <a:lnSpc>
                <a:spcPct val="150000"/>
              </a:lnSpc>
            </a:pPr>
            <a:r>
              <a:rPr lang="fr-FR" dirty="0" err="1" smtClean="0"/>
              <a:t>Resolvers</a:t>
            </a:r>
            <a:endParaRPr lang="fr-FR" dirty="0" smtClean="0"/>
          </a:p>
          <a:p>
            <a:pPr lvl="2" algn="just">
              <a:lnSpc>
                <a:spcPct val="150000"/>
              </a:lnSpc>
            </a:pPr>
            <a:r>
              <a:rPr lang="fr-FR" dirty="0"/>
              <a:t>effets (</a:t>
            </a:r>
            <a:r>
              <a:rPr lang="fr-FR" dirty="0" err="1"/>
              <a:t>signals</a:t>
            </a:r>
            <a:r>
              <a:rPr lang="fr-FR" dirty="0"/>
              <a:t>)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637052" y="1583088"/>
            <a:ext cx="5167901" cy="140669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51879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09971"/>
            <a:ext cx="10058400" cy="594155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Solution </a:t>
            </a:r>
            <a:r>
              <a:rPr lang="fr-FR" dirty="0" err="1"/>
              <a:t>Angular</a:t>
            </a:r>
            <a:r>
              <a:rPr lang="fr-FR" dirty="0"/>
              <a:t> : </a:t>
            </a:r>
            <a:r>
              <a:rPr lang="fr-FR" dirty="0" err="1"/>
              <a:t>inject</a:t>
            </a:r>
            <a:r>
              <a:rPr lang="fr-FR" dirty="0"/>
              <a:t>()</a:t>
            </a:r>
            <a:br>
              <a:rPr lang="fr-FR" dirty="0"/>
            </a:br>
            <a:r>
              <a:rPr lang="fr-FR" dirty="0"/>
              <a:t>Depuis </a:t>
            </a:r>
            <a:r>
              <a:rPr lang="fr-FR" dirty="0" err="1"/>
              <a:t>Angular</a:t>
            </a:r>
            <a:r>
              <a:rPr lang="fr-FR" dirty="0"/>
              <a:t> 14+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2743200"/>
            <a:ext cx="10058400" cy="3429000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Injection en dehors du </a:t>
            </a:r>
            <a:r>
              <a:rPr lang="fr-FR" sz="2400" dirty="0" smtClean="0"/>
              <a:t>constructeur</a:t>
            </a:r>
            <a:endParaRPr lang="fr-FR" sz="2400" dirty="0"/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Compatible </a:t>
            </a:r>
            <a:r>
              <a:rPr lang="fr-FR" sz="2400" dirty="0"/>
              <a:t>avec la DI </a:t>
            </a:r>
            <a:r>
              <a:rPr lang="fr-FR" sz="2400" dirty="0" smtClean="0"/>
              <a:t>hiérarchique</a:t>
            </a:r>
            <a:endParaRPr lang="fr-FR" sz="2400" dirty="0"/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Parfait </a:t>
            </a:r>
            <a:r>
              <a:rPr lang="fr-FR" sz="2400" dirty="0"/>
              <a:t>pour les APIs fonctionnelles modernes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4027470" y="1349569"/>
            <a:ext cx="4202130" cy="119842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9598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953750"/>
          </a:xfrm>
        </p:spPr>
        <p:txBody>
          <a:bodyPr/>
          <a:lstStyle/>
          <a:p>
            <a:pPr algn="ctr"/>
            <a:r>
              <a:rPr lang="fr-FR" dirty="0"/>
              <a:t>Où peut-on utiliser </a:t>
            </a:r>
            <a:r>
              <a:rPr lang="fr-FR" dirty="0" err="1"/>
              <a:t>inject</a:t>
            </a:r>
            <a:r>
              <a:rPr lang="fr-FR" dirty="0"/>
              <a:t>() ?</a:t>
            </a:r>
          </a:p>
        </p:txBody>
      </p:sp>
      <p:pic>
        <p:nvPicPr>
          <p:cNvPr id="5" name="Espace réservé du contenu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16476" y="1736333"/>
            <a:ext cx="8116585" cy="443843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41970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27778"/>
            <a:ext cx="10058400" cy="964024"/>
          </a:xfrm>
        </p:spPr>
        <p:txBody>
          <a:bodyPr>
            <a:noAutofit/>
          </a:bodyPr>
          <a:lstStyle/>
          <a:p>
            <a:pPr algn="ctr"/>
            <a:r>
              <a:rPr lang="fr-FR" sz="3200" dirty="0"/>
              <a:t>Exemple 1 : </a:t>
            </a:r>
            <a:r>
              <a:rPr lang="fr-FR" sz="3200" dirty="0" smtClean="0"/>
              <a:t/>
            </a:r>
            <a:br>
              <a:rPr lang="fr-FR" sz="3200" dirty="0" smtClean="0"/>
            </a:br>
            <a:r>
              <a:rPr lang="fr-FR" sz="3200" dirty="0" smtClean="0"/>
              <a:t>Injection </a:t>
            </a:r>
            <a:r>
              <a:rPr lang="fr-FR" sz="3200" dirty="0"/>
              <a:t>dans un composant (sans constructeur)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602822"/>
            <a:ext cx="10058400" cy="1569378"/>
          </a:xfrm>
        </p:spPr>
        <p:txBody>
          <a:bodyPr/>
          <a:lstStyle/>
          <a:p>
            <a:r>
              <a:rPr lang="fr-FR" dirty="0"/>
              <a:t>Code plus </a:t>
            </a:r>
            <a:r>
              <a:rPr lang="fr-FR" dirty="0" smtClean="0"/>
              <a:t>lisible</a:t>
            </a:r>
          </a:p>
          <a:p>
            <a:r>
              <a:rPr lang="fr-FR" dirty="0" smtClean="0"/>
              <a:t>Moins </a:t>
            </a:r>
            <a:r>
              <a:rPr lang="fr-FR" dirty="0"/>
              <a:t>de </a:t>
            </a:r>
            <a:r>
              <a:rPr lang="fr-FR" dirty="0" err="1"/>
              <a:t>boilerplate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33618" y="1308606"/>
            <a:ext cx="6472719" cy="29962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20888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dirty="0"/>
              <a:t>Exemple 2 : </a:t>
            </a: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err="1" smtClean="0"/>
              <a:t>Guard</a:t>
            </a:r>
            <a:r>
              <a:rPr lang="fr-FR" dirty="0" smtClean="0"/>
              <a:t> </a:t>
            </a:r>
            <a:r>
              <a:rPr lang="fr-FR" dirty="0"/>
              <a:t>fonctionnel (cas réel)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/>
              <a:t>Avant (class-</a:t>
            </a:r>
            <a:r>
              <a:rPr lang="fr-FR" dirty="0" err="1"/>
              <a:t>based</a:t>
            </a:r>
            <a:r>
              <a:rPr lang="fr-FR" dirty="0"/>
              <a:t>)</a:t>
            </a:r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284270" y="3030467"/>
            <a:ext cx="4537410" cy="2291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/>
              <a:t>Après (fonctionnel)</a:t>
            </a:r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948445" y="3122935"/>
            <a:ext cx="4044903" cy="179838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0" name="Rectangle 9"/>
          <p:cNvSpPr/>
          <p:nvPr/>
        </p:nvSpPr>
        <p:spPr>
          <a:xfrm>
            <a:off x="8082337" y="5157626"/>
            <a:ext cx="282881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/>
              <a:t>Plus court</a:t>
            </a:r>
            <a:br>
              <a:rPr lang="fr-FR" dirty="0"/>
            </a:br>
            <a:r>
              <a:rPr lang="fr-FR" dirty="0" smtClean="0"/>
              <a:t>Plus </a:t>
            </a:r>
            <a:r>
              <a:rPr lang="fr-FR" dirty="0"/>
              <a:t>moderne</a:t>
            </a:r>
            <a:br>
              <a:rPr lang="fr-FR" dirty="0"/>
            </a:br>
            <a:r>
              <a:rPr lang="fr-FR" dirty="0" smtClean="0"/>
              <a:t>Plus </a:t>
            </a:r>
            <a:r>
              <a:rPr lang="fr-FR" dirty="0"/>
              <a:t>testable</a:t>
            </a:r>
          </a:p>
        </p:txBody>
      </p:sp>
    </p:spTree>
    <p:extLst>
      <p:ext uri="{BB962C8B-B14F-4D97-AF65-F5344CB8AC3E}">
        <p14:creationId xmlns:p14="http://schemas.microsoft.com/office/powerpoint/2010/main" val="2465844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3 : </a:t>
            </a:r>
            <a:r>
              <a:rPr lang="fr-FR" dirty="0" err="1"/>
              <a:t>inject</a:t>
            </a:r>
            <a:r>
              <a:rPr lang="fr-FR" dirty="0"/>
              <a:t>() avec Router</a:t>
            </a:r>
          </a:p>
        </p:txBody>
      </p:sp>
      <p:pic>
        <p:nvPicPr>
          <p:cNvPr id="10" name="Espace réservé du contenu 9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00719" y="2332234"/>
            <a:ext cx="8352890" cy="315416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95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Comparaison : constructeur vs </a:t>
            </a:r>
            <a:r>
              <a:rPr lang="fr-FR" sz="4000" dirty="0" err="1"/>
              <a:t>inject</a:t>
            </a:r>
            <a:r>
              <a:rPr lang="fr-FR" sz="4000" dirty="0"/>
              <a:t>()</a:t>
            </a:r>
          </a:p>
        </p:txBody>
      </p:sp>
      <p:pic>
        <p:nvPicPr>
          <p:cNvPr id="4" name="Espace réservé du contenu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41123" y="2167847"/>
            <a:ext cx="9267289" cy="390417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72850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871557"/>
          </a:xfrm>
        </p:spPr>
        <p:txBody>
          <a:bodyPr/>
          <a:lstStyle/>
          <a:p>
            <a:pPr algn="ctr"/>
            <a:r>
              <a:rPr lang="fr-FR" dirty="0"/>
              <a:t>Bonnes pratiques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64413"/>
            <a:ext cx="10058400" cy="4507787"/>
          </a:xfrm>
        </p:spPr>
        <p:txBody>
          <a:bodyPr/>
          <a:lstStyle/>
          <a:p>
            <a:pPr algn="just">
              <a:lnSpc>
                <a:spcPct val="200000"/>
              </a:lnSpc>
            </a:pPr>
            <a:r>
              <a:rPr lang="fr-FR" dirty="0"/>
              <a:t>Utiliser </a:t>
            </a:r>
            <a:r>
              <a:rPr lang="fr-FR" dirty="0" err="1"/>
              <a:t>inject</a:t>
            </a:r>
            <a:r>
              <a:rPr lang="fr-FR" dirty="0"/>
              <a:t>() pour </a:t>
            </a:r>
            <a:r>
              <a:rPr lang="fr-FR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dirty="0" err="1"/>
              <a:t>Guards</a:t>
            </a:r>
            <a:r>
              <a:rPr lang="fr-FR" dirty="0"/>
              <a:t>, </a:t>
            </a:r>
            <a:r>
              <a:rPr lang="fr-FR" dirty="0" err="1"/>
              <a:t>resolvers</a:t>
            </a:r>
            <a:r>
              <a:rPr lang="fr-FR" dirty="0"/>
              <a:t>, </a:t>
            </a:r>
            <a:r>
              <a:rPr lang="fr-FR" dirty="0" err="1" smtClean="0"/>
              <a:t>interceptors</a:t>
            </a:r>
            <a:endParaRPr lang="fr-FR" dirty="0" smtClean="0"/>
          </a:p>
          <a:p>
            <a:pPr lvl="1" algn="just">
              <a:lnSpc>
                <a:spcPct val="200000"/>
              </a:lnSpc>
            </a:pPr>
            <a:r>
              <a:rPr lang="fr-FR" dirty="0" smtClean="0"/>
              <a:t>Services </a:t>
            </a:r>
            <a:r>
              <a:rPr lang="fr-FR" dirty="0"/>
              <a:t>basés sur </a:t>
            </a:r>
            <a:r>
              <a:rPr lang="fr-FR" dirty="0" err="1" smtClean="0"/>
              <a:t>signals</a:t>
            </a:r>
            <a:endParaRPr lang="fr-FR" dirty="0" smtClean="0"/>
          </a:p>
          <a:p>
            <a:pPr lvl="1" algn="just">
              <a:lnSpc>
                <a:spcPct val="200000"/>
              </a:lnSpc>
            </a:pPr>
            <a:r>
              <a:rPr lang="fr-FR" dirty="0" smtClean="0"/>
              <a:t>Composants </a:t>
            </a:r>
            <a:r>
              <a:rPr lang="fr-FR" dirty="0" err="1" smtClean="0"/>
              <a:t>standalone</a:t>
            </a:r>
            <a:endParaRPr lang="fr-FR" dirty="0" smtClean="0"/>
          </a:p>
          <a:p>
            <a:pPr algn="just">
              <a:lnSpc>
                <a:spcPct val="200000"/>
              </a:lnSpc>
            </a:pPr>
            <a:r>
              <a:rPr lang="fr-FR" dirty="0"/>
              <a:t>Garder le constructeur pour </a:t>
            </a:r>
            <a:r>
              <a:rPr lang="fr-FR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dirty="0"/>
              <a:t>classes </a:t>
            </a:r>
            <a:r>
              <a:rPr lang="fr-FR" dirty="0" smtClean="0"/>
              <a:t>complexes</a:t>
            </a:r>
          </a:p>
          <a:p>
            <a:pPr lvl="1" algn="just">
              <a:lnSpc>
                <a:spcPct val="200000"/>
              </a:lnSpc>
            </a:pPr>
            <a:r>
              <a:rPr lang="fr-FR" dirty="0"/>
              <a:t>dépendances très nombreuses (lisibilité)</a:t>
            </a:r>
          </a:p>
        </p:txBody>
      </p:sp>
    </p:spTree>
    <p:extLst>
      <p:ext uri="{BB962C8B-B14F-4D97-AF65-F5344CB8AC3E}">
        <p14:creationId xmlns:p14="http://schemas.microsoft.com/office/powerpoint/2010/main" val="4262967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Conclusion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L’utilisation des services et de l’injection de dépendance dans </a:t>
            </a:r>
            <a:r>
              <a:rPr lang="fr-FR" sz="2800" dirty="0" err="1"/>
              <a:t>Angular</a:t>
            </a:r>
            <a:r>
              <a:rPr lang="fr-FR" sz="2800" dirty="0"/>
              <a:t> permet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De </a:t>
            </a:r>
            <a:r>
              <a:rPr lang="fr-FR" sz="2400" b="1" dirty="0"/>
              <a:t>centraliser la logique métier</a:t>
            </a:r>
            <a:r>
              <a:rPr lang="fr-FR" sz="2400" dirty="0"/>
              <a:t> et les appels aux </a:t>
            </a:r>
            <a:r>
              <a:rPr lang="fr-FR" sz="2400" dirty="0" smtClean="0"/>
              <a:t>API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D’</a:t>
            </a:r>
            <a:r>
              <a:rPr lang="fr-FR" sz="2400" b="1" dirty="0"/>
              <a:t>éviter la duplication du code</a:t>
            </a:r>
            <a:r>
              <a:rPr lang="fr-FR" sz="2400" dirty="0"/>
              <a:t> dans les </a:t>
            </a:r>
            <a:r>
              <a:rPr lang="fr-FR" sz="2400" dirty="0" smtClean="0"/>
              <a:t>composants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De </a:t>
            </a:r>
            <a:r>
              <a:rPr lang="fr-FR" sz="2400" b="1" dirty="0"/>
              <a:t>faciliter les tests </a:t>
            </a:r>
            <a:r>
              <a:rPr lang="fr-FR" sz="2400" b="1" dirty="0" smtClean="0"/>
              <a:t>unitaires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D’</a:t>
            </a:r>
            <a:r>
              <a:rPr lang="fr-FR" sz="2400" b="1" dirty="0"/>
              <a:t>optimiser la gestion des instances</a:t>
            </a:r>
            <a:r>
              <a:rPr lang="fr-FR" sz="2400" dirty="0"/>
              <a:t> grâce à l’injection de dépendance</a:t>
            </a:r>
          </a:p>
        </p:txBody>
      </p:sp>
    </p:spTree>
    <p:extLst>
      <p:ext uri="{BB962C8B-B14F-4D97-AF65-F5344CB8AC3E}">
        <p14:creationId xmlns:p14="http://schemas.microsoft.com/office/powerpoint/2010/main" val="36527732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sz="4400" dirty="0"/>
              <a:t>Consolidation &amp; bonnes pratiques</a:t>
            </a:r>
            <a:endParaRPr lang="fr-FR" sz="4400" dirty="0"/>
          </a:p>
        </p:txBody>
      </p:sp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1371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PLAN 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just">
              <a:lnSpc>
                <a:spcPct val="300000"/>
              </a:lnSpc>
            </a:pPr>
            <a:r>
              <a:rPr lang="fr-FR" dirty="0"/>
              <a:t>Rappel des concepts clés</a:t>
            </a:r>
          </a:p>
          <a:p>
            <a:pPr lvl="0" algn="just">
              <a:lnSpc>
                <a:spcPct val="300000"/>
              </a:lnSpc>
            </a:pPr>
            <a:r>
              <a:rPr lang="fr-FR" dirty="0"/>
              <a:t>Organisation du code et conventions (</a:t>
            </a:r>
            <a:r>
              <a:rPr lang="fr-FR" dirty="0" err="1"/>
              <a:t>Angular</a:t>
            </a:r>
            <a:r>
              <a:rPr lang="fr-FR" dirty="0"/>
              <a:t> Style Guide)</a:t>
            </a:r>
          </a:p>
          <a:p>
            <a:pPr lvl="0" algn="just">
              <a:lnSpc>
                <a:spcPct val="300000"/>
              </a:lnSpc>
            </a:pPr>
            <a:r>
              <a:rPr lang="fr-FR" dirty="0"/>
              <a:t>Migration d’un projet “module-</a:t>
            </a:r>
            <a:r>
              <a:rPr lang="fr-FR" dirty="0" err="1"/>
              <a:t>based</a:t>
            </a:r>
            <a:r>
              <a:rPr lang="fr-FR" dirty="0"/>
              <a:t>” vers un projet </a:t>
            </a:r>
            <a:r>
              <a:rPr lang="fr-FR" dirty="0" err="1"/>
              <a:t>standalone</a:t>
            </a:r>
            <a:endParaRPr lang="fr-FR" dirty="0"/>
          </a:p>
          <a:p>
            <a:pPr algn="just">
              <a:lnSpc>
                <a:spcPct val="300000"/>
              </a:lnSpc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889853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Architecture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51538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Application </a:t>
            </a:r>
            <a:r>
              <a:rPr lang="fr-FR" sz="2400" dirty="0" err="1"/>
              <a:t>Angular</a:t>
            </a:r>
            <a:r>
              <a:rPr lang="fr-FR" sz="2400" dirty="0"/>
              <a:t> = Composants + </a:t>
            </a:r>
            <a:r>
              <a:rPr lang="fr-FR" sz="2400" dirty="0" smtClean="0"/>
              <a:t>Services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Communication </a:t>
            </a:r>
            <a:r>
              <a:rPr lang="fr-FR" sz="2400" dirty="0"/>
              <a:t>via </a:t>
            </a:r>
            <a:r>
              <a:rPr lang="fr-FR" sz="2400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fr-FR" sz="2000" dirty="0"/>
              <a:t>@Input</a:t>
            </a:r>
            <a:r>
              <a:rPr lang="fr-FR" sz="2000" dirty="0" smtClean="0"/>
              <a:t>()</a:t>
            </a:r>
          </a:p>
          <a:p>
            <a:pPr lvl="1">
              <a:lnSpc>
                <a:spcPct val="200000"/>
              </a:lnSpc>
            </a:pPr>
            <a:r>
              <a:rPr lang="fr-FR" sz="2000" dirty="0"/>
              <a:t>@Output</a:t>
            </a:r>
            <a:r>
              <a:rPr lang="fr-FR" sz="2000" dirty="0" smtClean="0"/>
              <a:t>()</a:t>
            </a:r>
          </a:p>
          <a:p>
            <a:pPr lvl="1">
              <a:lnSpc>
                <a:spcPct val="200000"/>
              </a:lnSpc>
            </a:pPr>
            <a:r>
              <a:rPr lang="fr-FR" sz="2000" dirty="0"/>
              <a:t>Services </a:t>
            </a:r>
            <a:r>
              <a:rPr lang="fr-FR" sz="2000" dirty="0" smtClean="0"/>
              <a:t>injectés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Architecture orientée composants</a:t>
            </a:r>
          </a:p>
        </p:txBody>
      </p:sp>
    </p:spTree>
    <p:extLst>
      <p:ext uri="{BB962C8B-B14F-4D97-AF65-F5344CB8AC3E}">
        <p14:creationId xmlns:p14="http://schemas.microsoft.com/office/powerpoint/2010/main" val="29597248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Data Binding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92635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dirty="0"/>
              <a:t>One-</a:t>
            </a:r>
            <a:r>
              <a:rPr lang="fr-FR" dirty="0" err="1"/>
              <a:t>way</a:t>
            </a:r>
            <a:r>
              <a:rPr lang="fr-FR" dirty="0"/>
              <a:t> </a:t>
            </a:r>
            <a:r>
              <a:rPr lang="fr-FR" dirty="0" smtClean="0"/>
              <a:t>binding</a:t>
            </a:r>
          </a:p>
          <a:p>
            <a:pPr lvl="1" algn="just">
              <a:lnSpc>
                <a:spcPct val="200000"/>
              </a:lnSpc>
            </a:pPr>
            <a:r>
              <a:rPr lang="fr-FR" b="1" dirty="0"/>
              <a:t>{{ }} </a:t>
            </a:r>
            <a:r>
              <a:rPr lang="fr-FR" dirty="0" smtClean="0"/>
              <a:t>interpolation</a:t>
            </a:r>
          </a:p>
          <a:p>
            <a:pPr lvl="1" algn="just">
              <a:lnSpc>
                <a:spcPct val="200000"/>
              </a:lnSpc>
            </a:pPr>
            <a:r>
              <a:rPr lang="fr-FR" b="1" dirty="0"/>
              <a:t>[</a:t>
            </a:r>
            <a:r>
              <a:rPr lang="fr-FR" b="1" dirty="0" err="1"/>
              <a:t>property</a:t>
            </a:r>
            <a:r>
              <a:rPr lang="fr-FR" b="1" dirty="0" smtClean="0"/>
              <a:t>]</a:t>
            </a:r>
          </a:p>
          <a:p>
            <a:pPr algn="just">
              <a:lnSpc>
                <a:spcPct val="200000"/>
              </a:lnSpc>
            </a:pPr>
            <a:r>
              <a:rPr lang="fr-FR" dirty="0" err="1"/>
              <a:t>Two-way</a:t>
            </a:r>
            <a:r>
              <a:rPr lang="fr-FR" dirty="0"/>
              <a:t> </a:t>
            </a:r>
            <a:r>
              <a:rPr lang="fr-FR" dirty="0" smtClean="0"/>
              <a:t>binding</a:t>
            </a:r>
          </a:p>
          <a:p>
            <a:pPr lvl="1" algn="just">
              <a:lnSpc>
                <a:spcPct val="200000"/>
              </a:lnSpc>
            </a:pPr>
            <a:r>
              <a:rPr lang="fr-FR" b="1" dirty="0"/>
              <a:t>[(</a:t>
            </a:r>
            <a:r>
              <a:rPr lang="fr-FR" b="1" dirty="0" err="1"/>
              <a:t>ngModel</a:t>
            </a:r>
            <a:r>
              <a:rPr lang="fr-FR" b="1" dirty="0" smtClean="0"/>
              <a:t>)]</a:t>
            </a:r>
          </a:p>
          <a:p>
            <a:pPr algn="just">
              <a:lnSpc>
                <a:spcPct val="200000"/>
              </a:lnSpc>
            </a:pPr>
            <a:r>
              <a:rPr lang="fr-FR" dirty="0"/>
              <a:t>Event </a:t>
            </a:r>
            <a:r>
              <a:rPr lang="fr-FR" dirty="0" smtClean="0"/>
              <a:t>binding</a:t>
            </a:r>
          </a:p>
          <a:p>
            <a:pPr lvl="1" algn="just">
              <a:lnSpc>
                <a:spcPct val="200000"/>
              </a:lnSpc>
            </a:pPr>
            <a:r>
              <a:rPr lang="fr-FR" b="1" dirty="0"/>
              <a:t>(click), (change)</a:t>
            </a:r>
          </a:p>
        </p:txBody>
      </p:sp>
    </p:spTree>
    <p:extLst>
      <p:ext uri="{BB962C8B-B14F-4D97-AF65-F5344CB8AC3E}">
        <p14:creationId xmlns:p14="http://schemas.microsoft.com/office/powerpoint/2010/main" val="5645655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68875"/>
            <a:ext cx="10058400" cy="912653"/>
          </a:xfrm>
        </p:spPr>
        <p:txBody>
          <a:bodyPr/>
          <a:lstStyle/>
          <a:p>
            <a:pPr algn="ctr"/>
            <a:r>
              <a:rPr lang="fr-FR" dirty="0"/>
              <a:t>Directives </a:t>
            </a:r>
            <a:r>
              <a:rPr lang="fr-FR" dirty="0" err="1"/>
              <a:t>Angular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35781"/>
            <a:ext cx="10058400" cy="4050792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dirty="0"/>
              <a:t>Directives structurelles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*</a:t>
            </a:r>
            <a:r>
              <a:rPr lang="fr-FR" b="1" dirty="0" err="1" smtClean="0"/>
              <a:t>ngIf</a:t>
            </a:r>
            <a:endParaRPr lang="fr-FR" b="1" dirty="0" smtClean="0"/>
          </a:p>
          <a:p>
            <a:pPr lvl="1" algn="just">
              <a:lnSpc>
                <a:spcPct val="150000"/>
              </a:lnSpc>
            </a:pPr>
            <a:r>
              <a:rPr lang="fr-FR" b="1" dirty="0" smtClean="0"/>
              <a:t>*</a:t>
            </a:r>
            <a:r>
              <a:rPr lang="fr-FR" b="1" dirty="0" err="1" smtClean="0"/>
              <a:t>ngFor</a:t>
            </a:r>
            <a:endParaRPr lang="fr-FR" b="1" dirty="0" smtClean="0"/>
          </a:p>
          <a:p>
            <a:pPr lvl="1" algn="just">
              <a:lnSpc>
                <a:spcPct val="150000"/>
              </a:lnSpc>
            </a:pPr>
            <a:r>
              <a:rPr lang="fr-FR" b="1" dirty="0" smtClean="0"/>
              <a:t>*</a:t>
            </a:r>
            <a:r>
              <a:rPr lang="fr-FR" b="1" dirty="0" err="1" smtClean="0"/>
              <a:t>ngSwitch</a:t>
            </a:r>
            <a:endParaRPr lang="fr-FR" b="1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Directives attribut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b="1" dirty="0" err="1" smtClean="0"/>
              <a:t>ngClass</a:t>
            </a:r>
            <a:endParaRPr lang="fr-FR" b="1" dirty="0" smtClean="0"/>
          </a:p>
          <a:p>
            <a:pPr lvl="1" algn="just">
              <a:lnSpc>
                <a:spcPct val="150000"/>
              </a:lnSpc>
            </a:pPr>
            <a:r>
              <a:rPr lang="fr-FR" b="1" dirty="0" err="1" smtClean="0"/>
              <a:t>ngStyle</a:t>
            </a:r>
            <a:endParaRPr lang="fr-FR" b="1" dirty="0" smtClean="0"/>
          </a:p>
          <a:p>
            <a:pPr algn="just">
              <a:lnSpc>
                <a:spcPct val="150000"/>
              </a:lnSpc>
            </a:pPr>
            <a:r>
              <a:rPr lang="fr-FR" dirty="0"/>
              <a:t>Bonnes pratiques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/>
              <a:t>éviter la logique complexe dans le </a:t>
            </a:r>
            <a:r>
              <a:rPr lang="fr-FR" dirty="0" smtClean="0"/>
              <a:t>Template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5394825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000" dirty="0"/>
              <a:t>Services &amp; Injection de dépendances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lnSpc>
                <a:spcPct val="150000"/>
              </a:lnSpc>
            </a:pPr>
            <a:r>
              <a:rPr lang="fr-FR" dirty="0"/>
              <a:t>Les services contiennent la logique </a:t>
            </a:r>
            <a:r>
              <a:rPr lang="fr-FR" dirty="0" smtClean="0"/>
              <a:t>métier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Fournis via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b="1" dirty="0"/>
              <a:t>@Injectable({ </a:t>
            </a:r>
            <a:r>
              <a:rPr lang="fr-FR" b="1" dirty="0" err="1"/>
              <a:t>providedIn</a:t>
            </a:r>
            <a:r>
              <a:rPr lang="fr-FR" b="1" dirty="0"/>
              <a:t>: '</a:t>
            </a:r>
            <a:r>
              <a:rPr lang="fr-FR" b="1" dirty="0" err="1"/>
              <a:t>root</a:t>
            </a:r>
            <a:r>
              <a:rPr lang="fr-FR" b="1" dirty="0"/>
              <a:t>' </a:t>
            </a:r>
            <a:r>
              <a:rPr lang="fr-FR" b="1" dirty="0" smtClean="0"/>
              <a:t>})</a:t>
            </a:r>
          </a:p>
          <a:p>
            <a:pPr algn="just">
              <a:lnSpc>
                <a:spcPct val="150000"/>
              </a:lnSpc>
            </a:pPr>
            <a:r>
              <a:rPr lang="fr-FR" dirty="0"/>
              <a:t>Avantages </a:t>
            </a:r>
            <a:r>
              <a:rPr lang="fr-FR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Réutilisabilité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Testabilité</a:t>
            </a:r>
          </a:p>
          <a:p>
            <a:pPr lvl="1" algn="just">
              <a:lnSpc>
                <a:spcPct val="150000"/>
              </a:lnSpc>
            </a:pPr>
            <a:r>
              <a:rPr lang="fr-FR" dirty="0" smtClean="0"/>
              <a:t>Séparation </a:t>
            </a:r>
            <a:r>
              <a:rPr lang="fr-FR" dirty="0"/>
              <a:t>des responsabilités</a:t>
            </a:r>
          </a:p>
        </p:txBody>
      </p:sp>
    </p:spTree>
    <p:extLst>
      <p:ext uri="{BB962C8B-B14F-4D97-AF65-F5344CB8AC3E}">
        <p14:creationId xmlns:p14="http://schemas.microsoft.com/office/powerpoint/2010/main" val="331196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fr-FR" dirty="0"/>
              <a:t>Organisation du code</a:t>
            </a:r>
            <a:br>
              <a:rPr lang="fr-FR" dirty="0"/>
            </a:br>
            <a:r>
              <a:rPr lang="fr-FR" dirty="0"/>
              <a:t>Structure de projet recommandée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4011560"/>
            <a:ext cx="10058400" cy="2160639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fr-FR" b="1" dirty="0" err="1"/>
              <a:t>core</a:t>
            </a:r>
            <a:r>
              <a:rPr lang="fr-FR" dirty="0"/>
              <a:t> : services </a:t>
            </a:r>
            <a:r>
              <a:rPr lang="fr-FR" dirty="0" err="1" smtClean="0"/>
              <a:t>globaux,guards</a:t>
            </a:r>
            <a:endParaRPr lang="fr-FR" dirty="0" smtClean="0"/>
          </a:p>
          <a:p>
            <a:pPr>
              <a:lnSpc>
                <a:spcPct val="150000"/>
              </a:lnSpc>
            </a:pPr>
            <a:r>
              <a:rPr lang="fr-FR" b="1" dirty="0" err="1" smtClean="0"/>
              <a:t>shared</a:t>
            </a:r>
            <a:r>
              <a:rPr lang="fr-FR" dirty="0" smtClean="0"/>
              <a:t> </a:t>
            </a:r>
            <a:r>
              <a:rPr lang="fr-FR" dirty="0"/>
              <a:t>: composants </a:t>
            </a:r>
            <a:r>
              <a:rPr lang="fr-FR" dirty="0" smtClean="0"/>
              <a:t>réutilisables</a:t>
            </a:r>
          </a:p>
          <a:p>
            <a:pPr>
              <a:lnSpc>
                <a:spcPct val="150000"/>
              </a:lnSpc>
            </a:pPr>
            <a:r>
              <a:rPr lang="fr-FR" b="1" dirty="0" err="1" smtClean="0"/>
              <a:t>features</a:t>
            </a:r>
            <a:r>
              <a:rPr lang="fr-FR" dirty="0" smtClean="0"/>
              <a:t> </a:t>
            </a:r>
            <a:r>
              <a:rPr lang="fr-FR" dirty="0"/>
              <a:t>: modules ou fonctionnalités métier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283974" y="2093976"/>
            <a:ext cx="4778478" cy="169144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893076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Dossier </a:t>
            </a:r>
            <a:r>
              <a:rPr lang="fr-FR" dirty="0" err="1"/>
              <a:t>Core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Contient </a:t>
            </a:r>
            <a:r>
              <a:rPr lang="fr-FR" sz="24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000" dirty="0"/>
              <a:t>Services globaux (</a:t>
            </a:r>
            <a:r>
              <a:rPr lang="fr-FR" sz="2000" dirty="0" err="1"/>
              <a:t>Auth</a:t>
            </a:r>
            <a:r>
              <a:rPr lang="fr-FR" sz="2000" dirty="0"/>
              <a:t>, </a:t>
            </a:r>
            <a:r>
              <a:rPr lang="fr-FR" sz="2000" dirty="0" err="1"/>
              <a:t>Logger</a:t>
            </a:r>
            <a:r>
              <a:rPr lang="fr-FR" sz="2000" dirty="0"/>
              <a:t>, Config</a:t>
            </a:r>
            <a:r>
              <a:rPr lang="fr-FR" sz="2000" dirty="0" smtClean="0"/>
              <a:t>)</a:t>
            </a:r>
          </a:p>
          <a:p>
            <a:pPr lvl="1" algn="just">
              <a:lnSpc>
                <a:spcPct val="200000"/>
              </a:lnSpc>
            </a:pPr>
            <a:r>
              <a:rPr lang="fr-FR" sz="2000" dirty="0" err="1" smtClean="0"/>
              <a:t>Guards</a:t>
            </a:r>
            <a:endParaRPr lang="fr-FR" sz="2000" dirty="0" smtClean="0"/>
          </a:p>
          <a:p>
            <a:pPr lvl="1" algn="just">
              <a:lnSpc>
                <a:spcPct val="200000"/>
              </a:lnSpc>
            </a:pPr>
            <a:r>
              <a:rPr lang="fr-FR" sz="2000" dirty="0" err="1" smtClean="0"/>
              <a:t>Interceptors</a:t>
            </a:r>
            <a:endParaRPr lang="fr-FR" sz="2000" dirty="0" smtClean="0"/>
          </a:p>
          <a:p>
            <a:pPr lvl="1" algn="just">
              <a:lnSpc>
                <a:spcPct val="200000"/>
              </a:lnSpc>
            </a:pPr>
            <a:r>
              <a:rPr lang="fr-FR" sz="2000" dirty="0"/>
              <a:t>Singleton services</a:t>
            </a:r>
          </a:p>
          <a:p>
            <a:pPr algn="just">
              <a:lnSpc>
                <a:spcPct val="200000"/>
              </a:lnSpc>
            </a:pPr>
            <a:r>
              <a:rPr lang="fr-FR" sz="2400" dirty="0"/>
              <a:t>Ne contient pas de composants visuels</a:t>
            </a:r>
          </a:p>
        </p:txBody>
      </p:sp>
    </p:spTree>
    <p:extLst>
      <p:ext uri="{BB962C8B-B14F-4D97-AF65-F5344CB8AC3E}">
        <p14:creationId xmlns:p14="http://schemas.microsoft.com/office/powerpoint/2010/main" val="27004505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Dossier </a:t>
            </a:r>
            <a:r>
              <a:rPr lang="fr-FR" dirty="0" err="1"/>
              <a:t>Shared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Contient </a:t>
            </a:r>
            <a:r>
              <a:rPr lang="fr-FR" sz="2400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fr-FR" sz="2000" dirty="0"/>
              <a:t>Composants UI </a:t>
            </a:r>
            <a:r>
              <a:rPr lang="fr-FR" sz="2000" dirty="0" smtClean="0"/>
              <a:t>réutilisables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Pipes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Directives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Interfaces </a:t>
            </a:r>
            <a:r>
              <a:rPr lang="fr-FR" sz="2000" dirty="0"/>
              <a:t>/ </a:t>
            </a:r>
            <a:r>
              <a:rPr lang="fr-FR" sz="2000" dirty="0" smtClean="0"/>
              <a:t>modèles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Utilisé par plusieurs fonctionnalités</a:t>
            </a:r>
          </a:p>
        </p:txBody>
      </p:sp>
    </p:spTree>
    <p:extLst>
      <p:ext uri="{BB962C8B-B14F-4D97-AF65-F5344CB8AC3E}">
        <p14:creationId xmlns:p14="http://schemas.microsoft.com/office/powerpoint/2010/main" val="12101320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Dossier </a:t>
            </a:r>
            <a:r>
              <a:rPr lang="fr-FR" dirty="0" err="1"/>
              <a:t>Features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Une fonctionnalité = un </a:t>
            </a:r>
            <a:r>
              <a:rPr lang="fr-FR" sz="2400" dirty="0" smtClean="0"/>
              <a:t>dossier</a:t>
            </a:r>
          </a:p>
          <a:p>
            <a:pPr>
              <a:lnSpc>
                <a:spcPct val="200000"/>
              </a:lnSpc>
            </a:pPr>
            <a:r>
              <a:rPr lang="fr-FR" sz="2400" dirty="0"/>
              <a:t>Contient </a:t>
            </a:r>
            <a:r>
              <a:rPr lang="fr-FR" sz="2400" dirty="0" smtClean="0"/>
              <a:t>:</a:t>
            </a:r>
          </a:p>
          <a:p>
            <a:pPr lvl="1">
              <a:lnSpc>
                <a:spcPct val="200000"/>
              </a:lnSpc>
            </a:pPr>
            <a:r>
              <a:rPr lang="fr-FR" sz="2000" dirty="0" smtClean="0"/>
              <a:t>Composants</a:t>
            </a:r>
          </a:p>
          <a:p>
            <a:pPr lvl="1">
              <a:lnSpc>
                <a:spcPct val="200000"/>
              </a:lnSpc>
            </a:pPr>
            <a:r>
              <a:rPr lang="fr-FR" sz="2000" dirty="0"/>
              <a:t>services </a:t>
            </a:r>
            <a:r>
              <a:rPr lang="fr-FR" sz="2000" dirty="0" smtClean="0"/>
              <a:t>spécifiques</a:t>
            </a:r>
          </a:p>
          <a:p>
            <a:pPr lvl="1">
              <a:lnSpc>
                <a:spcPct val="200000"/>
              </a:lnSpc>
            </a:pPr>
            <a:r>
              <a:rPr lang="fr-FR" sz="2000" dirty="0" err="1" smtClean="0"/>
              <a:t>Routing</a:t>
            </a:r>
            <a:endParaRPr lang="fr-FR" sz="2000" dirty="0" smtClean="0"/>
          </a:p>
          <a:p>
            <a:pPr>
              <a:lnSpc>
                <a:spcPct val="200000"/>
              </a:lnSpc>
            </a:pPr>
            <a:r>
              <a:rPr lang="fr-FR" sz="2400" dirty="0"/>
              <a:t>Favorise la </a:t>
            </a:r>
            <a:r>
              <a:rPr lang="fr-FR" sz="2400" b="1" dirty="0" err="1"/>
              <a:t>scalabilité</a:t>
            </a:r>
            <a:endParaRPr lang="fr-FR" sz="2400" dirty="0"/>
          </a:p>
        </p:txBody>
      </p:sp>
    </p:spTree>
    <p:extLst>
      <p:ext uri="{BB962C8B-B14F-4D97-AF65-F5344CB8AC3E}">
        <p14:creationId xmlns:p14="http://schemas.microsoft.com/office/powerpoint/2010/main" val="22059464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Angular</a:t>
            </a:r>
            <a:r>
              <a:rPr lang="fr-FR" dirty="0"/>
              <a:t> Style Guide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Recommandations officielles </a:t>
            </a:r>
            <a:r>
              <a:rPr lang="fr-FR" sz="2800" dirty="0" err="1" smtClean="0"/>
              <a:t>Angular</a:t>
            </a:r>
            <a:endParaRPr lang="fr-FR" sz="2800" dirty="0" smtClean="0"/>
          </a:p>
          <a:p>
            <a:pPr>
              <a:lnSpc>
                <a:spcPct val="200000"/>
              </a:lnSpc>
            </a:pPr>
            <a:r>
              <a:rPr lang="fr-FR" sz="2800" dirty="0"/>
              <a:t>Objectifs :</a:t>
            </a:r>
          </a:p>
          <a:p>
            <a:pPr lvl="1">
              <a:lnSpc>
                <a:spcPct val="200000"/>
              </a:lnSpc>
            </a:pPr>
            <a:r>
              <a:rPr lang="fr-FR" sz="2400" dirty="0" smtClean="0"/>
              <a:t>Lisibilité</a:t>
            </a:r>
          </a:p>
          <a:p>
            <a:pPr lvl="1">
              <a:lnSpc>
                <a:spcPct val="200000"/>
              </a:lnSpc>
            </a:pPr>
            <a:r>
              <a:rPr lang="fr-FR" sz="2400" dirty="0" smtClean="0"/>
              <a:t>Maintenabilité</a:t>
            </a:r>
          </a:p>
          <a:p>
            <a:pPr lvl="1">
              <a:lnSpc>
                <a:spcPct val="200000"/>
              </a:lnSpc>
            </a:pPr>
            <a:r>
              <a:rPr lang="fr-FR" sz="2400" dirty="0" smtClean="0"/>
              <a:t>cohérence </a:t>
            </a:r>
            <a:r>
              <a:rPr lang="fr-FR" sz="2400" dirty="0"/>
              <a:t>du code</a:t>
            </a:r>
          </a:p>
        </p:txBody>
      </p:sp>
    </p:spTree>
    <p:extLst>
      <p:ext uri="{BB962C8B-B14F-4D97-AF65-F5344CB8AC3E}">
        <p14:creationId xmlns:p14="http://schemas.microsoft.com/office/powerpoint/2010/main" val="29745440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Conventions de nommage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fr-FR" sz="2400" dirty="0"/>
              <a:t>Fichiers </a:t>
            </a:r>
            <a:r>
              <a:rPr lang="fr-FR" sz="2400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sz="2000" b="1" dirty="0" smtClean="0"/>
              <a:t>user-</a:t>
            </a:r>
            <a:r>
              <a:rPr lang="fr-FR" sz="2000" b="1" dirty="0" err="1" smtClean="0"/>
              <a:t>list.component.ts</a:t>
            </a:r>
            <a:endParaRPr lang="fr-FR" sz="2000" b="1" dirty="0" smtClean="0"/>
          </a:p>
          <a:p>
            <a:pPr lvl="1">
              <a:lnSpc>
                <a:spcPct val="150000"/>
              </a:lnSpc>
            </a:pPr>
            <a:r>
              <a:rPr lang="fr-FR" sz="2000" b="1" dirty="0" err="1" smtClean="0"/>
              <a:t>auth.service.ts</a:t>
            </a:r>
            <a:endParaRPr lang="fr-FR" sz="2000" b="1" dirty="0" smtClean="0"/>
          </a:p>
          <a:p>
            <a:pPr>
              <a:lnSpc>
                <a:spcPct val="150000"/>
              </a:lnSpc>
            </a:pPr>
            <a:r>
              <a:rPr lang="fr-FR" sz="2400" dirty="0" smtClean="0"/>
              <a:t>Classes :</a:t>
            </a:r>
          </a:p>
          <a:p>
            <a:pPr lvl="1">
              <a:lnSpc>
                <a:spcPct val="150000"/>
              </a:lnSpc>
            </a:pPr>
            <a:r>
              <a:rPr lang="fr-FR" sz="2000" b="1" dirty="0" err="1" smtClean="0"/>
              <a:t>UserListComponent</a:t>
            </a:r>
            <a:endParaRPr lang="fr-FR" sz="2000" b="1" dirty="0" smtClean="0"/>
          </a:p>
          <a:p>
            <a:pPr lvl="1">
              <a:lnSpc>
                <a:spcPct val="150000"/>
              </a:lnSpc>
            </a:pPr>
            <a:r>
              <a:rPr lang="fr-FR" sz="2000" b="1" dirty="0" err="1" smtClean="0"/>
              <a:t>AuthService</a:t>
            </a:r>
            <a:endParaRPr lang="fr-FR" sz="2000" b="1" dirty="0" smtClean="0"/>
          </a:p>
          <a:p>
            <a:pPr>
              <a:lnSpc>
                <a:spcPct val="150000"/>
              </a:lnSpc>
            </a:pPr>
            <a:r>
              <a:rPr lang="fr-FR" sz="2400" dirty="0"/>
              <a:t>Sélecteurs </a:t>
            </a:r>
            <a:r>
              <a:rPr lang="fr-FR" sz="2400" dirty="0" smtClean="0"/>
              <a:t>:</a:t>
            </a:r>
          </a:p>
          <a:p>
            <a:pPr lvl="1">
              <a:lnSpc>
                <a:spcPct val="150000"/>
              </a:lnSpc>
            </a:pPr>
            <a:r>
              <a:rPr lang="fr-FR" sz="2000" b="1" dirty="0" err="1"/>
              <a:t>app</a:t>
            </a:r>
            <a:r>
              <a:rPr lang="fr-FR" sz="2000" b="1" dirty="0"/>
              <a:t>-user-</a:t>
            </a:r>
            <a:r>
              <a:rPr lang="fr-FR" sz="2000" b="1" dirty="0" err="1"/>
              <a:t>list</a:t>
            </a:r>
            <a:endParaRPr lang="fr-FR" sz="2000" b="1" dirty="0"/>
          </a:p>
        </p:txBody>
      </p:sp>
    </p:spTree>
    <p:extLst>
      <p:ext uri="{BB962C8B-B14F-4D97-AF65-F5344CB8AC3E}">
        <p14:creationId xmlns:p14="http://schemas.microsoft.com/office/powerpoint/2010/main" val="6107917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Bonnes pratiques générales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200000"/>
              </a:lnSpc>
            </a:pPr>
            <a:r>
              <a:rPr lang="fr-FR" sz="2400" dirty="0"/>
              <a:t>Un composant = une </a:t>
            </a:r>
            <a:r>
              <a:rPr lang="fr-FR" sz="2400" dirty="0" smtClean="0"/>
              <a:t>responsabilité</a:t>
            </a:r>
          </a:p>
          <a:p>
            <a:pPr algn="just">
              <a:lnSpc>
                <a:spcPct val="200000"/>
              </a:lnSpc>
            </a:pPr>
            <a:r>
              <a:rPr lang="fr-FR" sz="2400" dirty="0" err="1" smtClean="0"/>
              <a:t>Templates</a:t>
            </a:r>
            <a:r>
              <a:rPr lang="fr-FR" sz="2400" dirty="0" smtClean="0"/>
              <a:t> simples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Logique </a:t>
            </a:r>
            <a:r>
              <a:rPr lang="fr-FR" sz="2400" dirty="0"/>
              <a:t>métier dans les </a:t>
            </a:r>
            <a:r>
              <a:rPr lang="fr-FR" sz="2400" dirty="0" smtClean="0"/>
              <a:t>services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Utiliser </a:t>
            </a:r>
            <a:r>
              <a:rPr lang="fr-FR" sz="2400" dirty="0" err="1"/>
              <a:t>OnPush</a:t>
            </a:r>
            <a:r>
              <a:rPr lang="fr-FR" sz="2400" dirty="0"/>
              <a:t> si </a:t>
            </a:r>
            <a:r>
              <a:rPr lang="fr-FR" sz="2400" dirty="0" smtClean="0"/>
              <a:t>possible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Supprimer </a:t>
            </a:r>
            <a:r>
              <a:rPr lang="fr-FR" sz="2400" dirty="0"/>
              <a:t>le code mort</a:t>
            </a:r>
          </a:p>
        </p:txBody>
      </p:sp>
    </p:spTree>
    <p:extLst>
      <p:ext uri="{BB962C8B-B14F-4D97-AF65-F5344CB8AC3E}">
        <p14:creationId xmlns:p14="http://schemas.microsoft.com/office/powerpoint/2010/main" val="224339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Architecture </a:t>
            </a:r>
            <a:r>
              <a:rPr lang="fr-FR" dirty="0" err="1" smtClean="0"/>
              <a:t>Standalone</a:t>
            </a:r>
            <a:r>
              <a:rPr lang="fr-FR" dirty="0"/>
              <a:t/>
            </a:r>
            <a:br>
              <a:rPr lang="fr-FR" dirty="0"/>
            </a:br>
            <a:r>
              <a:rPr lang="fr-FR" dirty="0"/>
              <a:t>Limites des </a:t>
            </a:r>
            <a:r>
              <a:rPr lang="fr-FR" dirty="0" err="1"/>
              <a:t>NgModules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Fichiers </a:t>
            </a:r>
            <a:r>
              <a:rPr lang="fr-FR" sz="2800" dirty="0" smtClean="0"/>
              <a:t>lourds</a:t>
            </a:r>
          </a:p>
          <a:p>
            <a:pPr>
              <a:lnSpc>
                <a:spcPct val="200000"/>
              </a:lnSpc>
            </a:pPr>
            <a:r>
              <a:rPr lang="fr-FR" sz="2800" dirty="0" smtClean="0"/>
              <a:t>Dépendances </a:t>
            </a:r>
            <a:r>
              <a:rPr lang="fr-FR" sz="2800" dirty="0"/>
              <a:t>difficiles à </a:t>
            </a:r>
            <a:r>
              <a:rPr lang="fr-FR" sz="2800" dirty="0" smtClean="0"/>
              <a:t>suivre</a:t>
            </a:r>
          </a:p>
          <a:p>
            <a:pPr>
              <a:lnSpc>
                <a:spcPct val="200000"/>
              </a:lnSpc>
            </a:pPr>
            <a:r>
              <a:rPr lang="fr-FR" sz="2800" dirty="0" err="1" smtClean="0"/>
              <a:t>Boilerplate</a:t>
            </a:r>
            <a:r>
              <a:rPr lang="fr-FR" sz="2800" dirty="0" smtClean="0"/>
              <a:t> </a:t>
            </a:r>
            <a:r>
              <a:rPr lang="fr-FR" sz="2800" dirty="0"/>
              <a:t>important</a:t>
            </a:r>
          </a:p>
        </p:txBody>
      </p:sp>
    </p:spTree>
    <p:extLst>
      <p:ext uri="{BB962C8B-B14F-4D97-AF65-F5344CB8AC3E}">
        <p14:creationId xmlns:p14="http://schemas.microsoft.com/office/powerpoint/2010/main" val="62855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Standalone</a:t>
            </a:r>
            <a:r>
              <a:rPr lang="fr-FR" dirty="0"/>
              <a:t> Components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Introduits depuis </a:t>
            </a:r>
            <a:r>
              <a:rPr lang="fr-FR" sz="2400" dirty="0" err="1"/>
              <a:t>Angular</a:t>
            </a:r>
            <a:r>
              <a:rPr lang="fr-FR" sz="2400" dirty="0"/>
              <a:t> </a:t>
            </a:r>
            <a:r>
              <a:rPr lang="fr-FR" sz="2400" dirty="0" smtClean="0"/>
              <a:t>14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Plus </a:t>
            </a:r>
            <a:r>
              <a:rPr lang="fr-FR" sz="2400" dirty="0"/>
              <a:t>besoin de </a:t>
            </a:r>
            <a:r>
              <a:rPr lang="fr-FR" sz="2400" dirty="0" err="1" smtClean="0"/>
              <a:t>NgModule</a:t>
            </a:r>
            <a:endParaRPr lang="fr-FR" sz="2400" dirty="0" smtClean="0"/>
          </a:p>
          <a:p>
            <a:pPr>
              <a:lnSpc>
                <a:spcPct val="200000"/>
              </a:lnSpc>
            </a:pPr>
            <a:r>
              <a:rPr lang="fr-FR" sz="2400" dirty="0" smtClean="0"/>
              <a:t>Composant </a:t>
            </a:r>
            <a:r>
              <a:rPr lang="fr-FR" sz="2400" dirty="0"/>
              <a:t>autonome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201264" y="3645815"/>
            <a:ext cx="2229285" cy="70987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965460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Avantages du </a:t>
            </a:r>
            <a:r>
              <a:rPr lang="fr-FR" dirty="0" err="1"/>
              <a:t>Standalone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fr-FR" sz="2400" dirty="0"/>
              <a:t>Architecture plus </a:t>
            </a:r>
            <a:r>
              <a:rPr lang="fr-FR" sz="2400" dirty="0" smtClean="0"/>
              <a:t>simple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Moins </a:t>
            </a:r>
            <a:r>
              <a:rPr lang="fr-FR" sz="2400" dirty="0"/>
              <a:t>de </a:t>
            </a:r>
            <a:r>
              <a:rPr lang="fr-FR" sz="2400" dirty="0" smtClean="0"/>
              <a:t>fichiers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Meilleure lisibilité</a:t>
            </a:r>
          </a:p>
          <a:p>
            <a:pPr>
              <a:lnSpc>
                <a:spcPct val="200000"/>
              </a:lnSpc>
            </a:pPr>
            <a:r>
              <a:rPr lang="fr-FR" sz="2400" dirty="0" smtClean="0"/>
              <a:t>Démarrage </a:t>
            </a:r>
            <a:r>
              <a:rPr lang="fr-FR" sz="2400" dirty="0"/>
              <a:t>plus rapide du projet</a:t>
            </a:r>
          </a:p>
        </p:txBody>
      </p:sp>
    </p:spTree>
    <p:extLst>
      <p:ext uri="{BB962C8B-B14F-4D97-AF65-F5344CB8AC3E}">
        <p14:creationId xmlns:p14="http://schemas.microsoft.com/office/powerpoint/2010/main" val="4115046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19161"/>
            <a:ext cx="10058400" cy="1019703"/>
          </a:xfrm>
        </p:spPr>
        <p:txBody>
          <a:bodyPr/>
          <a:lstStyle/>
          <a:p>
            <a:pPr algn="ctr"/>
            <a:r>
              <a:rPr lang="fr-FR" dirty="0"/>
              <a:t>Migration Module → </a:t>
            </a:r>
            <a:r>
              <a:rPr lang="fr-FR" dirty="0" err="1"/>
              <a:t>Standalone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700981"/>
            <a:ext cx="10058400" cy="4471219"/>
          </a:xfrm>
        </p:spPr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2800" dirty="0"/>
              <a:t>Étapes de </a:t>
            </a:r>
            <a:r>
              <a:rPr lang="fr-FR" sz="2800" dirty="0" smtClean="0"/>
              <a:t>migration</a:t>
            </a:r>
          </a:p>
          <a:p>
            <a:pPr marL="61722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dirty="0"/>
              <a:t>Convertir les composants en </a:t>
            </a:r>
            <a:r>
              <a:rPr lang="fr-FR" sz="2400" b="1" dirty="0" err="1" smtClean="0"/>
              <a:t>standalone</a:t>
            </a:r>
            <a:endParaRPr lang="fr-FR" sz="2400" b="1" dirty="0" smtClean="0"/>
          </a:p>
          <a:p>
            <a:pPr marL="61722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dirty="0" smtClean="0"/>
              <a:t>Déplacer </a:t>
            </a:r>
            <a:r>
              <a:rPr lang="fr-FR" sz="2400" dirty="0"/>
              <a:t>les imports dans le </a:t>
            </a:r>
            <a:r>
              <a:rPr lang="fr-FR" sz="2400" dirty="0" smtClean="0"/>
              <a:t>composant</a:t>
            </a:r>
          </a:p>
          <a:p>
            <a:pPr marL="61722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dirty="0" smtClean="0"/>
              <a:t>Supprimer </a:t>
            </a:r>
            <a:r>
              <a:rPr lang="fr-FR" sz="2400" dirty="0"/>
              <a:t>les </a:t>
            </a:r>
            <a:r>
              <a:rPr lang="fr-FR" sz="2400" b="1" dirty="0" err="1"/>
              <a:t>NgModules</a:t>
            </a:r>
            <a:r>
              <a:rPr lang="fr-FR" sz="2400" dirty="0"/>
              <a:t> </a:t>
            </a:r>
            <a:r>
              <a:rPr lang="fr-FR" sz="2400" dirty="0" smtClean="0"/>
              <a:t>inutiles</a:t>
            </a:r>
          </a:p>
          <a:p>
            <a:pPr marL="61722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dirty="0" smtClean="0"/>
              <a:t>Adapter </a:t>
            </a:r>
            <a:r>
              <a:rPr lang="fr-FR" sz="2400" dirty="0"/>
              <a:t>le </a:t>
            </a:r>
            <a:r>
              <a:rPr lang="fr-FR" sz="2400" b="1" dirty="0" err="1" smtClean="0"/>
              <a:t>routing</a:t>
            </a:r>
            <a:endParaRPr lang="fr-FR" sz="2400" b="1" dirty="0" smtClean="0"/>
          </a:p>
          <a:p>
            <a:pPr marL="617220" lvl="1" indent="-342900">
              <a:lnSpc>
                <a:spcPct val="200000"/>
              </a:lnSpc>
              <a:buFont typeface="+mj-lt"/>
              <a:buAutoNum type="arabicPeriod"/>
            </a:pPr>
            <a:r>
              <a:rPr lang="fr-FR" sz="2400" dirty="0" smtClean="0"/>
              <a:t>Nettoyer </a:t>
            </a:r>
            <a:r>
              <a:rPr lang="fr-FR" sz="2400" dirty="0"/>
              <a:t>le projet</a:t>
            </a:r>
          </a:p>
        </p:txBody>
      </p:sp>
    </p:spTree>
    <p:extLst>
      <p:ext uri="{BB962C8B-B14F-4D97-AF65-F5344CB8AC3E}">
        <p14:creationId xmlns:p14="http://schemas.microsoft.com/office/powerpoint/2010/main" val="37908635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Exemple de migration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/>
            <a:r>
              <a:rPr lang="fr-FR" dirty="0" smtClean="0"/>
              <a:t>AVANT</a:t>
            </a:r>
            <a:endParaRPr lang="fr-FR" dirty="0"/>
          </a:p>
        </p:txBody>
      </p:sp>
      <p:pic>
        <p:nvPicPr>
          <p:cNvPr id="8" name="Espace réservé du contenu 7"/>
          <p:cNvPicPr>
            <a:picLocks noGrp="1" noChangeAspect="1"/>
          </p:cNvPicPr>
          <p:nvPr>
            <p:ph sz="half" idx="2"/>
          </p:nvPr>
        </p:nvPicPr>
        <p:blipFill>
          <a:blip r:embed="rId2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1887794" y="3014654"/>
            <a:ext cx="3205316" cy="1999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Espace réservé du texte 5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algn="ctr"/>
            <a:r>
              <a:rPr lang="fr-FR" dirty="0" smtClean="0"/>
              <a:t>APRES</a:t>
            </a:r>
            <a:endParaRPr lang="fr-FR" dirty="0"/>
          </a:p>
        </p:txBody>
      </p:sp>
      <p:pic>
        <p:nvPicPr>
          <p:cNvPr id="9" name="Espace réservé du contenu 8"/>
          <p:cNvPicPr>
            <a:picLocks noGrp="1" noChangeAspect="1"/>
          </p:cNvPicPr>
          <p:nvPr>
            <p:ph sz="quarter" idx="4"/>
          </p:nvPr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7049729" y="3014653"/>
            <a:ext cx="3008671" cy="19997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69398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r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err="1"/>
              <a:t>Bootstrapping</a:t>
            </a:r>
            <a:r>
              <a:rPr lang="fr-FR" dirty="0"/>
              <a:t> </a:t>
            </a:r>
            <a:r>
              <a:rPr lang="fr-FR" dirty="0" err="1"/>
              <a:t>Standalone</a:t>
            </a:r>
            <a:endParaRPr lang="fr-FR" dirty="0"/>
          </a:p>
        </p:txBody>
      </p:sp>
      <p:sp>
        <p:nvSpPr>
          <p:cNvPr id="8" name="Espace réservé du contenu 7"/>
          <p:cNvSpPr>
            <a:spLocks noGrp="1"/>
          </p:cNvSpPr>
          <p:nvPr>
            <p:ph idx="1"/>
          </p:nvPr>
        </p:nvSpPr>
        <p:spPr>
          <a:xfrm>
            <a:off x="1069848" y="4218038"/>
            <a:ext cx="10058400" cy="1954161"/>
          </a:xfrm>
        </p:spPr>
        <p:txBody>
          <a:bodyPr/>
          <a:lstStyle/>
          <a:p>
            <a:r>
              <a:rPr lang="fr-FR" dirty="0"/>
              <a:t>Remplace </a:t>
            </a:r>
            <a:r>
              <a:rPr lang="fr-FR" b="1" dirty="0" err="1"/>
              <a:t>AppModule</a:t>
            </a:r>
            <a:endParaRPr lang="fr-FR" b="1" dirty="0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47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932903" y="2093976"/>
            <a:ext cx="4050891" cy="131948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204717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ATELIER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794222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fr-FR" dirty="0" smtClean="0"/>
              <a:t>ROADMAP</a:t>
            </a:r>
            <a:r>
              <a:rPr lang="fr-FR" dirty="0"/>
              <a:t/>
            </a:r>
            <a:br>
              <a:rPr lang="fr-FR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8386334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 smtClean="0"/>
              <a:t>Introduction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50000"/>
              </a:lnSpc>
            </a:pPr>
            <a:r>
              <a:rPr lang="fr-FR" sz="3200" dirty="0" smtClean="0"/>
              <a:t>Une </a:t>
            </a:r>
            <a:r>
              <a:rPr lang="fr-FR" sz="3200" dirty="0"/>
              <a:t>roadmap détaillée pour mettre en place un grand projet </a:t>
            </a:r>
            <a:r>
              <a:rPr lang="fr-FR" sz="3200" b="1" dirty="0" err="1"/>
              <a:t>Angular</a:t>
            </a:r>
            <a:r>
              <a:rPr lang="fr-FR" sz="3200" dirty="0"/>
              <a:t>, en suivant une approche modulaire et </a:t>
            </a:r>
            <a:r>
              <a:rPr lang="fr-FR" sz="3200" dirty="0" err="1"/>
              <a:t>scalable</a:t>
            </a:r>
            <a:r>
              <a:rPr lang="fr-FR" sz="32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3452244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137790"/>
            <a:ext cx="10058400" cy="58742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 smtClean="0"/>
              <a:t>Démarche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858963" y="1187329"/>
            <a:ext cx="10058400" cy="5147441"/>
          </a:xfrm>
        </p:spPr>
        <p:txBody>
          <a:bodyPr>
            <a:noAutofit/>
          </a:bodyPr>
          <a:lstStyle/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fr-FR" dirty="0"/>
              <a:t>Définition des Besoins &amp; </a:t>
            </a:r>
            <a:r>
              <a:rPr lang="fr-FR" dirty="0" smtClean="0"/>
              <a:t>Architecture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fr-FR" dirty="0"/>
              <a:t>Initialisation du </a:t>
            </a:r>
            <a:r>
              <a:rPr lang="fr-FR" dirty="0" smtClean="0"/>
              <a:t>Projet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fr-FR" dirty="0"/>
              <a:t>Organisation du </a:t>
            </a:r>
            <a:r>
              <a:rPr lang="fr-FR" dirty="0" smtClean="0"/>
              <a:t>Code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fr-FR" dirty="0"/>
              <a:t>Mise en Place des </a:t>
            </a:r>
            <a:r>
              <a:rPr lang="fr-FR" dirty="0" smtClean="0"/>
              <a:t>Modules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r>
              <a:rPr lang="fr-FR" dirty="0"/>
              <a:t>Développement des </a:t>
            </a:r>
            <a:r>
              <a:rPr lang="fr-FR" dirty="0" smtClean="0"/>
              <a:t>Composants</a:t>
            </a:r>
          </a:p>
          <a:p>
            <a:pPr marL="457200" indent="-457200">
              <a:lnSpc>
                <a:spcPct val="300000"/>
              </a:lnSpc>
              <a:buFont typeface="+mj-lt"/>
              <a:buAutoNum type="arabicPeriod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3664694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358508"/>
            <a:ext cx="10058400" cy="823906"/>
          </a:xfrm>
        </p:spPr>
        <p:txBody>
          <a:bodyPr>
            <a:normAutofit/>
          </a:bodyPr>
          <a:lstStyle/>
          <a:p>
            <a:pPr algn="ctr"/>
            <a:r>
              <a:rPr lang="fr-FR" sz="3600" dirty="0"/>
              <a:t>Définition des Besoins &amp; </a:t>
            </a:r>
            <a:r>
              <a:rPr lang="fr-FR" sz="3600" dirty="0" smtClean="0"/>
              <a:t>Architecture</a:t>
            </a:r>
            <a:endParaRPr lang="fr-FR" sz="3600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623848"/>
            <a:ext cx="10058400" cy="4548352"/>
          </a:xfrm>
        </p:spPr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Définir les fonctionnalités principales et secondaires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Choisir l’architecture du projet (monolithique ou micro-</a:t>
            </a:r>
            <a:r>
              <a:rPr lang="fr-FR" sz="2400" dirty="0" err="1"/>
              <a:t>frontends</a:t>
            </a:r>
            <a:r>
              <a:rPr lang="fr-FR" sz="2400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Déterminer les modules et composants principaux</a:t>
            </a:r>
            <a:r>
              <a:rPr lang="fr-FR" sz="24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Décider de l’organisation des dossiers (</a:t>
            </a:r>
            <a:r>
              <a:rPr lang="fr-FR" sz="2400" dirty="0" err="1"/>
              <a:t>features-based</a:t>
            </a:r>
            <a:r>
              <a:rPr lang="fr-FR" sz="2400" dirty="0"/>
              <a:t> structure, </a:t>
            </a:r>
            <a:r>
              <a:rPr lang="fr-FR" sz="2400" dirty="0" err="1"/>
              <a:t>core</a:t>
            </a:r>
            <a:r>
              <a:rPr lang="fr-FR" sz="2400" dirty="0"/>
              <a:t>/</a:t>
            </a:r>
            <a:r>
              <a:rPr lang="fr-FR" sz="2400" dirty="0" err="1"/>
              <a:t>shared</a:t>
            </a:r>
            <a:r>
              <a:rPr lang="fr-FR" sz="2400" dirty="0"/>
              <a:t> modules, etc</a:t>
            </a:r>
            <a:r>
              <a:rPr lang="fr-FR" sz="2400" dirty="0" smtClean="0"/>
              <a:t>.).</a:t>
            </a:r>
          </a:p>
          <a:p>
            <a:pPr algn="just">
              <a:lnSpc>
                <a:spcPct val="150000"/>
              </a:lnSpc>
            </a:pPr>
            <a:r>
              <a:rPr lang="fr-FR" sz="2400" dirty="0"/>
              <a:t>Définir les interactions avec le </a:t>
            </a:r>
            <a:r>
              <a:rPr lang="fr-FR" sz="2400" dirty="0" err="1"/>
              <a:t>backend</a:t>
            </a:r>
            <a:r>
              <a:rPr lang="fr-FR" sz="2400" dirty="0"/>
              <a:t> (REST API, </a:t>
            </a:r>
            <a:r>
              <a:rPr lang="fr-FR" sz="2400" dirty="0" err="1"/>
              <a:t>GraphQL</a:t>
            </a:r>
            <a:r>
              <a:rPr lang="fr-FR" sz="2400" dirty="0"/>
              <a:t>, </a:t>
            </a:r>
            <a:r>
              <a:rPr lang="fr-FR" sz="2400" dirty="0" err="1"/>
              <a:t>WebSockets</a:t>
            </a:r>
            <a:r>
              <a:rPr lang="fr-FR" sz="2400" dirty="0"/>
              <a:t>…).</a:t>
            </a:r>
          </a:p>
        </p:txBody>
      </p:sp>
    </p:spTree>
    <p:extLst>
      <p:ext uri="{BB962C8B-B14F-4D97-AF65-F5344CB8AC3E}">
        <p14:creationId xmlns:p14="http://schemas.microsoft.com/office/powerpoint/2010/main" val="2199816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484632"/>
            <a:ext cx="10058400" cy="729313"/>
          </a:xfrm>
        </p:spPr>
        <p:txBody>
          <a:bodyPr>
            <a:normAutofit fontScale="90000"/>
          </a:bodyPr>
          <a:lstStyle/>
          <a:p>
            <a:pPr algn="ctr"/>
            <a:r>
              <a:rPr lang="fr-FR" dirty="0"/>
              <a:t>Initialisation du Projet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403131"/>
            <a:ext cx="10058400" cy="4769069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800" dirty="0"/>
              <a:t>Installer </a:t>
            </a:r>
            <a:r>
              <a:rPr lang="fr-FR" sz="2800" dirty="0" err="1"/>
              <a:t>Angular</a:t>
            </a:r>
            <a:r>
              <a:rPr lang="fr-FR" sz="2800" dirty="0"/>
              <a:t> CLI </a:t>
            </a:r>
            <a:endParaRPr lang="fr-FR" sz="2800" dirty="0" smtClean="0"/>
          </a:p>
          <a:p>
            <a:pPr algn="just">
              <a:lnSpc>
                <a:spcPct val="200000"/>
              </a:lnSpc>
            </a:pPr>
            <a:r>
              <a:rPr lang="fr-FR" sz="2800" dirty="0"/>
              <a:t>Créer le </a:t>
            </a:r>
            <a:r>
              <a:rPr lang="fr-FR" sz="2800" dirty="0" smtClean="0"/>
              <a:t>projet</a:t>
            </a:r>
          </a:p>
          <a:p>
            <a:pPr algn="just">
              <a:lnSpc>
                <a:spcPct val="200000"/>
              </a:lnSpc>
            </a:pPr>
            <a:r>
              <a:rPr lang="fr-FR" sz="2800" dirty="0"/>
              <a:t>Configurer </a:t>
            </a:r>
            <a:r>
              <a:rPr lang="fr-FR" sz="2800" b="1" dirty="0" err="1"/>
              <a:t>Angular</a:t>
            </a:r>
            <a:r>
              <a:rPr lang="fr-FR" sz="2800" b="1" dirty="0"/>
              <a:t> </a:t>
            </a:r>
            <a:r>
              <a:rPr lang="fr-FR" sz="2800" b="1" dirty="0" err="1"/>
              <a:t>Environment</a:t>
            </a:r>
            <a:r>
              <a:rPr lang="fr-FR" sz="2800" dirty="0"/>
              <a:t>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Définir les fichiers </a:t>
            </a:r>
            <a:r>
              <a:rPr lang="fr-FR" sz="2400" b="1" dirty="0" err="1"/>
              <a:t>environment.ts</a:t>
            </a:r>
            <a:r>
              <a:rPr lang="fr-FR" sz="2400" dirty="0"/>
              <a:t> et </a:t>
            </a:r>
            <a:r>
              <a:rPr lang="fr-FR" sz="2400" b="1" dirty="0" err="1"/>
              <a:t>environment.prod.ts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200000"/>
              </a:lnSpc>
            </a:pPr>
            <a:r>
              <a:rPr lang="fr-FR" sz="2400" dirty="0"/>
              <a:t>Configurer les variables d’environnement.</a:t>
            </a:r>
          </a:p>
        </p:txBody>
      </p:sp>
    </p:spTree>
    <p:extLst>
      <p:ext uri="{BB962C8B-B14F-4D97-AF65-F5344CB8AC3E}">
        <p14:creationId xmlns:p14="http://schemas.microsoft.com/office/powerpoint/2010/main" val="42142905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Organisation du Code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fr-FR" sz="2800" dirty="0"/>
              <a:t>Structure recommandée :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29255" y="2651234"/>
            <a:ext cx="8213835" cy="376533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94273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Mise en Place des Modules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Découper l’application en modules fonctionnels (</a:t>
            </a:r>
            <a:r>
              <a:rPr lang="fr-FR" sz="2800" b="1" dirty="0" err="1"/>
              <a:t>ng</a:t>
            </a:r>
            <a:r>
              <a:rPr lang="fr-FR" sz="2800" b="1" dirty="0"/>
              <a:t> </a:t>
            </a:r>
            <a:r>
              <a:rPr lang="fr-FR" sz="2800" b="1" dirty="0" err="1"/>
              <a:t>generate</a:t>
            </a:r>
            <a:r>
              <a:rPr lang="fr-FR" sz="2800" b="1" dirty="0"/>
              <a:t> module </a:t>
            </a:r>
            <a:r>
              <a:rPr lang="fr-FR" sz="2800" b="1" dirty="0" err="1"/>
              <a:t>feature-name</a:t>
            </a:r>
            <a:r>
              <a:rPr lang="fr-FR" sz="2800" dirty="0" smtClean="0"/>
              <a:t>).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Séparer les modules en </a:t>
            </a:r>
            <a:r>
              <a:rPr lang="fr-FR" sz="2800" b="1" dirty="0" err="1"/>
              <a:t>CoreModule</a:t>
            </a:r>
            <a:r>
              <a:rPr lang="fr-FR" sz="2800" dirty="0"/>
              <a:t>, </a:t>
            </a:r>
            <a:r>
              <a:rPr lang="fr-FR" sz="2800" b="1" dirty="0" err="1"/>
              <a:t>SharedModule</a:t>
            </a:r>
            <a:r>
              <a:rPr lang="fr-FR" sz="2800" dirty="0"/>
              <a:t>, et </a:t>
            </a:r>
            <a:r>
              <a:rPr lang="fr-FR" sz="2800" b="1" dirty="0" err="1"/>
              <a:t>FeatureModules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Configurer le </a:t>
            </a:r>
            <a:r>
              <a:rPr lang="fr-FR" sz="2800" b="1" dirty="0" err="1"/>
              <a:t>Lazy</a:t>
            </a:r>
            <a:r>
              <a:rPr lang="fr-FR" sz="2800" b="1" dirty="0"/>
              <a:t> </a:t>
            </a:r>
            <a:r>
              <a:rPr lang="fr-FR" sz="2800" b="1" dirty="0" err="1"/>
              <a:t>Loading</a:t>
            </a:r>
            <a:r>
              <a:rPr lang="fr-FR" sz="2800" b="1" dirty="0"/>
              <a:t> </a:t>
            </a:r>
            <a:r>
              <a:rPr lang="fr-FR" sz="2800" dirty="0"/>
              <a:t>pour optimiser les performances</a:t>
            </a:r>
          </a:p>
        </p:txBody>
      </p:sp>
    </p:spTree>
    <p:extLst>
      <p:ext uri="{BB962C8B-B14F-4D97-AF65-F5344CB8AC3E}">
        <p14:creationId xmlns:p14="http://schemas.microsoft.com/office/powerpoint/2010/main" val="4085222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069848" y="263915"/>
            <a:ext cx="10058400" cy="745078"/>
          </a:xfrm>
        </p:spPr>
        <p:txBody>
          <a:bodyPr>
            <a:normAutofit/>
          </a:bodyPr>
          <a:lstStyle/>
          <a:p>
            <a:pPr algn="ctr"/>
            <a:r>
              <a:rPr lang="fr-FR" sz="4000" dirty="0"/>
              <a:t>Développement des Composants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069848" y="1576552"/>
            <a:ext cx="10058400" cy="459564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fr-FR" sz="2800" dirty="0"/>
              <a:t>Utiliser </a:t>
            </a:r>
            <a:r>
              <a:rPr lang="fr-FR" sz="2800" dirty="0" err="1"/>
              <a:t>ng</a:t>
            </a:r>
            <a:r>
              <a:rPr lang="fr-FR" sz="2800" dirty="0"/>
              <a:t> </a:t>
            </a:r>
            <a:r>
              <a:rPr lang="fr-FR" sz="2800" dirty="0" err="1"/>
              <a:t>generate</a:t>
            </a:r>
            <a:r>
              <a:rPr lang="fr-FR" sz="2800" dirty="0"/>
              <a:t> component pour créer des composants réutilisables</a:t>
            </a:r>
            <a:r>
              <a:rPr lang="fr-FR" sz="2800" dirty="0" smtClean="0"/>
              <a:t>.</a:t>
            </a:r>
          </a:p>
          <a:p>
            <a:pPr algn="just">
              <a:lnSpc>
                <a:spcPct val="150000"/>
              </a:lnSpc>
            </a:pPr>
            <a:r>
              <a:rPr lang="fr-FR" sz="2800" dirty="0"/>
              <a:t>Respecter </a:t>
            </a:r>
            <a:r>
              <a:rPr lang="fr-FR" sz="2800" b="1" dirty="0"/>
              <a:t>les bonnes pratiques </a:t>
            </a:r>
            <a:r>
              <a:rPr lang="fr-FR" sz="2800" b="1" dirty="0" err="1"/>
              <a:t>Angular</a:t>
            </a:r>
            <a:r>
              <a:rPr lang="fr-FR" sz="2800" dirty="0"/>
              <a:t> </a:t>
            </a:r>
            <a:r>
              <a:rPr lang="fr-FR" sz="2800" dirty="0" smtClean="0"/>
              <a:t>:</a:t>
            </a:r>
          </a:p>
          <a:p>
            <a:pPr lvl="1" algn="just">
              <a:lnSpc>
                <a:spcPct val="150000"/>
              </a:lnSpc>
            </a:pPr>
            <a:r>
              <a:rPr lang="fr-FR" sz="2400" b="1" dirty="0"/>
              <a:t>Smart Components vs. </a:t>
            </a:r>
            <a:r>
              <a:rPr lang="fr-FR" sz="2400" b="1" dirty="0" err="1"/>
              <a:t>Dumb</a:t>
            </a:r>
            <a:r>
              <a:rPr lang="fr-FR" sz="2400" b="1" dirty="0"/>
              <a:t> Components</a:t>
            </a:r>
            <a:r>
              <a:rPr lang="fr-FR" sz="2400" dirty="0"/>
              <a:t> (séparer la logique métier du rendu</a:t>
            </a:r>
            <a:r>
              <a:rPr lang="fr-FR" sz="2400" dirty="0" smtClean="0"/>
              <a:t>).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Utiliser </a:t>
            </a:r>
            <a:r>
              <a:rPr lang="fr-FR" sz="2400" b="1" dirty="0" err="1"/>
              <a:t>RxJS</a:t>
            </a:r>
            <a:r>
              <a:rPr lang="fr-FR" sz="2400" dirty="0"/>
              <a:t> et </a:t>
            </a:r>
            <a:r>
              <a:rPr lang="fr-FR" sz="2400" b="1" dirty="0"/>
              <a:t>Observables</a:t>
            </a:r>
            <a:r>
              <a:rPr lang="fr-FR" sz="2400" dirty="0"/>
              <a:t> pour la gestion des données</a:t>
            </a:r>
            <a:r>
              <a:rPr lang="fr-FR" sz="2400" dirty="0" smtClean="0"/>
              <a:t>.</a:t>
            </a:r>
          </a:p>
          <a:p>
            <a:pPr lvl="1" algn="just">
              <a:lnSpc>
                <a:spcPct val="150000"/>
              </a:lnSpc>
            </a:pPr>
            <a:r>
              <a:rPr lang="fr-FR" sz="2400" dirty="0"/>
              <a:t>Mettre en place </a:t>
            </a:r>
            <a:r>
              <a:rPr lang="fr-FR" sz="2400" b="1" dirty="0"/>
              <a:t>les services et </a:t>
            </a:r>
            <a:r>
              <a:rPr lang="fr-FR" sz="2400" b="1" dirty="0" err="1"/>
              <a:t>Dependency</a:t>
            </a:r>
            <a:r>
              <a:rPr lang="fr-FR" sz="2400" b="1" dirty="0"/>
              <a:t> Injection</a:t>
            </a:r>
            <a:r>
              <a:rPr lang="fr-FR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886652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2000" dirty="0" err="1"/>
              <a:t>Dumb</a:t>
            </a:r>
            <a:r>
              <a:rPr lang="fr-FR" sz="2000" dirty="0"/>
              <a:t> Components (Composants stupides ou de présentation)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83768" y="1887728"/>
            <a:ext cx="4782312" cy="4533392"/>
          </a:xfrm>
        </p:spPr>
        <p:txBody>
          <a:bodyPr>
            <a:normAutofit fontScale="85000" lnSpcReduction="10000"/>
          </a:bodyPr>
          <a:lstStyle/>
          <a:p>
            <a:pPr algn="just">
              <a:lnSpc>
                <a:spcPct val="150000"/>
              </a:lnSpc>
            </a:pPr>
            <a:r>
              <a:rPr lang="fr-FR" sz="2400" dirty="0"/>
              <a:t>Les </a:t>
            </a:r>
            <a:r>
              <a:rPr lang="fr-FR" sz="2400" b="1" i="1" dirty="0" err="1"/>
              <a:t>Dumb</a:t>
            </a:r>
            <a:r>
              <a:rPr lang="fr-FR" sz="2400" i="1" dirty="0"/>
              <a:t> Components</a:t>
            </a:r>
            <a:r>
              <a:rPr lang="fr-FR" sz="2400" dirty="0"/>
              <a:t> sont responsables uniquement du rendu des données qui leur sont transmises. Ils ne contiennent aucune logique métier ni gestion d'état. Leur but est de recevoir des entrées via des </a:t>
            </a:r>
            <a:r>
              <a:rPr lang="fr-FR" sz="2400" i="1" dirty="0"/>
              <a:t>inputs</a:t>
            </a:r>
            <a:r>
              <a:rPr lang="fr-FR" sz="2400" dirty="0"/>
              <a:t> et d'émettre des événements via des </a:t>
            </a:r>
            <a:r>
              <a:rPr lang="fr-FR" sz="2400" i="1" dirty="0"/>
              <a:t>outputs</a:t>
            </a:r>
            <a:r>
              <a:rPr lang="fr-FR" sz="2400" dirty="0"/>
              <a:t> sans s'occuper de la gestion des données ou de la logique complexe.</a:t>
            </a:r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3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5588000" y="1761490"/>
            <a:ext cx="5090160" cy="465963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8917914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fr-FR" sz="4400" dirty="0"/>
              <a:t>Avantages de cette séparation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200000"/>
              </a:lnSpc>
            </a:pPr>
            <a:r>
              <a:rPr lang="fr-FR" sz="3200" dirty="0"/>
              <a:t>Clarté et </a:t>
            </a:r>
            <a:r>
              <a:rPr lang="fr-FR" sz="3200" dirty="0" smtClean="0"/>
              <a:t>Maintenabilité</a:t>
            </a:r>
          </a:p>
          <a:p>
            <a:pPr>
              <a:lnSpc>
                <a:spcPct val="200000"/>
              </a:lnSpc>
            </a:pPr>
            <a:r>
              <a:rPr lang="fr-FR" sz="3200" dirty="0"/>
              <a:t>Réutilisabilité </a:t>
            </a:r>
            <a:endParaRPr lang="fr-FR" sz="3200" dirty="0" smtClean="0"/>
          </a:p>
          <a:p>
            <a:pPr>
              <a:lnSpc>
                <a:spcPct val="200000"/>
              </a:lnSpc>
            </a:pPr>
            <a:r>
              <a:rPr lang="fr-FR" sz="3200" dirty="0"/>
              <a:t>Testabilité </a:t>
            </a:r>
            <a:endParaRPr lang="fr-FR" sz="3200" dirty="0" smtClean="0"/>
          </a:p>
          <a:p>
            <a:pPr>
              <a:lnSpc>
                <a:spcPct val="200000"/>
              </a:lnSpc>
            </a:pPr>
            <a:r>
              <a:rPr lang="fr-FR" sz="3200" dirty="0"/>
              <a:t>Facilité de collaboration </a:t>
            </a:r>
          </a:p>
        </p:txBody>
      </p:sp>
    </p:spTree>
    <p:extLst>
      <p:ext uri="{BB962C8B-B14F-4D97-AF65-F5344CB8AC3E}">
        <p14:creationId xmlns:p14="http://schemas.microsoft.com/office/powerpoint/2010/main" val="4813757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Conclusion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fr-FR" sz="2400" b="1" dirty="0" err="1"/>
              <a:t>Angular</a:t>
            </a:r>
            <a:r>
              <a:rPr lang="fr-FR" sz="2400" dirty="0"/>
              <a:t> évolue vers plus de </a:t>
            </a:r>
            <a:r>
              <a:rPr lang="fr-FR" sz="2400" dirty="0" smtClean="0"/>
              <a:t>simplicité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Le </a:t>
            </a:r>
            <a:r>
              <a:rPr lang="fr-FR" sz="2400" b="1" dirty="0" err="1"/>
              <a:t>standalone</a:t>
            </a:r>
            <a:r>
              <a:rPr lang="fr-FR" sz="2400" dirty="0"/>
              <a:t> est le futur </a:t>
            </a:r>
            <a:r>
              <a:rPr lang="fr-FR" sz="2400" dirty="0" smtClean="0"/>
              <a:t>standard</a:t>
            </a:r>
          </a:p>
          <a:p>
            <a:pPr algn="just">
              <a:lnSpc>
                <a:spcPct val="200000"/>
              </a:lnSpc>
            </a:pPr>
            <a:r>
              <a:rPr lang="fr-FR" sz="2400" dirty="0" smtClean="0"/>
              <a:t>Les </a:t>
            </a:r>
            <a:r>
              <a:rPr lang="fr-FR" sz="2400" dirty="0"/>
              <a:t>bonnes pratiques garantissent la qualité</a:t>
            </a:r>
          </a:p>
        </p:txBody>
      </p:sp>
    </p:spTree>
    <p:extLst>
      <p:ext uri="{BB962C8B-B14F-4D97-AF65-F5344CB8AC3E}">
        <p14:creationId xmlns:p14="http://schemas.microsoft.com/office/powerpoint/2010/main" val="1972490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ype de bois">
  <a:themeElements>
    <a:clrScheme name="Wood Type">
      <a:dk1>
        <a:sysClr val="windowText" lastClr="000000"/>
      </a:dk1>
      <a:lt1>
        <a:sysClr val="window" lastClr="FFFFFF"/>
      </a:lt1>
      <a:dk2>
        <a:srgbClr val="84ACB6"/>
      </a:dk2>
      <a:lt2>
        <a:srgbClr val="EBE9DD"/>
      </a:lt2>
      <a:accent1>
        <a:srgbClr val="6F8183"/>
      </a:accent1>
      <a:accent2>
        <a:srgbClr val="967E96"/>
      </a:accent2>
      <a:accent3>
        <a:srgbClr val="CCC893"/>
      </a:accent3>
      <a:accent4>
        <a:srgbClr val="A54D74"/>
      </a:accent4>
      <a:accent5>
        <a:srgbClr val="949C6B"/>
      </a:accent5>
      <a:accent6>
        <a:srgbClr val="766A50"/>
      </a:accent6>
      <a:hlink>
        <a:srgbClr val="CC6600"/>
      </a:hlink>
      <a:folHlink>
        <a:srgbClr val="777777"/>
      </a:folHlink>
    </a:clrScheme>
    <a:fontScheme name="Wood Type">
      <a:majorFont>
        <a:latin typeface="Century Gothic" panose="020B0502020202020204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Bookman Old Style" panose="02050604050505020204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Wood Type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8E89CD47-BF55-4DDE-B823-2283AA7E769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Type de bois</Template>
  <TotalTime>539</TotalTime>
  <Words>1318</Words>
  <Application>Microsoft Office PowerPoint</Application>
  <PresentationFormat>Grand écran</PresentationFormat>
  <Paragraphs>292</Paragraphs>
  <Slides>59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59</vt:i4>
      </vt:variant>
    </vt:vector>
  </HeadingPairs>
  <TitlesOfParts>
    <vt:vector size="64" baseType="lpstr">
      <vt:lpstr>Arial</vt:lpstr>
      <vt:lpstr>Bookman Old Style</vt:lpstr>
      <vt:lpstr>Century Gothic</vt:lpstr>
      <vt:lpstr>Wingdings</vt:lpstr>
      <vt:lpstr>Type de bois</vt:lpstr>
      <vt:lpstr>Services et injection de dépendance</vt:lpstr>
      <vt:lpstr>Les Services</vt:lpstr>
      <vt:lpstr>Concept de service</vt:lpstr>
      <vt:lpstr>Service Cas d’utilisation </vt:lpstr>
      <vt:lpstr>Architecture</vt:lpstr>
      <vt:lpstr>Exemple d’un service</vt:lpstr>
      <vt:lpstr>Création d'un service</vt:lpstr>
      <vt:lpstr>Utilisation d'un service dans un composant</vt:lpstr>
      <vt:lpstr>Injection Au niveau global (providedIn: 'root')</vt:lpstr>
      <vt:lpstr>Arborescence de providers et scope des services</vt:lpstr>
      <vt:lpstr>Principe clé : l’Injection de Dépendances hiérarchique</vt:lpstr>
      <vt:lpstr>Scope des services : où fournir un service ?</vt:lpstr>
      <vt:lpstr>Scope Global (Singleton)</vt:lpstr>
      <vt:lpstr>Scope Module</vt:lpstr>
      <vt:lpstr>Scope Composant</vt:lpstr>
      <vt:lpstr>Redéfinition dans un composant enfant</vt:lpstr>
      <vt:lpstr>Bonnes pratiques</vt:lpstr>
      <vt:lpstr>RECAP</vt:lpstr>
      <vt:lpstr>pourquoi une nouvelle API ?</vt:lpstr>
      <vt:lpstr>Ancienne façon  (constructeur obligatoire)</vt:lpstr>
      <vt:lpstr>Solution Angular : inject() Depuis Angular 14+</vt:lpstr>
      <vt:lpstr>Où peut-on utiliser inject() ?</vt:lpstr>
      <vt:lpstr>Exemple 1 :  Injection dans un composant (sans constructeur)</vt:lpstr>
      <vt:lpstr>Exemple 2 :  Guard fonctionnel (cas réel)</vt:lpstr>
      <vt:lpstr>Exemple 3 : inject() avec Router</vt:lpstr>
      <vt:lpstr>Comparaison : constructeur vs inject()</vt:lpstr>
      <vt:lpstr>Bonnes pratiques</vt:lpstr>
      <vt:lpstr>Conclusion</vt:lpstr>
      <vt:lpstr>Consolidation &amp; bonnes pratiques</vt:lpstr>
      <vt:lpstr>PLAN </vt:lpstr>
      <vt:lpstr>Architecture Angular</vt:lpstr>
      <vt:lpstr>Data Binding</vt:lpstr>
      <vt:lpstr>Directives Angular</vt:lpstr>
      <vt:lpstr>Services &amp; Injection de dépendances</vt:lpstr>
      <vt:lpstr>Organisation du code Structure de projet recommandée</vt:lpstr>
      <vt:lpstr>Dossier Core</vt:lpstr>
      <vt:lpstr>Dossier Shared</vt:lpstr>
      <vt:lpstr>Dossier Features</vt:lpstr>
      <vt:lpstr>Angular Style Guide</vt:lpstr>
      <vt:lpstr>Conventions de nommage</vt:lpstr>
      <vt:lpstr>Bonnes pratiques générales</vt:lpstr>
      <vt:lpstr>Architecture Standalone Limites des NgModules</vt:lpstr>
      <vt:lpstr>Standalone Components</vt:lpstr>
      <vt:lpstr>Avantages du Standalone</vt:lpstr>
      <vt:lpstr>Migration Module → Standalone</vt:lpstr>
      <vt:lpstr>Exemple de migration</vt:lpstr>
      <vt:lpstr>Bootstrapping Standalone</vt:lpstr>
      <vt:lpstr>ATELIER</vt:lpstr>
      <vt:lpstr>ROADMAP </vt:lpstr>
      <vt:lpstr>Introduction</vt:lpstr>
      <vt:lpstr>Démarche</vt:lpstr>
      <vt:lpstr>Définition des Besoins &amp; Architecture</vt:lpstr>
      <vt:lpstr>Initialisation du Projet</vt:lpstr>
      <vt:lpstr>Organisation du Code</vt:lpstr>
      <vt:lpstr>Mise en Place des Modules</vt:lpstr>
      <vt:lpstr>Développement des Composants</vt:lpstr>
      <vt:lpstr>Dumb Components (Composants stupides ou de présentation)</vt:lpstr>
      <vt:lpstr>Avantages de cette séparation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admin</dc:creator>
  <cp:lastModifiedBy>admin</cp:lastModifiedBy>
  <cp:revision>54</cp:revision>
  <dcterms:created xsi:type="dcterms:W3CDTF">2026-01-12T13:49:49Z</dcterms:created>
  <dcterms:modified xsi:type="dcterms:W3CDTF">2026-01-12T22:49:18Z</dcterms:modified>
</cp:coreProperties>
</file>