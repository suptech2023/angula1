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1/13/2026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9.wdp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Framework </a:t>
            </a:r>
            <a:r>
              <a:rPr lang="fr-FR" dirty="0" err="1" smtClean="0"/>
              <a:t>angular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Les bonnes pratiques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3050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20472"/>
            <a:ext cx="10058400" cy="73456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59408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Architecture et Organisation du </a:t>
            </a:r>
            <a:r>
              <a:rPr lang="fr-FR" sz="2800" dirty="0" smtClean="0"/>
              <a:t>Code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Performances et </a:t>
            </a:r>
            <a:r>
              <a:rPr lang="fr-FR" sz="2800" dirty="0" smtClean="0"/>
              <a:t>Optimisation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Meilleures Pratiques pour les Composants et </a:t>
            </a:r>
            <a:r>
              <a:rPr lang="fr-FR" sz="2800" dirty="0" err="1" smtClean="0"/>
              <a:t>Templates</a:t>
            </a:r>
            <a:endParaRPr lang="fr-FR" sz="2800" dirty="0" smtClean="0"/>
          </a:p>
          <a:p>
            <a:pPr algn="just">
              <a:lnSpc>
                <a:spcPct val="150000"/>
              </a:lnSpc>
            </a:pPr>
            <a:r>
              <a:rPr lang="fr-FR" sz="2800" dirty="0"/>
              <a:t>Gestion des Services et des </a:t>
            </a:r>
            <a:r>
              <a:rPr lang="fr-FR" sz="2800" dirty="0" smtClean="0"/>
              <a:t>États</a:t>
            </a:r>
          </a:p>
          <a:p>
            <a:pPr algn="just">
              <a:lnSpc>
                <a:spcPct val="150000"/>
              </a:lnSpc>
            </a:pPr>
            <a:r>
              <a:rPr lang="fr-FR" sz="2800" dirty="0" smtClean="0"/>
              <a:t>Sécurité </a:t>
            </a:r>
            <a:r>
              <a:rPr lang="fr-FR" sz="2800" dirty="0"/>
              <a:t>et Bonnes Pratiques </a:t>
            </a:r>
            <a:r>
              <a:rPr lang="fr-FR" sz="2800" dirty="0" err="1"/>
              <a:t>DevOps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72010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00152"/>
            <a:ext cx="10058400" cy="53136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4800" dirty="0"/>
              <a:t>Architecture et Organisation du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96240" y="1178560"/>
            <a:ext cx="10732008" cy="4993640"/>
          </a:xfrm>
        </p:spPr>
        <p:txBody>
          <a:bodyPr>
            <a:normAutofit fontScale="92500"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b="1" dirty="0" err="1"/>
              <a:t>Modulariser</a:t>
            </a:r>
            <a:r>
              <a:rPr lang="fr-FR" b="1" dirty="0"/>
              <a:t> l’application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Découper l’application en modules fonctionnels pour favoriser la réutilisabilité et le </a:t>
            </a:r>
            <a:r>
              <a:rPr lang="fr-FR" b="1" dirty="0" err="1"/>
              <a:t>lazy</a:t>
            </a:r>
            <a:r>
              <a:rPr lang="fr-FR" b="1" dirty="0"/>
              <a:t> </a:t>
            </a:r>
            <a:r>
              <a:rPr lang="fr-FR" b="1" dirty="0" err="1"/>
              <a:t>loading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Utiliser </a:t>
            </a:r>
            <a:r>
              <a:rPr lang="fr-FR" b="1" dirty="0" err="1"/>
              <a:t>CoreModule</a:t>
            </a:r>
            <a:r>
              <a:rPr lang="fr-FR" dirty="0"/>
              <a:t> pour les services globaux et </a:t>
            </a:r>
            <a:r>
              <a:rPr lang="fr-FR" b="1" dirty="0" err="1"/>
              <a:t>SharedModule</a:t>
            </a:r>
            <a:r>
              <a:rPr lang="fr-FR" dirty="0"/>
              <a:t> pour les composants réutilisables</a:t>
            </a:r>
            <a:r>
              <a:rPr lang="fr-FR" dirty="0" smtClean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b="1" dirty="0"/>
              <a:t>Respecter le principe de séparation des responsabilités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Composants : centrés sur l’affichage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Services : logique métier et accès aux données</a:t>
            </a:r>
            <a:r>
              <a:rPr lang="fr-FR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Modules : gestion des fonctionnalités spécifiques</a:t>
            </a:r>
            <a:r>
              <a:rPr lang="fr-FR" dirty="0" smtClean="0"/>
              <a:t>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b="1" dirty="0"/>
              <a:t>Utiliser des noms explicites et cohérents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Exemples : </a:t>
            </a:r>
            <a:r>
              <a:rPr lang="fr-FR" b="1" dirty="0" err="1"/>
              <a:t>user.service.ts</a:t>
            </a:r>
            <a:r>
              <a:rPr lang="fr-FR" b="1" dirty="0"/>
              <a:t>, </a:t>
            </a:r>
            <a:r>
              <a:rPr lang="fr-FR" b="1" dirty="0" err="1"/>
              <a:t>auth.guard.ts</a:t>
            </a:r>
            <a:r>
              <a:rPr lang="fr-FR" dirty="0"/>
              <a:t>, </a:t>
            </a:r>
            <a:r>
              <a:rPr lang="fr-FR" b="1" dirty="0" err="1"/>
              <a:t>dashboard.component.ts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1592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Performances et Optimisation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/>
              <a:t>Utiliser le </a:t>
            </a:r>
            <a:r>
              <a:rPr lang="fr-FR" sz="2400" b="1" dirty="0" err="1"/>
              <a:t>OnPush</a:t>
            </a:r>
            <a:r>
              <a:rPr lang="fr-FR" sz="2400" b="1" dirty="0"/>
              <a:t> Change </a:t>
            </a:r>
            <a:r>
              <a:rPr lang="fr-FR" sz="2400" b="1" dirty="0" err="1"/>
              <a:t>Detection</a:t>
            </a:r>
            <a:r>
              <a:rPr lang="fr-FR" sz="2400" dirty="0"/>
              <a:t>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Optimiser les performances en réduisant le déclenchement du cycle de détection des changements.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11120" y="3771900"/>
            <a:ext cx="6616255" cy="27101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7893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Performances et Optimisation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3200" b="1" dirty="0" err="1"/>
              <a:t>Lazy</a:t>
            </a:r>
            <a:r>
              <a:rPr lang="fr-FR" sz="3200" b="1" dirty="0"/>
              <a:t> </a:t>
            </a:r>
            <a:r>
              <a:rPr lang="fr-FR" sz="3200" b="1" dirty="0" err="1"/>
              <a:t>Loading</a:t>
            </a:r>
            <a:r>
              <a:rPr lang="fr-FR" sz="3200" b="1" dirty="0"/>
              <a:t> des </a:t>
            </a:r>
            <a:r>
              <a:rPr lang="fr-FR" sz="3200" b="1" dirty="0" smtClean="0"/>
              <a:t>modules</a:t>
            </a:r>
          </a:p>
          <a:p>
            <a:pPr lvl="1" algn="just">
              <a:lnSpc>
                <a:spcPct val="150000"/>
              </a:lnSpc>
            </a:pPr>
            <a:r>
              <a:rPr lang="fr-FR" sz="2800" dirty="0"/>
              <a:t>Charger les modules à la demande pour réduire la taille du bundle initial.</a:t>
            </a:r>
            <a:endParaRPr lang="fr-FR" sz="2800" b="1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760" y="3983672"/>
            <a:ext cx="11409680" cy="1228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2661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Performances et Optimisation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b="1" dirty="0"/>
              <a:t>Utiliser des Observables (</a:t>
            </a:r>
            <a:r>
              <a:rPr lang="fr-FR" sz="2800" b="1" dirty="0" err="1"/>
              <a:t>RxJS</a:t>
            </a:r>
            <a:r>
              <a:rPr lang="fr-FR" sz="2800" b="1" dirty="0"/>
              <a:t>) intelligemment</a:t>
            </a:r>
            <a:r>
              <a:rPr lang="fr-FR" sz="2800" dirty="0"/>
              <a:t>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Se désabonner (</a:t>
            </a:r>
            <a:r>
              <a:rPr lang="fr-FR" sz="2400" dirty="0" err="1"/>
              <a:t>takeUntil</a:t>
            </a:r>
            <a:r>
              <a:rPr lang="fr-FR" sz="2400" dirty="0"/>
              <a:t>, </a:t>
            </a:r>
            <a:r>
              <a:rPr lang="fr-FR" sz="2400" dirty="0" err="1"/>
              <a:t>async</a:t>
            </a:r>
            <a:r>
              <a:rPr lang="fr-FR" sz="2400" dirty="0"/>
              <a:t> pipe) pour éviter les fuites mémoire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50000"/>
              </a:lnSpc>
            </a:pPr>
            <a:endParaRPr lang="fr-FR" sz="2400" dirty="0"/>
          </a:p>
          <a:p>
            <a:pPr lvl="1" algn="just">
              <a:lnSpc>
                <a:spcPct val="150000"/>
              </a:lnSpc>
            </a:pPr>
            <a:r>
              <a:rPr lang="fr-FR" sz="2400" dirty="0"/>
              <a:t>Privilégier </a:t>
            </a:r>
            <a:r>
              <a:rPr lang="fr-FR" sz="2400" dirty="0" err="1"/>
              <a:t>async</a:t>
            </a:r>
            <a:r>
              <a:rPr lang="fr-FR" sz="2400" dirty="0"/>
              <a:t> pipe dans le </a:t>
            </a:r>
            <a:r>
              <a:rPr lang="fr-FR" sz="2400" dirty="0" err="1"/>
              <a:t>template</a:t>
            </a:r>
            <a:r>
              <a:rPr lang="fr-FR" sz="2400" dirty="0"/>
              <a:t>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7767" y="3516630"/>
            <a:ext cx="7062153" cy="8115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27768" y="5237289"/>
            <a:ext cx="7062152" cy="11144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8577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Meilleures Pratiques pour les Composants et </a:t>
            </a:r>
            <a:r>
              <a:rPr lang="fr-FR" sz="3600" dirty="0" err="1"/>
              <a:t>Templates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3200" b="1" dirty="0"/>
              <a:t>Éviter la logique dans les </a:t>
            </a:r>
            <a:r>
              <a:rPr lang="fr-FR" sz="3200" b="1" dirty="0" smtClean="0"/>
              <a:t>Template</a:t>
            </a:r>
            <a:r>
              <a:rPr lang="fr-FR" sz="3200" dirty="0" smtClean="0"/>
              <a:t> :</a:t>
            </a:r>
          </a:p>
          <a:p>
            <a:pPr lvl="1" algn="just">
              <a:lnSpc>
                <a:spcPct val="150000"/>
              </a:lnSpc>
            </a:pPr>
            <a:r>
              <a:rPr lang="fr-FR" sz="2800" dirty="0"/>
              <a:t>Mauvais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800" dirty="0"/>
              <a:t>Bon 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72485" y="3101340"/>
            <a:ext cx="3638550" cy="533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9281" y="3870007"/>
            <a:ext cx="5374640" cy="24698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0603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Meilleures Pratiques pour les Composants et </a:t>
            </a:r>
            <a:r>
              <a:rPr lang="fr-FR" sz="3600" dirty="0" err="1"/>
              <a:t>Templates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Éviter les expressions coûteuses dans le </a:t>
            </a:r>
            <a:r>
              <a:rPr lang="fr-FR" b="1" dirty="0" err="1"/>
              <a:t>template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/>
            <a:r>
              <a:rPr lang="fr-FR" dirty="0"/>
              <a:t>Mauvais </a:t>
            </a:r>
            <a:r>
              <a:rPr lang="fr-FR" dirty="0" smtClean="0"/>
              <a:t>:</a:t>
            </a:r>
          </a:p>
          <a:p>
            <a:pPr lvl="1"/>
            <a:endParaRPr lang="fr-FR" dirty="0"/>
          </a:p>
          <a:p>
            <a:pPr lvl="1"/>
            <a:r>
              <a:rPr lang="fr-FR" dirty="0"/>
              <a:t>Bon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17710" y="2485707"/>
            <a:ext cx="6162675" cy="504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2759" y="3842004"/>
            <a:ext cx="9172575" cy="103479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8416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Meilleures Pratiques pour les Composants et </a:t>
            </a:r>
            <a:r>
              <a:rPr lang="fr-FR" sz="3600" dirty="0" err="1"/>
              <a:t>Templates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Utiliser des </a:t>
            </a:r>
            <a:r>
              <a:rPr lang="fr-FR" b="1" dirty="0" err="1"/>
              <a:t>trackBy</a:t>
            </a:r>
            <a:r>
              <a:rPr lang="fr-FR" b="1" dirty="0"/>
              <a:t> pour les listes dynamiques</a:t>
            </a:r>
            <a:r>
              <a:rPr lang="fr-FR" dirty="0"/>
              <a:t>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70085" y="2908300"/>
            <a:ext cx="62579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053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Gestion des Services et des États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Utiliser un State Management si nécessaire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 err="1"/>
              <a:t>RxJS</a:t>
            </a:r>
            <a:r>
              <a:rPr lang="fr-FR" sz="2400" dirty="0"/>
              <a:t> pour des besoins simples (</a:t>
            </a:r>
            <a:r>
              <a:rPr lang="fr-FR" sz="2400" b="1" dirty="0" err="1"/>
              <a:t>BehaviorSubject</a:t>
            </a:r>
            <a:r>
              <a:rPr lang="fr-FR" sz="2400" dirty="0" smtClean="0"/>
              <a:t>).	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 err="1"/>
              <a:t>NgRx</a:t>
            </a:r>
            <a:r>
              <a:rPr lang="fr-FR" sz="2400" dirty="0"/>
              <a:t>, </a:t>
            </a:r>
            <a:r>
              <a:rPr lang="fr-FR" sz="2400" b="1" dirty="0"/>
              <a:t>Akita</a:t>
            </a:r>
            <a:r>
              <a:rPr lang="fr-FR" sz="2400" dirty="0"/>
              <a:t> ou </a:t>
            </a:r>
            <a:r>
              <a:rPr lang="fr-FR" sz="2400" b="1" dirty="0"/>
              <a:t>NGXS</a:t>
            </a:r>
            <a:r>
              <a:rPr lang="fr-FR" sz="2400" dirty="0"/>
              <a:t> pour des applications complexes.</a:t>
            </a:r>
          </a:p>
        </p:txBody>
      </p:sp>
    </p:spTree>
    <p:extLst>
      <p:ext uri="{BB962C8B-B14F-4D97-AF65-F5344CB8AC3E}">
        <p14:creationId xmlns:p14="http://schemas.microsoft.com/office/powerpoint/2010/main" val="74008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45871"/>
            <a:ext cx="10058400" cy="80568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Tests et Qualité du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247648"/>
            <a:ext cx="10058400" cy="4050792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fr-FR" sz="1800" dirty="0" smtClean="0"/>
              <a:t>Ecrire </a:t>
            </a:r>
            <a:r>
              <a:rPr lang="fr-FR" sz="1800" dirty="0"/>
              <a:t>des tests unitaires avec </a:t>
            </a:r>
            <a:r>
              <a:rPr lang="fr-FR" sz="1800" b="1" dirty="0"/>
              <a:t>Jasmine/Karma</a:t>
            </a:r>
            <a:r>
              <a:rPr lang="fr-FR" sz="1800" dirty="0"/>
              <a:t> </a:t>
            </a:r>
            <a:r>
              <a:rPr lang="fr-FR" sz="1800" dirty="0" smtClean="0"/>
              <a:t>:</a:t>
            </a:r>
          </a:p>
          <a:p>
            <a:pPr>
              <a:lnSpc>
                <a:spcPct val="170000"/>
              </a:lnSpc>
            </a:pPr>
            <a:endParaRPr lang="fr-FR" sz="1800" dirty="0"/>
          </a:p>
          <a:p>
            <a:pPr>
              <a:lnSpc>
                <a:spcPct val="170000"/>
              </a:lnSpc>
            </a:pPr>
            <a:endParaRPr lang="fr-FR" sz="1800" dirty="0" smtClean="0"/>
          </a:p>
          <a:p>
            <a:pPr>
              <a:lnSpc>
                <a:spcPct val="170000"/>
              </a:lnSpc>
            </a:pPr>
            <a:endParaRPr lang="fr-FR" sz="1800" dirty="0"/>
          </a:p>
          <a:p>
            <a:pPr>
              <a:lnSpc>
                <a:spcPct val="170000"/>
              </a:lnSpc>
            </a:pPr>
            <a:r>
              <a:rPr lang="fr-FR" sz="1800" dirty="0" smtClean="0"/>
              <a:t>Utiliser </a:t>
            </a:r>
            <a:r>
              <a:rPr lang="fr-FR" sz="1800" dirty="0"/>
              <a:t>des tests </a:t>
            </a:r>
            <a:r>
              <a:rPr lang="fr-FR" sz="1800" b="1" dirty="0"/>
              <a:t>e2e</a:t>
            </a:r>
            <a:r>
              <a:rPr lang="fr-FR" sz="1800" dirty="0"/>
              <a:t> avec </a:t>
            </a:r>
            <a:r>
              <a:rPr lang="fr-FR" sz="1800" b="1" dirty="0" err="1"/>
              <a:t>Cypress</a:t>
            </a:r>
            <a:r>
              <a:rPr lang="fr-FR" sz="1800" dirty="0"/>
              <a:t> ou </a:t>
            </a:r>
            <a:r>
              <a:rPr lang="fr-FR" sz="1800" b="1" dirty="0" err="1"/>
              <a:t>Playwright</a:t>
            </a:r>
            <a:r>
              <a:rPr lang="fr-FR" sz="1800" dirty="0"/>
              <a:t> pour tester le comportement global</a:t>
            </a:r>
            <a:r>
              <a:rPr lang="fr-FR" sz="1800" dirty="0" smtClean="0"/>
              <a:t>.</a:t>
            </a:r>
          </a:p>
          <a:p>
            <a:pPr>
              <a:lnSpc>
                <a:spcPct val="170000"/>
              </a:lnSpc>
            </a:pPr>
            <a:r>
              <a:rPr lang="fr-FR" sz="1800" dirty="0"/>
              <a:t>Respecter les standards </a:t>
            </a:r>
            <a:r>
              <a:rPr lang="fr-FR" sz="1800" b="1" dirty="0" err="1"/>
              <a:t>TypeScript</a:t>
            </a:r>
            <a:r>
              <a:rPr lang="fr-FR" sz="1800" dirty="0"/>
              <a:t> et </a:t>
            </a:r>
            <a:r>
              <a:rPr lang="fr-FR" sz="1800" b="1" dirty="0" err="1"/>
              <a:t>ESLint</a:t>
            </a:r>
            <a:r>
              <a:rPr lang="fr-FR" sz="1800" dirty="0"/>
              <a:t> </a:t>
            </a:r>
            <a:r>
              <a:rPr lang="fr-FR" sz="1800" dirty="0" smtClean="0"/>
              <a:t>:</a:t>
            </a:r>
          </a:p>
          <a:p>
            <a:pPr lvl="1">
              <a:lnSpc>
                <a:spcPct val="170000"/>
              </a:lnSpc>
            </a:pPr>
            <a:r>
              <a:rPr lang="fr-FR" dirty="0"/>
              <a:t>Activer strict dans </a:t>
            </a:r>
            <a:r>
              <a:rPr lang="fr-FR" b="1" dirty="0" err="1" smtClean="0"/>
              <a:t>tsconfig.json</a:t>
            </a:r>
            <a:r>
              <a:rPr lang="fr-FR" dirty="0" smtClean="0"/>
              <a:t>.</a:t>
            </a:r>
          </a:p>
          <a:p>
            <a:pPr lvl="1">
              <a:lnSpc>
                <a:spcPct val="170000"/>
              </a:lnSpc>
            </a:pPr>
            <a:r>
              <a:rPr lang="fr-FR" dirty="0"/>
              <a:t>Suivre les recommandations de </a:t>
            </a:r>
            <a:r>
              <a:rPr lang="fr-FR" b="1" dirty="0" err="1"/>
              <a:t>Angular</a:t>
            </a:r>
            <a:r>
              <a:rPr lang="fr-FR" dirty="0"/>
              <a:t> </a:t>
            </a:r>
            <a:r>
              <a:rPr lang="fr-FR" b="1" dirty="0" err="1"/>
              <a:t>ESLint</a:t>
            </a:r>
            <a:r>
              <a:rPr lang="fr-FR" dirty="0"/>
              <a:t>.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737165" y="1847532"/>
            <a:ext cx="4886325" cy="17811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8108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Sécurité et Bonnes Pratiques </a:t>
            </a:r>
            <a:r>
              <a:rPr lang="fr-FR" dirty="0" err="1"/>
              <a:t>DevOps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Éviter les failles </a:t>
            </a:r>
            <a:r>
              <a:rPr lang="fr-FR" b="1" dirty="0"/>
              <a:t>XSS</a:t>
            </a:r>
            <a:r>
              <a:rPr lang="fr-FR" dirty="0"/>
              <a:t> et </a:t>
            </a:r>
            <a:r>
              <a:rPr lang="fr-FR" b="1" dirty="0"/>
              <a:t>CSRF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Toujours utiliser </a:t>
            </a:r>
            <a:r>
              <a:rPr lang="fr-FR" dirty="0" err="1"/>
              <a:t>Angular’s</a:t>
            </a:r>
            <a:r>
              <a:rPr lang="fr-FR" dirty="0"/>
              <a:t> </a:t>
            </a:r>
            <a:r>
              <a:rPr lang="fr-FR" b="1" dirty="0"/>
              <a:t>DOM</a:t>
            </a:r>
            <a:r>
              <a:rPr lang="fr-FR" dirty="0"/>
              <a:t> </a:t>
            </a:r>
            <a:r>
              <a:rPr lang="fr-FR" dirty="0" err="1"/>
              <a:t>sanitization</a:t>
            </a:r>
            <a:r>
              <a:rPr lang="fr-FR" dirty="0"/>
              <a:t> ([</a:t>
            </a:r>
            <a:r>
              <a:rPr lang="fr-FR" b="1" dirty="0" err="1"/>
              <a:t>innerHTML</a:t>
            </a:r>
            <a:r>
              <a:rPr lang="fr-FR" dirty="0"/>
              <a:t>] avec </a:t>
            </a:r>
            <a:r>
              <a:rPr lang="fr-FR" b="1" dirty="0" err="1"/>
              <a:t>DomSanitizer</a:t>
            </a:r>
            <a:r>
              <a:rPr lang="fr-FR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Configurer le strict Content Security Policy (CSP) pour limiter les attaques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Utiliser </a:t>
            </a:r>
            <a:r>
              <a:rPr lang="fr-FR" dirty="0" err="1"/>
              <a:t>Angular</a:t>
            </a:r>
            <a:r>
              <a:rPr lang="fr-FR" dirty="0"/>
              <a:t> CLI pour la compilation et le </a:t>
            </a:r>
            <a:r>
              <a:rPr lang="fr-FR" dirty="0" smtClean="0"/>
              <a:t>déploiement.</a:t>
            </a:r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29280" y="4927601"/>
            <a:ext cx="5246687" cy="80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8143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34</TotalTime>
  <Words>351</Words>
  <Application>Microsoft Office PowerPoint</Application>
  <PresentationFormat>Grand écran</PresentationFormat>
  <Paragraphs>58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6" baseType="lpstr">
      <vt:lpstr>Rockwell</vt:lpstr>
      <vt:lpstr>Rockwell Condensed</vt:lpstr>
      <vt:lpstr>Wingdings</vt:lpstr>
      <vt:lpstr>Type de bois</vt:lpstr>
      <vt:lpstr>Framework angular</vt:lpstr>
      <vt:lpstr>Introduction</vt:lpstr>
      <vt:lpstr>Architecture et Organisation du Code</vt:lpstr>
      <vt:lpstr>Performances et Optimisation</vt:lpstr>
      <vt:lpstr>Performances et Optimisation</vt:lpstr>
      <vt:lpstr>Performances et Optimisation</vt:lpstr>
      <vt:lpstr>Meilleures Pratiques pour les Composants et Templates</vt:lpstr>
      <vt:lpstr>Meilleures Pratiques pour les Composants et Templates</vt:lpstr>
      <vt:lpstr>Meilleures Pratiques pour les Composants et Templates</vt:lpstr>
      <vt:lpstr>Gestion des Services et des États</vt:lpstr>
      <vt:lpstr>Tests et Qualité du Code</vt:lpstr>
      <vt:lpstr>Sécurité et Bonnes Pratiques DevOps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Framework angular</dc:title>
  <dc:creator>admin</dc:creator>
  <cp:lastModifiedBy>admin</cp:lastModifiedBy>
  <cp:revision>22</cp:revision>
  <dcterms:created xsi:type="dcterms:W3CDTF">2025-02-28T01:42:15Z</dcterms:created>
  <dcterms:modified xsi:type="dcterms:W3CDTF">2026-01-13T12:42:27Z</dcterms:modified>
</cp:coreProperties>
</file>